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A07 gồm Đinh Tuấn Dương và Nguyễn Trung Nguyên, hướng dẫn bởi thầy Nguyễn Hoàng Thành. Đề tài là xây dựng một mô-đun AI chạy hoàn toàn trong hạ tầng nội bộ, đọc cảnh báo từ Wazuh SIEM và diễn giải thành bản phân tích tiếng Việt có cấu trúc. Trọng tâm không phải chứng minh LLM diễn giải được, mà là xác định các ràng buộc kỹ thuật để kết quả trở nên kiểm chứng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trái là thứ người phân tích thực sự nhìn thấy. Bên phải là hợp đồng đầu ra của mô-đun: sáu khối cố định, trong đó khối căn cứ đánh giá tách bạch cái gì quan sát được với cái gì là suy luận. Lưu ý dòng mức nghiêm trọng: mô-đun đề xuất medium nhưng vẫn hiển thị song song mức 5 do luật quy định — đây là nguyên tắc thiết kế, mô-đun hỗ trợ quyết định chứ không thay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giai đoạn, mỗi giai đoạn có kết quả kiểm chứng được. Nhóm không báo cáo phần trăm tự ước lượng. Ba giới hạn bên phải là những phần nhóm chủ động không tuyên bố đã hoàn thành — đặc biệt là việc chưa có người ngoài nhóm chấm điểm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nhất: cảnh báo được lấy từ Wazuh Indexer cổng 9200, không phải Manager API cổng 55000. Đây là thay đổi so với thiết kế ban đầu, phát hiện khi triển khai thực tế. Lớp 2 gồm bốn thành phần nối tiếp, mỗi thành phần ứng với đúng một tệp mã nguồn nên kiểm thử và truy vết lỗi đều quy được về một điểm chịu trách nhiệm. Truy xuất tri thức là nhánh tùy chọn — lỗi ở nhánh này không chặn luồng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mỗi bước xác định được đầu vào và đầu ra. Bước 5 quyết định độ tin cậy: đầu ra không đúng hợp đồng sẽ chuyển sang kết quả dự phòng chứ không được trả về như kết quả bình thường. Truy xuất tri thức là nhánh tùy chọn — nếu ChromaDB lỗi, luồng chính vẫn chạy. Hệ thống dừng lại ở việc trình bày khuyến nghị; quyết định cuối cùng thuộc về người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chọn công nghệ là chạy được hoàn toàn cục bộ trên một máy sinh viên. Ollama tách biệt việc phục vụ mô hình khỏi xử lý nghiệp vụ nên đổi mô hình chỉ cần đổi tham số cấu hình. Điểm nhóm muốn nhấn: nguyên tắc không gửi dữ liệu ra ngoài không dừng ở tài liệu mà được chuyển thành một ràng buộc kỹ thuật kiểm chứng được trong mã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khác biệt so với việc chỉ hỏi một chatbot. Ngoài năm trường cốt lõi, lược đồ còn có khối căn cứ đánh giá buộc mô hình tách rõ sự kiện quan sát, suy luận, điểm chưa chắc chắn và giới hạn dữ liệu — chính khối này khiến kết quả kiểm chứng được. Ba lớp chống chèn chỉ dẫn bổ trợ nhau: nếu một lớp bị vượt qua, các lớp còn lại vẫn giữ được ranh giới an toàn tối thiểu.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chụp là giao diện thật của mô-đun. Bốn luồng sử dụng. Điểm cần nhấn: chức năng rà soát Case-lite lưu đánh giá của người tách biệt hoàn toàn với khuyến nghị của mô hình, và lưu theo kiểu chỉ-ghi-thêm nên truy vết được ai đã đánh giá gì, vào lúc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đầu tiên tưởng đơn giản nhưng là thay đổi thiết kế lớn nhất: thiết kế ban đầu dự kiến đọc qua Wazuh API cổng 55000, thực tế cổng này chỉ phục vụ quản trị và không trả cảnh báo theo điều kiện tìm kiếm. Về ranh giới năng lực: nikto có sinh cảnh báo vì tạo ra hàng loạt yêu cầu HTTP được máy chủ web ghi lại, còn nmap thì không vì không có ứng dụng nào ghi lại hoạt động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là đọc có điều kiện ở mọi chiều và thu hẹp dữ liệu trước khi chạm tới mô hình. Tiêu chí chọn trường rất cụ thể: chỉ giữ trường phục vụ trực tiếp một trong bốn nhiệm vụ diễn giải, loại bỏ mọi thứ mang tính vận hành nội bộ như mã phiên bản agent hay thông tin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lỗi này đều lấy từ chính kết quả chấm tay của nhóm trên 20 case, không phải giả định. Điểm đáng chú ý: cả ba đều thuộc nhóm nhiệm vụ đòi hỏi phán quyết chứ không phải diễn đạt lại. Đây là lý do nhóm giữ nguyên tắc mô hình chỉ đưa khuyến nghị, quyền quyết định cuối cùng thuộc về người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lớp độc lập nhau và bổ trợ nhau. Việc đánh chỉ mục chỉ mất 2,95 giây và là chi phí một lần, hoàn toàn tách khỏi luồng xử lý cảnh báo thời gian thực. Kho tri thức hiện còn nhỏ — 19 tài liệu — đây là một giới hạn nhóm nêu rõ và cũng là nguyên nhân khả dĩ giải thích vì sao truy xuất tăng cường không cải thiện đều ở mọi tiêu chí.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giai đoạn ba, mô-đun mới chỉ là một lệnh chạy trong terminal — đủ để chứng minh khả thi, chưa đủ để dùng lặp lại. Năm nhu cầu này định hình phạm vi của phần vận hành, và đều thuộc nhóm yêu cầu chức năng FR-09 đến FR-13.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nhóm muốn nhấn: trạng thái job là phase thật của pipeline chứ không phải hiệu ứng loading. Lưu đánh giá theo kiểu chỉ-ghi-thêm phục vụ trực tiếp mục tiêu kiểm chứng — nếu sau này cần đối chiếu ai đã điều chỉnh mức nghiêm trọng nào, toàn bộ lịch sử vẫn còn.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nhóm chủ động nói về giới hạn phương pháp trước khi hội đồng hỏi. Điểm quan trọng nhất là dòng đầu tiên: nhãn chuẩn được gán dựa trên nội dung nhật ký gốc và ngữ cảnh kịch bản, cố ý không suy ra từ mức luật. Nếu suy ra thì toàn bộ phép đo ở chương 4 sẽ trở nên vô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cấu hình cho phép tách bạch hai phép so sánh: A với B đo riêng ảnh hưởng của truy xuất tăng cường, A với C đo riêng khác biệt mô hình. Cấu hình notmythos không dùng RAG cố ý không đưa vào phạm vi để giữ số lượt chạy trong giới hạn thời gian. Đường cơ sở không dùng mô hình ngôn ngữ là phép đối chứng quan trọng nhất: nó trả lời câu hỏi mô-đun có thực sự đóng góp gì ngoài việc đọc lại thông tin đã có sẵn trong cảnh báo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nhóm sản phẩm. Điểm đáng nói nhất: bộ dữ liệu 33 case và ba cấu hình đều được đóng băng trong kho mã nguồn, nên bất kỳ ai cũng chạy lại được và ra đúng con số nhóm báo cáo. Dòng cuối là câu nhóm muốn hội đồng nhớ nhất về đóng góp của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gắn mỗi mục tiêu thiết kế với một tiêu chí kiểm chứng ngay từ chương 2, nên chương 4 kiểm thử trực tiếp theo từng dòng. Hai mục tiêu nhóm chủ động không tuyên bố đạt hoàn toàn: nguyên tắc không suy diễn còn bị vi phạm ở ba case, và tính tái lập mới đúng ở mức thiết kế vì chưa chạy lặp nhiều lượt trên GPU để đo tỷ lệ đầu ra trùng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 nhóm chỉ số, mỗi nhóm trả lời một câu hỏi cụ thể. Hai nhóm cần chú ý nhất: hướng sai lệch — vì với bước phân loại ban đầu, đánh giá thấp một cảnh báo nguy hiểm nguy hại hơn nhiều so với đánh giá cao một cảnh báo lành tính; và độ tin cậy phép chấm — vì nếu hai người chấm không đồng thuận thì điểm trung bình không có ý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được thiết kế có chủ đích với 13 case lành tính chiếm tỷ trọng lớn nhất — để kiểm chứng khả năng nhận diện đúng những sự kiện KHÔNG phải tấn công, vốn là nguyên nhân trực tiếp gây dương tính giả. Một hệ thống chỉ thử trên cảnh báo tấn công sẽ không bộc lộ xu hướng gán nhãn quá mức. Chú thích về nhãn bản nháp là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cần nói rõ. Một: cấu hình chuẩn đạt 66,7%, vượt đường cơ sở không dùng mô hình ngôn ngữ từ 18 đến 21 điểm phần trăm — đây là phần đóng góp đo được của khâu diễn giải. Hai: truy xuất tăng cường thêm 9,1 điểm và cải thiện rõ nhất đúng ở nhóm nghiêm trọng, nhưng trên 33 case thì p bằng 0,58, chưa đủ bằng chứng. Ba: khác biệt giữa hai mô hình thì ngược lại — p bằng 0,0074, đạt ý nghĩa thống kê. Nghĩa là kết luận về lựa chọn mô hình đáng tin cậy hơn kết luận về truy xuất tăng cường.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cấu hình đều yếu nhất ở nhóm nghiêm trọng — nhóm quan trọng nhất. Nhưng chiều sai lệch mới là điều đáng nói: 8 case bị đánh giá thấp hơn mức chuẩn so với chỉ 2 case bị đánh giá cao hơn. Với bước phân loại ban đầu, đánh giá thấp một cảnh báo nguy hiểm gây hậu quả nặng hơn nhiều. Đây chính là căn cứ định lượng cho quyết định thiết kế: mức do mô hình đề xuất luôn hiển thị song song mức do luật quy định, không thay thế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nhóm tự phê bình phương pháp của chính mình. Hệ số Kappa 0,223 thuộc mức thấp. Nhưng phân hóa giữa các tiêu chí mới là phát hiện đáng chú ý: tóm tắt và mức nghiêm trọng có thể đối chiếu với dữ liệu khách quan nên đồng thuận khá; còn giải thích nguyên nhân đạt hệ số âm — nghĩa là hai người chấm bất đồng nhiều hơn cả mức ngẫu nhiên, vì đây là tiêu chí duy nhất không có mốc đối chiếu khách quan nào. Kết luận phương pháp luận: thang điểm chủ quan hoạt động tốt cho tiêu chí đối chiếu được, kém tin cậy cho tiêu chí đòi hỏi phán đoán mở.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điểm. Một: 2,716 giây mỗi cảnh báo, trong đó truy xuất tri thức chỉ chiếm 0,08 giây — phần lớn chi phí của RAG đến từ ngữ cảnh dài hơn khiến mô hình phải xử lý nhiều token hơn, không phải từ thao tác tìm kiếm vector. Hai: 4,7 GB VRAM nằm trọn trong card 8 GB phổ thông. Ba, quan trọng nhất: độ ổn định đo trên từng cảnh báo đơn lẻ không đại diện cho vận hành thật — khi phải xử lý 40 cảnh báo gộp, mô hình đối chứng không tuân thủ được lược đồ và phải rơi vào cơ chế dự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bám đúng đường đi của dữ liệu. Bước 5 và bước 6 là hai bước quan trọng nhất cần dừng lại: khối căn cứ đánh giá cho thấy kết quả bám bằng chứng, và việc hiển thị song song hai mức nghiêm trọng cho thấy mô-đun hỗ trợ chứ không thay quyết định. Nếu lab không lên kịp, mở job đã hoàn tất hoặc chiếu video dự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phân cách. Không trình bày các slide phụ lục trừ khi hội đồng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hội đồng hỏi về cấu hình, dùng bảng này. Điểm cần chủ động nêu: mô-đun AI đặt trên máy vật lý chứ không trong máy ảo, để dùng trực tiếp GPU và tránh chi phí ảo hóa phần cứng đồ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ba yêu cầu chức năng được khai báo, tám yêu cầu đưa vào ca kiểm thử chính thức và đều đạt. Nhóm chủ động tách bạch: FR-09 đến FR-13 là phần giao diện vận hành, đã chạy được nhưng không có ca kiểm thử nhị phân nên không được tính vào tỷ lệ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33 case với nhãn chuẩn và dự đoán của hai cấu hình dùng qwen2.5:7b. Bảng này cho phép hội đồng kiểm tra bất kỳ case nào; tệp gốc nằm trong eval/cases và eval/expected của kho mã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case truy xuất tăng cường làm tốt hơn, năm case làm tệ hơn, hai mươi case hòa. Đây chính là dữ liệu vào của kiểm định McNemar ở slide sau. So sánh với cấu hình C thì tỷ lệ lệch hẳn: 13 so với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trả lời quan trọng nhất trong phụ lục. Ý chính: cùng một cỡ mẫu 33 case, chênh lệch nhỏ giữa A và B không tách bạch được, còn chênh lệch lớn giữa A và C thì có. Nghĩa là giới hạn nằm ở cỡ mẫu chứ không phải ở phương pháp — và nhóm ước tính cần khoảng 200 đến 300 cảnh báo để kết luận chắc chắn về truy xuất tăng cường.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nhóm rủi ro theo khuyến cáo OWASP Top 10 cho ứng dụng LLM. Điểm cần nhấn: các biện pháp này làm giảm rủi ro chứ không loại bỏ hoàn toàn — ràng buộc lược đồ không bảo đảm nội dung từng trường luôn đúng nghiệp vụ. Đó chính là lý do nhóm giữ nguyên tắc con người là bên quyết định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thành phần kiến trúc ứng với đúng một tệp mã nguồn — đây là ràng buộc thiết kế có chủ đích, giúp kiểm thử từng khâu độc lập và truy vết lỗi về đúng một điểm chịu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ghi lại đầy đủ các sự cố này vì chúng có giá trị tham khảo thực tế cho việc tái lập môi trường. Sự cố đáng nhớ nhất là đổi mật khẩu: phải đồng bộ ở ba nơi, bỏ sót bất kỳ nơi nào cũng dẫn tới lỗi xác thực giữa các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thống kê trên 20 case được chấm tay. Phát hiện quan trọng: lỗi tập trung ở nhóm cảnh báo lành tính chứ không phải nhóm tấn công. Điều này nhất quán với thiết kế bộ dữ liệu — nhóm cố ý đưa 13 case lành tính vào để bộc lộ đúng xu hướng gán nhãn quá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chủ động nêu hạn chế trước. Hạn chế nhóm coi là quan trọng nhất là số hai: cả hai người chấm đều là người xây dựng hệ thống. Đây cũng chính là lý do hướng phát triển thứ tư là mời người ngoài nhóm chấm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656832" y="1773936"/>
            <a:ext cx="5102352" cy="3273552"/>
          </a:xfrm>
          <a:prstGeom prst="roundRect">
            <a:avLst>
              <a:gd name="adj" fmla="val 2235"/>
            </a:avLst>
          </a:prstGeom>
          <a:solidFill>
            <a:srgbClr val="16293D"/>
          </a:solidFill>
          <a:ln w="12700">
            <a:solidFill>
              <a:srgbClr val="2B4A66"/>
            </a:solidFill>
            <a:prstDash val="solid"/>
          </a:ln>
        </p:spPr>
      </p:sp>
      <p:pic>
        <p:nvPicPr>
          <p:cNvPr id="3" name="Image 0" descr="fig/h35-ui-chinh.png">    </p:cNvPr>
          <p:cNvPicPr>
            <a:picLocks noChangeAspect="1"/>
          </p:cNvPicPr>
          <p:nvPr/>
        </p:nvPicPr>
        <p:blipFill>
          <a:blip r:embed="rId1"/>
          <a:stretch>
            <a:fillRect/>
          </a:stretch>
        </p:blipFill>
        <p:spPr>
          <a:xfrm>
            <a:off x="6766560" y="1883664"/>
            <a:ext cx="4882896" cy="3044952"/>
          </a:xfrm>
          <a:prstGeom prst="rect">
            <a:avLst/>
          </a:prstGeom>
        </p:spPr>
      </p:pic>
      <p:sp>
        <p:nvSpPr>
          <p:cNvPr id="4" name="Text 1"/>
          <p:cNvSpPr/>
          <p:nvPr/>
        </p:nvSpPr>
        <p:spPr>
          <a:xfrm>
            <a:off x="6656832" y="5120640"/>
            <a:ext cx="5102352" cy="274320"/>
          </a:xfrm>
          <a:prstGeom prst="rect">
            <a:avLst/>
          </a:prstGeom>
          <a:noFill/>
          <a:ln/>
        </p:spPr>
        <p:txBody>
          <a:bodyPr wrap="square" lIns="0" tIns="0" rIns="0" bIns="0" rtlCol="0" anchor="ctr"/>
          <a:lstStyle/>
          <a:p>
            <a:pPr algn="ctr" indent="0" marL="0">
              <a:buNone/>
            </a:pPr>
            <a:r>
              <a:rPr lang="en-US" sz="900" i="1" dirty="0">
                <a:solidFill>
                  <a:srgbClr val="6E8CA6"/>
                </a:solidFill>
                <a:latin typeface="Calibri" pitchFamily="34" charset="0"/>
                <a:ea typeface="Calibri" pitchFamily="34" charset="-122"/>
                <a:cs typeface="Calibri" pitchFamily="34" charset="-120"/>
              </a:rPr>
              <a:t>Giao diện mô-đun AI cục bộ  ·  127.0.0.1:8765</a:t>
            </a:r>
            <a:endParaRPr lang="en-US" sz="900" dirty="0"/>
          </a:p>
        </p:txBody>
      </p:sp>
      <p:sp>
        <p:nvSpPr>
          <p:cNvPr id="5" name="Shape 2"/>
          <p:cNvSpPr/>
          <p:nvPr/>
        </p:nvSpPr>
        <p:spPr>
          <a:xfrm>
            <a:off x="685800" y="1170432"/>
            <a:ext cx="2880360" cy="292608"/>
          </a:xfrm>
          <a:prstGeom prst="roundRect">
            <a:avLst>
              <a:gd name="adj" fmla="val 50000"/>
            </a:avLst>
          </a:prstGeom>
          <a:solidFill>
            <a:srgbClr val="0E6B5A"/>
          </a:solidFill>
          <a:ln w="12700">
            <a:solidFill>
              <a:srgbClr val="0E6B5A"/>
            </a:solidFill>
            <a:prstDash val="solid"/>
          </a:ln>
        </p:spPr>
      </p:sp>
      <p:sp>
        <p:nvSpPr>
          <p:cNvPr id="6" name="Text 3"/>
          <p:cNvSpPr/>
          <p:nvPr/>
        </p:nvSpPr>
        <p:spPr>
          <a:xfrm>
            <a:off x="685800" y="1170432"/>
            <a:ext cx="2880360" cy="292608"/>
          </a:xfrm>
          <a:prstGeom prst="rect">
            <a:avLst/>
          </a:prstGeom>
          <a:noFill/>
          <a:ln/>
        </p:spPr>
        <p:txBody>
          <a:bodyPr wrap="square" lIns="0" tIns="0" rIns="0" bIns="0" rtlCol="0" anchor="ctr"/>
          <a:lstStyle/>
          <a:p>
            <a:pPr algn="ctr" indent="0" marL="0">
              <a:buNone/>
            </a:pPr>
            <a:r>
              <a:rPr lang="en-US" sz="800" b="1" spc="90" kern="0" dirty="0">
                <a:solidFill>
                  <a:srgbClr val="D5F2EA"/>
                </a:solidFill>
                <a:latin typeface="Calibri" pitchFamily="34" charset="0"/>
                <a:ea typeface="Calibri" pitchFamily="34" charset="-122"/>
                <a:cs typeface="Calibri" pitchFamily="34" charset="-120"/>
              </a:rPr>
              <a:t>BÁO CÁO THỰC TẬP TỐT NGHIỆP ĐẠI HỌC</a:t>
            </a:r>
            <a:endParaRPr lang="en-US" sz="800" dirty="0"/>
          </a:p>
        </p:txBody>
      </p:sp>
      <p:sp>
        <p:nvSpPr>
          <p:cNvPr id="7" name="Text 4"/>
          <p:cNvSpPr/>
          <p:nvPr/>
        </p:nvSpPr>
        <p:spPr>
          <a:xfrm>
            <a:off x="658368" y="1645920"/>
            <a:ext cx="5852160" cy="2103120"/>
          </a:xfrm>
          <a:prstGeom prst="rect">
            <a:avLst/>
          </a:prstGeom>
          <a:noFill/>
          <a:ln/>
        </p:spPr>
        <p:txBody>
          <a:bodyPr wrap="square" lIns="0" tIns="0" rIns="0" bIns="0" rtlCol="0" anchor="t"/>
          <a:lstStyle/>
          <a:p>
            <a:pPr indent="0" marL="0">
              <a:lnSpc>
                <a:spcPct val="92000"/>
              </a:lnSpc>
              <a:buNone/>
            </a:pPr>
            <a:r>
              <a:rPr lang="en-US" sz="3800" b="1" dirty="0">
                <a:solidFill>
                  <a:srgbClr val="FFFFFF"/>
                </a:solidFill>
                <a:latin typeface="Calibri" pitchFamily="34" charset="0"/>
                <a:ea typeface="Calibri" pitchFamily="34" charset="-122"/>
                <a:cs typeface="Calibri" pitchFamily="34" charset="-120"/>
              </a:rPr>
              <a:t>Mô-đun AI cục bộ</a:t>
            </a:r>
            <a:endParaRPr lang="en-US" sz="3800" dirty="0"/>
          </a:p>
          <a:p>
            <a:pPr indent="0" marL="0">
              <a:lnSpc>
                <a:spcPct val="92000"/>
              </a:lnSpc>
              <a:buNone/>
            </a:pPr>
            <a:r>
              <a:rPr lang="en-US" sz="3800" b="1" dirty="0">
                <a:solidFill>
                  <a:srgbClr val="FFFFFF"/>
                </a:solidFill>
                <a:latin typeface="Calibri" pitchFamily="34" charset="0"/>
                <a:ea typeface="Calibri" pitchFamily="34" charset="-122"/>
                <a:cs typeface="Calibri" pitchFamily="34" charset="-120"/>
              </a:rPr>
              <a:t>hỗ trợ phân tích</a:t>
            </a:r>
            <a:endParaRPr lang="en-US" sz="3800" dirty="0"/>
          </a:p>
          <a:p>
            <a:pPr indent="0" marL="0">
              <a:lnSpc>
                <a:spcPct val="92000"/>
              </a:lnSpc>
              <a:buNone/>
            </a:pPr>
            <a:r>
              <a:rPr lang="en-US" sz="3800" b="1" dirty="0">
                <a:solidFill>
                  <a:srgbClr val="FFFFFF"/>
                </a:solidFill>
                <a:latin typeface="Calibri" pitchFamily="34" charset="0"/>
                <a:ea typeface="Calibri" pitchFamily="34" charset="-122"/>
                <a:cs typeface="Calibri" pitchFamily="34" charset="-120"/>
              </a:rPr>
              <a:t>cảnh báo SIEM</a:t>
            </a:r>
            <a:endParaRPr lang="en-US" sz="3800" dirty="0"/>
          </a:p>
        </p:txBody>
      </p:sp>
      <p:sp>
        <p:nvSpPr>
          <p:cNvPr id="8" name="Text 5"/>
          <p:cNvSpPr/>
          <p:nvPr/>
        </p:nvSpPr>
        <p:spPr>
          <a:xfrm>
            <a:off x="685800" y="3840480"/>
            <a:ext cx="5669280" cy="658368"/>
          </a:xfrm>
          <a:prstGeom prst="rect">
            <a:avLst/>
          </a:prstGeom>
          <a:noFill/>
          <a:ln/>
        </p:spPr>
        <p:txBody>
          <a:bodyPr wrap="square" lIns="0" tIns="0" rIns="0" bIns="0" rtlCol="0" anchor="ctr"/>
          <a:lstStyle/>
          <a:p>
            <a:pPr indent="0" marL="0">
              <a:lnSpc>
                <a:spcPct val="105000"/>
              </a:lnSpc>
              <a:buNone/>
            </a:pPr>
            <a:r>
              <a:rPr lang="en-US" sz="1200" i="1" dirty="0">
                <a:solidFill>
                  <a:srgbClr val="8FB0C8"/>
                </a:solidFill>
                <a:latin typeface="Calibri" pitchFamily="34" charset="0"/>
                <a:ea typeface="Calibri" pitchFamily="34" charset="-122"/>
                <a:cs typeface="Calibri" pitchFamily="34" charset="-120"/>
              </a:rPr>
              <a:t>Nghiên cứu và xây dựng mô-đun AI cục bộ hỗ trợ phân tích và giải thích cảnh báo an ninh trên hệ thống SIEM</a:t>
            </a:r>
            <a:endParaRPr lang="en-US" sz="1200" dirty="0"/>
          </a:p>
        </p:txBody>
      </p:sp>
      <p:sp>
        <p:nvSpPr>
          <p:cNvPr id="9" name="Text 6"/>
          <p:cNvSpPr/>
          <p:nvPr/>
        </p:nvSpPr>
        <p:spPr>
          <a:xfrm>
            <a:off x="685800" y="4590288"/>
            <a:ext cx="1600200" cy="292608"/>
          </a:xfrm>
          <a:prstGeom prst="rect">
            <a:avLst/>
          </a:prstGeom>
          <a:noFill/>
          <a:ln/>
        </p:spPr>
        <p:txBody>
          <a:bodyPr wrap="square" lIns="0" tIns="0" rIns="0" bIns="0" rtlCol="0" anchor="ctr"/>
          <a:lstStyle/>
          <a:p>
            <a:pPr indent="0" marL="0">
              <a:buNone/>
            </a:pPr>
            <a:r>
              <a:rPr lang="en-US" sz="950" dirty="0">
                <a:solidFill>
                  <a:srgbClr val="6E8CA6"/>
                </a:solidFill>
                <a:latin typeface="Calibri" pitchFamily="34" charset="0"/>
                <a:ea typeface="Calibri" pitchFamily="34" charset="-122"/>
                <a:cs typeface="Calibri" pitchFamily="34" charset="-120"/>
              </a:rPr>
              <a:t>Nhóm A07</a:t>
            </a:r>
            <a:endParaRPr lang="en-US" sz="950" dirty="0"/>
          </a:p>
        </p:txBody>
      </p:sp>
      <p:sp>
        <p:nvSpPr>
          <p:cNvPr id="10" name="Text 7"/>
          <p:cNvSpPr/>
          <p:nvPr/>
        </p:nvSpPr>
        <p:spPr>
          <a:xfrm>
            <a:off x="2331720" y="4590288"/>
            <a:ext cx="4114800" cy="292608"/>
          </a:xfrm>
          <a:prstGeom prst="rect">
            <a:avLst/>
          </a:prstGeom>
          <a:noFill/>
          <a:ln/>
        </p:spPr>
        <p:txBody>
          <a:bodyPr wrap="square" lIns="0" tIns="0" rIns="0" bIns="0" rtlCol="0" anchor="ctr"/>
          <a:lstStyle/>
          <a:p>
            <a:pPr indent="0" marL="0">
              <a:buNone/>
            </a:pPr>
            <a:r>
              <a:rPr lang="en-US" sz="1100" b="1" dirty="0">
                <a:solidFill>
                  <a:srgbClr val="1F9E86"/>
                </a:solidFill>
                <a:latin typeface="Calibri" pitchFamily="34" charset="0"/>
                <a:ea typeface="Calibri" pitchFamily="34" charset="-122"/>
                <a:cs typeface="Calibri" pitchFamily="34" charset="-120"/>
              </a:rPr>
              <a:t>Đinh Tuấn Dương  ·  N22DCAT014</a:t>
            </a:r>
            <a:endParaRPr lang="en-US" sz="1100" dirty="0"/>
          </a:p>
        </p:txBody>
      </p:sp>
      <p:sp>
        <p:nvSpPr>
          <p:cNvPr id="11" name="Text 8"/>
          <p:cNvSpPr/>
          <p:nvPr/>
        </p:nvSpPr>
        <p:spPr>
          <a:xfrm>
            <a:off x="2331720" y="4919472"/>
            <a:ext cx="4114800" cy="292608"/>
          </a:xfrm>
          <a:prstGeom prst="rect">
            <a:avLst/>
          </a:prstGeom>
          <a:noFill/>
          <a:ln/>
        </p:spPr>
        <p:txBody>
          <a:bodyPr wrap="square" lIns="0" tIns="0" rIns="0" bIns="0" rtlCol="0" anchor="ctr"/>
          <a:lstStyle/>
          <a:p>
            <a:pPr indent="0" marL="0">
              <a:buNone/>
            </a:pPr>
            <a:r>
              <a:rPr lang="en-US" sz="1100" b="1" dirty="0">
                <a:solidFill>
                  <a:srgbClr val="1F9E86"/>
                </a:solidFill>
                <a:latin typeface="Calibri" pitchFamily="34" charset="0"/>
                <a:ea typeface="Calibri" pitchFamily="34" charset="-122"/>
                <a:cs typeface="Calibri" pitchFamily="34" charset="-120"/>
              </a:rPr>
              <a:t>Nguyễn Trung Nguyên  ·  N22DCAT039</a:t>
            </a:r>
            <a:endParaRPr lang="en-US" sz="1100" dirty="0"/>
          </a:p>
        </p:txBody>
      </p:sp>
      <p:sp>
        <p:nvSpPr>
          <p:cNvPr id="12" name="Text 9"/>
          <p:cNvSpPr/>
          <p:nvPr/>
        </p:nvSpPr>
        <p:spPr>
          <a:xfrm>
            <a:off x="685800" y="5248656"/>
            <a:ext cx="1600200" cy="292608"/>
          </a:xfrm>
          <a:prstGeom prst="rect">
            <a:avLst/>
          </a:prstGeom>
          <a:noFill/>
          <a:ln/>
        </p:spPr>
        <p:txBody>
          <a:bodyPr wrap="square" lIns="0" tIns="0" rIns="0" bIns="0" rtlCol="0" anchor="ctr"/>
          <a:lstStyle/>
          <a:p>
            <a:pPr indent="0" marL="0">
              <a:buNone/>
            </a:pPr>
            <a:r>
              <a:rPr lang="en-US" sz="950" dirty="0">
                <a:solidFill>
                  <a:srgbClr val="6E8CA6"/>
                </a:solidFill>
                <a:latin typeface="Calibri" pitchFamily="34" charset="0"/>
                <a:ea typeface="Calibri" pitchFamily="34" charset="-122"/>
                <a:cs typeface="Calibri" pitchFamily="34" charset="-120"/>
              </a:rPr>
              <a:t>Lớp · Ngành</a:t>
            </a:r>
            <a:endParaRPr lang="en-US" sz="950" dirty="0"/>
          </a:p>
        </p:txBody>
      </p:sp>
      <p:sp>
        <p:nvSpPr>
          <p:cNvPr id="13" name="Text 10"/>
          <p:cNvSpPr/>
          <p:nvPr/>
        </p:nvSpPr>
        <p:spPr>
          <a:xfrm>
            <a:off x="2331720" y="5248656"/>
            <a:ext cx="4114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D22CQAT01-N  ·  An toàn thông tin</a:t>
            </a:r>
            <a:endParaRPr lang="en-US" sz="1100" dirty="0"/>
          </a:p>
        </p:txBody>
      </p:sp>
      <p:sp>
        <p:nvSpPr>
          <p:cNvPr id="14" name="Text 11"/>
          <p:cNvSpPr/>
          <p:nvPr/>
        </p:nvSpPr>
        <p:spPr>
          <a:xfrm>
            <a:off x="685800" y="5577840"/>
            <a:ext cx="1600200" cy="292608"/>
          </a:xfrm>
          <a:prstGeom prst="rect">
            <a:avLst/>
          </a:prstGeom>
          <a:noFill/>
          <a:ln/>
        </p:spPr>
        <p:txBody>
          <a:bodyPr wrap="square" lIns="0" tIns="0" rIns="0" bIns="0" rtlCol="0" anchor="ctr"/>
          <a:lstStyle/>
          <a:p>
            <a:pPr indent="0" marL="0">
              <a:buNone/>
            </a:pPr>
            <a:r>
              <a:rPr lang="en-US" sz="950" dirty="0">
                <a:solidFill>
                  <a:srgbClr val="6E8CA6"/>
                </a:solidFill>
                <a:latin typeface="Calibri" pitchFamily="34" charset="0"/>
                <a:ea typeface="Calibri" pitchFamily="34" charset="-122"/>
                <a:cs typeface="Calibri" pitchFamily="34" charset="-120"/>
              </a:rPr>
              <a:t>Hướng dẫn</a:t>
            </a:r>
            <a:endParaRPr lang="en-US" sz="950" dirty="0"/>
          </a:p>
        </p:txBody>
      </p:sp>
      <p:sp>
        <p:nvSpPr>
          <p:cNvPr id="15" name="Text 12"/>
          <p:cNvSpPr/>
          <p:nvPr/>
        </p:nvSpPr>
        <p:spPr>
          <a:xfrm>
            <a:off x="2331720" y="5577840"/>
            <a:ext cx="4114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ThS. Nguyễn Hoàng Thành</a:t>
            </a:r>
            <a:endParaRPr lang="en-US" sz="1100" dirty="0"/>
          </a:p>
        </p:txBody>
      </p:sp>
      <p:sp>
        <p:nvSpPr>
          <p:cNvPr id="16" name="Text 13"/>
          <p:cNvSpPr/>
          <p:nvPr/>
        </p:nvSpPr>
        <p:spPr>
          <a:xfrm>
            <a:off x="685800" y="5907024"/>
            <a:ext cx="1600200" cy="292608"/>
          </a:xfrm>
          <a:prstGeom prst="rect">
            <a:avLst/>
          </a:prstGeom>
          <a:noFill/>
          <a:ln/>
        </p:spPr>
        <p:txBody>
          <a:bodyPr wrap="square" lIns="0" tIns="0" rIns="0" bIns="0" rtlCol="0" anchor="ctr"/>
          <a:lstStyle/>
          <a:p>
            <a:pPr indent="0" marL="0">
              <a:buNone/>
            </a:pPr>
            <a:r>
              <a:rPr lang="en-US" sz="950" dirty="0">
                <a:solidFill>
                  <a:srgbClr val="6E8CA6"/>
                </a:solidFill>
                <a:latin typeface="Calibri" pitchFamily="34" charset="0"/>
                <a:ea typeface="Calibri" pitchFamily="34" charset="-122"/>
                <a:cs typeface="Calibri" pitchFamily="34" charset="-120"/>
              </a:rPr>
              <a:t>Đơn vị</a:t>
            </a:r>
            <a:endParaRPr lang="en-US" sz="950" dirty="0"/>
          </a:p>
        </p:txBody>
      </p:sp>
      <p:sp>
        <p:nvSpPr>
          <p:cNvPr id="17" name="Text 14"/>
          <p:cNvSpPr/>
          <p:nvPr/>
        </p:nvSpPr>
        <p:spPr>
          <a:xfrm>
            <a:off x="2331720" y="5907024"/>
            <a:ext cx="4114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Khoa CNTT 2 — Học viện CNBCVT, cơ sở TP.HCM</a:t>
            </a:r>
            <a:endParaRPr lang="en-US" sz="1100" dirty="0"/>
          </a:p>
        </p:txBody>
      </p:sp>
      <p:sp>
        <p:nvSpPr>
          <p:cNvPr id="18" name="Text 15"/>
          <p:cNvSpPr/>
          <p:nvPr/>
        </p:nvSpPr>
        <p:spPr>
          <a:xfrm>
            <a:off x="685800" y="6236208"/>
            <a:ext cx="1600200" cy="292608"/>
          </a:xfrm>
          <a:prstGeom prst="rect">
            <a:avLst/>
          </a:prstGeom>
          <a:noFill/>
          <a:ln/>
        </p:spPr>
        <p:txBody>
          <a:bodyPr wrap="square" lIns="0" tIns="0" rIns="0" bIns="0" rtlCol="0" anchor="ctr"/>
          <a:lstStyle/>
          <a:p>
            <a:pPr indent="0" marL="0">
              <a:buNone/>
            </a:pPr>
            <a:r>
              <a:rPr lang="en-US" sz="950" dirty="0">
                <a:solidFill>
                  <a:srgbClr val="6E8CA6"/>
                </a:solidFill>
                <a:latin typeface="Calibri" pitchFamily="34" charset="0"/>
                <a:ea typeface="Calibri" pitchFamily="34" charset="-122"/>
                <a:cs typeface="Calibri" pitchFamily="34" charset="-120"/>
              </a:rPr>
              <a:t>Thời gian</a:t>
            </a:r>
            <a:endParaRPr lang="en-US" sz="950" dirty="0"/>
          </a:p>
        </p:txBody>
      </p:sp>
      <p:sp>
        <p:nvSpPr>
          <p:cNvPr id="19" name="Text 16"/>
          <p:cNvSpPr/>
          <p:nvPr/>
        </p:nvSpPr>
        <p:spPr>
          <a:xfrm>
            <a:off x="2331720" y="6236208"/>
            <a:ext cx="4114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TP. Hồ Chí Minh, tháng 8/2026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MỤC TIÊU</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Mục tiêu là rút ngắn bước phân loại ban đầu, không thay quyết định của người</a:t>
            </a:r>
            <a:endParaRPr lang="en-US" sz="2600" dirty="0"/>
          </a:p>
        </p:txBody>
      </p:sp>
      <p:sp>
        <p:nvSpPr>
          <p:cNvPr id="5" name="Shape 3"/>
          <p:cNvSpPr/>
          <p:nvPr/>
        </p:nvSpPr>
        <p:spPr>
          <a:xfrm>
            <a:off x="548640" y="1700784"/>
            <a:ext cx="4892040" cy="3950208"/>
          </a:xfrm>
          <a:prstGeom prst="roundRect">
            <a:avLst>
              <a:gd name="adj" fmla="val 2083"/>
            </a:avLst>
          </a:prstGeom>
          <a:solidFill>
            <a:srgbClr val="0D1B2A"/>
          </a:solidFill>
          <a:ln w="9525">
            <a:solidFill>
              <a:srgbClr val="0D1B2A"/>
            </a:solidFill>
            <a:prstDash val="solid"/>
          </a:ln>
        </p:spPr>
      </p:sp>
      <p:sp>
        <p:nvSpPr>
          <p:cNvPr id="6" name="Text 4"/>
          <p:cNvSpPr/>
          <p:nvPr/>
        </p:nvSpPr>
        <p:spPr>
          <a:xfrm>
            <a:off x="777240" y="1828800"/>
            <a:ext cx="4480560" cy="256032"/>
          </a:xfrm>
          <a:prstGeom prst="rect">
            <a:avLst/>
          </a:prstGeom>
          <a:noFill/>
          <a:ln/>
        </p:spPr>
        <p:txBody>
          <a:bodyPr wrap="square" lIns="0" tIns="0" rIns="0" bIns="0" rtlCol="0" anchor="ctr"/>
          <a:lstStyle/>
          <a:p>
            <a:pPr indent="0" marL="0">
              <a:buNone/>
            </a:pPr>
            <a:r>
              <a:rPr lang="en-US" sz="900" b="1" spc="110" kern="0" dirty="0">
                <a:solidFill>
                  <a:srgbClr val="7794AE"/>
                </a:solidFill>
                <a:latin typeface="Calibri" pitchFamily="34" charset="0"/>
                <a:ea typeface="Calibri" pitchFamily="34" charset="-122"/>
                <a:cs typeface="Calibri" pitchFamily="34" charset="-120"/>
              </a:rPr>
              <a:t>CẢNH BÁO WAZUH THÔ</a:t>
            </a:r>
            <a:endParaRPr lang="en-US" sz="900" dirty="0"/>
          </a:p>
        </p:txBody>
      </p:sp>
      <p:sp>
        <p:nvSpPr>
          <p:cNvPr id="7" name="Text 5"/>
          <p:cNvSpPr/>
          <p:nvPr/>
        </p:nvSpPr>
        <p:spPr>
          <a:xfrm>
            <a:off x="777240" y="2157984"/>
            <a:ext cx="4480560" cy="3200400"/>
          </a:xfrm>
          <a:prstGeom prst="rect">
            <a:avLst/>
          </a:prstGeom>
          <a:noFill/>
          <a:ln/>
        </p:spPr>
        <p:txBody>
          <a:bodyPr wrap="square" lIns="0" tIns="0" rIns="0" bIns="0" rtlCol="0" anchor="t"/>
          <a:lstStyle/>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"rule": { "id": "5710", "level": 5,</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"description": "Attempt to login using a</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non-existent user",</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"groups": ["syslog","sshd",</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"authentication_failed"],</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"mitre": { "id": ["T1110"] } },</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"agent": { "id": "002", "name": "victim-ubuntu" },</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"data": { "srcip": "10.0.0.30", "srcport": "54122" },</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"decoder": { "name": "sshd" },</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"location": "/var/log/auth.log",</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"full_log": "sshd[2841]: Invalid user admin</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      from 10.0.0.30 port 54122 ssh2"</a:t>
            </a:r>
            <a:endParaRPr lang="en-US" sz="850" dirty="0"/>
          </a:p>
          <a:p>
            <a:pPr indent="0" marL="0">
              <a:lnSpc>
                <a:spcPct val="112000"/>
              </a:lnSpc>
              <a:buNone/>
            </a:pPr>
            <a:r>
              <a:rPr lang="en-US" sz="850" dirty="0">
                <a:solidFill>
                  <a:srgbClr val="9FBBD2"/>
                </a:solidFill>
                <a:latin typeface="Courier New" pitchFamily="34" charset="0"/>
                <a:ea typeface="Courier New" pitchFamily="34" charset="-122"/>
                <a:cs typeface="Courier New" pitchFamily="34" charset="-120"/>
              </a:rPr>
              <a:t>}</a:t>
            </a:r>
            <a:endParaRPr lang="en-US" sz="850" dirty="0"/>
          </a:p>
        </p:txBody>
      </p:sp>
      <p:sp>
        <p:nvSpPr>
          <p:cNvPr id="8" name="Shape 6"/>
          <p:cNvSpPr/>
          <p:nvPr/>
        </p:nvSpPr>
        <p:spPr>
          <a:xfrm>
            <a:off x="5577840" y="3246120"/>
            <a:ext cx="566928" cy="566928"/>
          </a:xfrm>
          <a:prstGeom prst="roundRect">
            <a:avLst>
              <a:gd name="adj" fmla="val 50000"/>
            </a:avLst>
          </a:prstGeom>
          <a:solidFill>
            <a:srgbClr val="1F9E86"/>
          </a:solidFill>
          <a:ln w="12700">
            <a:solidFill>
              <a:srgbClr val="1F9E86"/>
            </a:solidFill>
            <a:prstDash val="solid"/>
          </a:ln>
        </p:spPr>
      </p:sp>
      <p:sp>
        <p:nvSpPr>
          <p:cNvPr id="9" name="Shape 7"/>
          <p:cNvSpPr/>
          <p:nvPr/>
        </p:nvSpPr>
        <p:spPr>
          <a:xfrm rot="5400000">
            <a:off x="5760720" y="3429000"/>
            <a:ext cx="137160" cy="201168"/>
          </a:xfrm>
          <a:prstGeom prst="triangle">
            <a:avLst/>
          </a:prstGeom>
          <a:solidFill>
            <a:srgbClr val="FFFFFF"/>
          </a:solidFill>
          <a:ln w="12700">
            <a:solidFill>
              <a:srgbClr val="FFFFFF"/>
            </a:solidFill>
            <a:prstDash val="solid"/>
          </a:ln>
        </p:spPr>
      </p:sp>
      <p:sp>
        <p:nvSpPr>
          <p:cNvPr id="10" name="Text 8"/>
          <p:cNvSpPr/>
          <p:nvPr/>
        </p:nvSpPr>
        <p:spPr>
          <a:xfrm>
            <a:off x="5303520" y="3877056"/>
            <a:ext cx="1115568" cy="237744"/>
          </a:xfrm>
          <a:prstGeom prst="rect">
            <a:avLst/>
          </a:prstGeom>
          <a:noFill/>
          <a:ln/>
        </p:spPr>
        <p:txBody>
          <a:bodyPr wrap="square" lIns="0" tIns="0" rIns="0" bIns="0" rtlCol="0" anchor="ctr"/>
          <a:lstStyle/>
          <a:p>
            <a:pPr algn="ctr" indent="0" marL="0">
              <a:buNone/>
            </a:pPr>
            <a:r>
              <a:rPr lang="en-US" sz="850" b="1" dirty="0">
                <a:solidFill>
                  <a:srgbClr val="0E6B5A"/>
                </a:solidFill>
                <a:latin typeface="Calibri" pitchFamily="34" charset="0"/>
                <a:ea typeface="Calibri" pitchFamily="34" charset="-122"/>
                <a:cs typeface="Calibri" pitchFamily="34" charset="-120"/>
              </a:rPr>
              <a:t>AI cục bộ</a:t>
            </a:r>
            <a:endParaRPr lang="en-US" sz="850" dirty="0"/>
          </a:p>
        </p:txBody>
      </p:sp>
      <p:sp>
        <p:nvSpPr>
          <p:cNvPr id="11" name="Shape 9"/>
          <p:cNvSpPr/>
          <p:nvPr/>
        </p:nvSpPr>
        <p:spPr>
          <a:xfrm>
            <a:off x="6309360" y="1700784"/>
            <a:ext cx="5303520" cy="3950208"/>
          </a:xfrm>
          <a:prstGeom prst="roundRect">
            <a:avLst>
              <a:gd name="adj" fmla="val 2083"/>
            </a:avLst>
          </a:prstGeom>
          <a:solidFill>
            <a:srgbClr val="DCF0EB"/>
          </a:solidFill>
          <a:ln w="9525">
            <a:solidFill>
              <a:srgbClr val="BCE0D7"/>
            </a:solidFill>
            <a:prstDash val="solid"/>
          </a:ln>
        </p:spPr>
      </p:sp>
      <p:sp>
        <p:nvSpPr>
          <p:cNvPr id="12" name="Text 10"/>
          <p:cNvSpPr/>
          <p:nvPr/>
        </p:nvSpPr>
        <p:spPr>
          <a:xfrm>
            <a:off x="6537960" y="1828800"/>
            <a:ext cx="4846320" cy="256032"/>
          </a:xfrm>
          <a:prstGeom prst="rect">
            <a:avLst/>
          </a:prstGeom>
          <a:noFill/>
          <a:ln/>
        </p:spPr>
        <p:txBody>
          <a:bodyPr wrap="square" lIns="0" tIns="0" rIns="0" bIns="0" rtlCol="0" anchor="ctr"/>
          <a:lstStyle/>
          <a:p>
            <a:pPr indent="0" marL="0">
              <a:buNone/>
            </a:pPr>
            <a:r>
              <a:rPr lang="en-US" sz="900" b="1" spc="110" kern="0" dirty="0">
                <a:solidFill>
                  <a:srgbClr val="0E6B5A"/>
                </a:solidFill>
                <a:latin typeface="Calibri" pitchFamily="34" charset="0"/>
                <a:ea typeface="Calibri" pitchFamily="34" charset="-122"/>
                <a:cs typeface="Calibri" pitchFamily="34" charset="-120"/>
              </a:rPr>
              <a:t>BẢN DIỄN GIẢI CÓ CẤU TRÚC</a:t>
            </a:r>
            <a:endParaRPr lang="en-US" sz="900" dirty="0"/>
          </a:p>
        </p:txBody>
      </p:sp>
      <p:sp>
        <p:nvSpPr>
          <p:cNvPr id="13" name="Text 11"/>
          <p:cNvSpPr/>
          <p:nvPr/>
        </p:nvSpPr>
        <p:spPr>
          <a:xfrm>
            <a:off x="6537960" y="2157984"/>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Tóm tắt</a:t>
            </a:r>
            <a:endParaRPr lang="en-US" sz="950" dirty="0"/>
          </a:p>
        </p:txBody>
      </p:sp>
      <p:sp>
        <p:nvSpPr>
          <p:cNvPr id="14" name="Text 12"/>
          <p:cNvSpPr/>
          <p:nvPr/>
        </p:nvSpPr>
        <p:spPr>
          <a:xfrm>
            <a:off x="8046720" y="2130552"/>
            <a:ext cx="3383280" cy="548640"/>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Nhiều lần đăng nhập SSH bằng tài khoản không tồn tại từ một nguồn duy nhất.</a:t>
            </a:r>
            <a:endParaRPr lang="en-US" sz="950" dirty="0"/>
          </a:p>
        </p:txBody>
      </p:sp>
      <p:sp>
        <p:nvSpPr>
          <p:cNvPr id="15" name="Text 13"/>
          <p:cNvSpPr/>
          <p:nvPr/>
        </p:nvSpPr>
        <p:spPr>
          <a:xfrm>
            <a:off x="6537960" y="2752344"/>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Nguyên nhân</a:t>
            </a:r>
            <a:endParaRPr lang="en-US" sz="950" dirty="0"/>
          </a:p>
        </p:txBody>
      </p:sp>
      <p:sp>
        <p:nvSpPr>
          <p:cNvPr id="16" name="Text 14"/>
          <p:cNvSpPr/>
          <p:nvPr/>
        </p:nvSpPr>
        <p:spPr>
          <a:xfrm>
            <a:off x="8046720" y="2724912"/>
            <a:ext cx="3383280" cy="548640"/>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Luật 5710 kích hoạt khi sshd ghi nhận user không tồn tại — dấu hiệu dò tài khoản.</a:t>
            </a:r>
            <a:endParaRPr lang="en-US" sz="950" dirty="0"/>
          </a:p>
        </p:txBody>
      </p:sp>
      <p:sp>
        <p:nvSpPr>
          <p:cNvPr id="17" name="Text 15"/>
          <p:cNvSpPr/>
          <p:nvPr/>
        </p:nvSpPr>
        <p:spPr>
          <a:xfrm>
            <a:off x="6537960" y="3346704"/>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Mức nghiêm trọng</a:t>
            </a:r>
            <a:endParaRPr lang="en-US" sz="950" dirty="0"/>
          </a:p>
        </p:txBody>
      </p:sp>
      <p:sp>
        <p:nvSpPr>
          <p:cNvPr id="18" name="Text 16"/>
          <p:cNvSpPr/>
          <p:nvPr/>
        </p:nvSpPr>
        <p:spPr>
          <a:xfrm>
            <a:off x="8046720" y="3319272"/>
            <a:ext cx="3383280" cy="347472"/>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medium  (luật quy định: 5 — Thấp)</a:t>
            </a:r>
            <a:endParaRPr lang="en-US" sz="950" dirty="0"/>
          </a:p>
        </p:txBody>
      </p:sp>
      <p:sp>
        <p:nvSpPr>
          <p:cNvPr id="19" name="Text 17"/>
          <p:cNvSpPr/>
          <p:nvPr/>
        </p:nvSpPr>
        <p:spPr>
          <a:xfrm>
            <a:off x="6537960" y="3739896"/>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MITRE ATT&amp;CK</a:t>
            </a:r>
            <a:endParaRPr lang="en-US" sz="950" dirty="0"/>
          </a:p>
        </p:txBody>
      </p:sp>
      <p:sp>
        <p:nvSpPr>
          <p:cNvPr id="20" name="Text 18"/>
          <p:cNvSpPr/>
          <p:nvPr/>
        </p:nvSpPr>
        <p:spPr>
          <a:xfrm>
            <a:off x="8046720" y="3712464"/>
            <a:ext cx="3383280" cy="347472"/>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T1110 — Brute Force</a:t>
            </a:r>
            <a:endParaRPr lang="en-US" sz="950" dirty="0"/>
          </a:p>
        </p:txBody>
      </p:sp>
      <p:sp>
        <p:nvSpPr>
          <p:cNvPr id="21" name="Text 19"/>
          <p:cNvSpPr/>
          <p:nvPr/>
        </p:nvSpPr>
        <p:spPr>
          <a:xfrm>
            <a:off x="6537960" y="4133088"/>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Bước kiểm tra</a:t>
            </a:r>
            <a:endParaRPr lang="en-US" sz="950" dirty="0"/>
          </a:p>
        </p:txBody>
      </p:sp>
      <p:sp>
        <p:nvSpPr>
          <p:cNvPr id="22" name="Text 20"/>
          <p:cNvSpPr/>
          <p:nvPr/>
        </p:nvSpPr>
        <p:spPr>
          <a:xfrm>
            <a:off x="8046720" y="4105656"/>
            <a:ext cx="3383280" cy="694944"/>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1. Đối chiếu số lần thất bại trong cửa sổ.  2. Kiểm tra có phiên thành công sau đó.  3. Cân nhắc giới hạn tốc độ SSH.</a:t>
            </a:r>
            <a:endParaRPr lang="en-US" sz="950" dirty="0"/>
          </a:p>
        </p:txBody>
      </p:sp>
      <p:sp>
        <p:nvSpPr>
          <p:cNvPr id="23" name="Text 21"/>
          <p:cNvSpPr/>
          <p:nvPr/>
        </p:nvSpPr>
        <p:spPr>
          <a:xfrm>
            <a:off x="6537960" y="4873752"/>
            <a:ext cx="1481328" cy="274320"/>
          </a:xfrm>
          <a:prstGeom prst="rect">
            <a:avLst/>
          </a:prstGeom>
          <a:noFill/>
          <a:ln/>
        </p:spPr>
        <p:txBody>
          <a:bodyPr wrap="square" lIns="0" tIns="0" rIns="0" bIns="0" rtlCol="0" anchor="t"/>
          <a:lstStyle/>
          <a:p>
            <a:pPr indent="0" marL="0">
              <a:buNone/>
            </a:pPr>
            <a:r>
              <a:rPr lang="en-US" sz="950" b="1" dirty="0">
                <a:solidFill>
                  <a:srgbClr val="0E6B5A"/>
                </a:solidFill>
                <a:latin typeface="Calibri" pitchFamily="34" charset="0"/>
                <a:ea typeface="Calibri" pitchFamily="34" charset="-122"/>
                <a:cs typeface="Calibri" pitchFamily="34" charset="-120"/>
              </a:rPr>
              <a:t>Căn cứ đánh giá</a:t>
            </a:r>
            <a:endParaRPr lang="en-US" sz="950" dirty="0"/>
          </a:p>
        </p:txBody>
      </p:sp>
      <p:sp>
        <p:nvSpPr>
          <p:cNvPr id="24" name="Text 22"/>
          <p:cNvSpPr/>
          <p:nvPr/>
        </p:nvSpPr>
        <p:spPr>
          <a:xfrm>
            <a:off x="8046720" y="4846320"/>
            <a:ext cx="3383280" cy="548640"/>
          </a:xfrm>
          <a:prstGeom prst="rect">
            <a:avLst/>
          </a:prstGeom>
          <a:noFill/>
          <a:ln/>
        </p:spPr>
        <p:txBody>
          <a:bodyPr wrap="square" lIns="0" tIns="0" rIns="0" bIns="0" rtlCol="0" anchor="t"/>
          <a:lstStyle/>
          <a:p>
            <a:pPr indent="0" marL="0">
              <a:lnSpc>
                <a:spcPct val="103000"/>
              </a:lnSpc>
              <a:buNone/>
            </a:pPr>
            <a:r>
              <a:rPr lang="en-US" sz="950" dirty="0">
                <a:solidFill>
                  <a:srgbClr val="22303F"/>
                </a:solidFill>
                <a:latin typeface="Calibri" pitchFamily="34" charset="0"/>
                <a:ea typeface="Calibri" pitchFamily="34" charset="-122"/>
                <a:cs typeface="Calibri" pitchFamily="34" charset="-120"/>
              </a:rPr>
              <a:t>Tách rõ sự kiện quan sát / suy luận / điểm bất định / giới hạn dữ liệu.</a:t>
            </a:r>
            <a:endParaRPr lang="en-US" sz="950" dirty="0"/>
          </a:p>
        </p:txBody>
      </p:sp>
      <p:sp>
        <p:nvSpPr>
          <p:cNvPr id="25" name="Shape 23"/>
          <p:cNvSpPr/>
          <p:nvPr/>
        </p:nvSpPr>
        <p:spPr>
          <a:xfrm>
            <a:off x="548640" y="5779008"/>
            <a:ext cx="3520440" cy="603504"/>
          </a:xfrm>
          <a:prstGeom prst="roundRect">
            <a:avLst>
              <a:gd name="adj" fmla="val 13636"/>
            </a:avLst>
          </a:prstGeom>
          <a:solidFill>
            <a:srgbClr val="F2F6FA"/>
          </a:solidFill>
          <a:ln w="9525">
            <a:solidFill>
              <a:srgbClr val="D7E2EC"/>
            </a:solidFill>
            <a:prstDash val="solid"/>
          </a:ln>
        </p:spPr>
      </p:sp>
      <p:sp>
        <p:nvSpPr>
          <p:cNvPr id="26" name="Text 24"/>
          <p:cNvSpPr/>
          <p:nvPr/>
        </p:nvSpPr>
        <p:spPr>
          <a:xfrm>
            <a:off x="749808" y="5779008"/>
            <a:ext cx="3154680" cy="603504"/>
          </a:xfrm>
          <a:prstGeom prst="rect">
            <a:avLst/>
          </a:prstGeom>
          <a:noFill/>
          <a:ln/>
        </p:spPr>
        <p:txBody>
          <a:bodyPr wrap="square" lIns="0" tIns="0" rIns="0" bIns="0" rtlCol="0" anchor="ctr"/>
          <a:lstStyle/>
          <a:p>
            <a:pPr indent="0" marL="0">
              <a:lnSpc>
                <a:spcPct val="100000"/>
              </a:lnSpc>
              <a:buNone/>
            </a:pPr>
            <a:r>
              <a:rPr lang="en-US" sz="1000" b="1" dirty="0">
                <a:solidFill>
                  <a:srgbClr val="0D1B2A"/>
                </a:solidFill>
                <a:latin typeface="Calibri" pitchFamily="34" charset="0"/>
                <a:ea typeface="Calibri" pitchFamily="34" charset="-122"/>
                <a:cs typeface="Calibri" pitchFamily="34" charset="-120"/>
              </a:rPr>
              <a:t>Đọc cảnh báo tự động
</a:t>
            </a:r>
            <a:pPr indent="0" marL="0">
              <a:lnSpc>
                <a:spcPct val="100000"/>
              </a:lnSpc>
              <a:buNone/>
            </a:pPr>
            <a:r>
              <a:rPr lang="en-US" sz="900" dirty="0">
                <a:solidFill>
                  <a:srgbClr val="667E93"/>
                </a:solidFill>
                <a:latin typeface="Calibri" pitchFamily="34" charset="0"/>
                <a:ea typeface="Calibri" pitchFamily="34" charset="-122"/>
                <a:cs typeface="Calibri" pitchFamily="34" charset="-120"/>
              </a:rPr>
              <a:t>trực tiếp từ Wazuh Indexer</a:t>
            </a:r>
            <a:endParaRPr lang="en-US" sz="1000" dirty="0"/>
          </a:p>
        </p:txBody>
      </p:sp>
      <p:sp>
        <p:nvSpPr>
          <p:cNvPr id="27" name="Shape 25"/>
          <p:cNvSpPr/>
          <p:nvPr/>
        </p:nvSpPr>
        <p:spPr>
          <a:xfrm>
            <a:off x="4251960" y="5779008"/>
            <a:ext cx="3520440" cy="603504"/>
          </a:xfrm>
          <a:prstGeom prst="roundRect">
            <a:avLst>
              <a:gd name="adj" fmla="val 13636"/>
            </a:avLst>
          </a:prstGeom>
          <a:solidFill>
            <a:srgbClr val="F2F6FA"/>
          </a:solidFill>
          <a:ln w="9525">
            <a:solidFill>
              <a:srgbClr val="D7E2EC"/>
            </a:solidFill>
            <a:prstDash val="solid"/>
          </a:ln>
        </p:spPr>
      </p:sp>
      <p:sp>
        <p:nvSpPr>
          <p:cNvPr id="28" name="Text 26"/>
          <p:cNvSpPr/>
          <p:nvPr/>
        </p:nvSpPr>
        <p:spPr>
          <a:xfrm>
            <a:off x="4453128" y="5779008"/>
            <a:ext cx="3154680" cy="603504"/>
          </a:xfrm>
          <a:prstGeom prst="rect">
            <a:avLst/>
          </a:prstGeom>
          <a:noFill/>
          <a:ln/>
        </p:spPr>
        <p:txBody>
          <a:bodyPr wrap="square" lIns="0" tIns="0" rIns="0" bIns="0" rtlCol="0" anchor="ctr"/>
          <a:lstStyle/>
          <a:p>
            <a:pPr indent="0" marL="0">
              <a:lnSpc>
                <a:spcPct val="100000"/>
              </a:lnSpc>
              <a:buNone/>
            </a:pPr>
            <a:r>
              <a:rPr lang="en-US" sz="1000" b="1" dirty="0">
                <a:solidFill>
                  <a:srgbClr val="0D1B2A"/>
                </a:solidFill>
                <a:latin typeface="Calibri" pitchFamily="34" charset="0"/>
                <a:ea typeface="Calibri" pitchFamily="34" charset="-122"/>
                <a:cs typeface="Calibri" pitchFamily="34" charset="-120"/>
              </a:rPr>
              <a:t>Diễn giải · phân loại · ánh xạ MITRE
</a:t>
            </a:r>
            <a:pPr indent="0" marL="0">
              <a:lnSpc>
                <a:spcPct val="100000"/>
              </a:lnSpc>
              <a:buNone/>
            </a:pPr>
            <a:r>
              <a:rPr lang="en-US" sz="900" dirty="0">
                <a:solidFill>
                  <a:srgbClr val="667E93"/>
                </a:solidFill>
                <a:latin typeface="Calibri" pitchFamily="34" charset="0"/>
                <a:ea typeface="Calibri" pitchFamily="34" charset="-122"/>
                <a:cs typeface="Calibri" pitchFamily="34" charset="-120"/>
              </a:rPr>
              <a:t>kèm bước kiểm tra tiếp theo</a:t>
            </a:r>
            <a:endParaRPr lang="en-US" sz="1000" dirty="0"/>
          </a:p>
        </p:txBody>
      </p:sp>
      <p:sp>
        <p:nvSpPr>
          <p:cNvPr id="29" name="Shape 27"/>
          <p:cNvSpPr/>
          <p:nvPr/>
        </p:nvSpPr>
        <p:spPr>
          <a:xfrm>
            <a:off x="7955280" y="5779008"/>
            <a:ext cx="3520440" cy="603504"/>
          </a:xfrm>
          <a:prstGeom prst="roundRect">
            <a:avLst>
              <a:gd name="adj" fmla="val 13636"/>
            </a:avLst>
          </a:prstGeom>
          <a:solidFill>
            <a:srgbClr val="F2F6FA"/>
          </a:solidFill>
          <a:ln w="9525">
            <a:solidFill>
              <a:srgbClr val="D7E2EC"/>
            </a:solidFill>
            <a:prstDash val="solid"/>
          </a:ln>
        </p:spPr>
      </p:sp>
      <p:sp>
        <p:nvSpPr>
          <p:cNvPr id="30" name="Text 28"/>
          <p:cNvSpPr/>
          <p:nvPr/>
        </p:nvSpPr>
        <p:spPr>
          <a:xfrm>
            <a:off x="8156448" y="5779008"/>
            <a:ext cx="3154680" cy="603504"/>
          </a:xfrm>
          <a:prstGeom prst="rect">
            <a:avLst/>
          </a:prstGeom>
          <a:noFill/>
          <a:ln/>
        </p:spPr>
        <p:txBody>
          <a:bodyPr wrap="square" lIns="0" tIns="0" rIns="0" bIns="0" rtlCol="0" anchor="ctr"/>
          <a:lstStyle/>
          <a:p>
            <a:pPr indent="0" marL="0">
              <a:lnSpc>
                <a:spcPct val="100000"/>
              </a:lnSpc>
              <a:buNone/>
            </a:pPr>
            <a:r>
              <a:rPr lang="en-US" sz="1000" b="1" dirty="0">
                <a:solidFill>
                  <a:srgbClr val="0D1B2A"/>
                </a:solidFill>
                <a:latin typeface="Calibri" pitchFamily="34" charset="0"/>
                <a:ea typeface="Calibri" pitchFamily="34" charset="-122"/>
                <a:cs typeface="Calibri" pitchFamily="34" charset="-120"/>
              </a:rPr>
              <a:t>Toàn bộ xử lý trong hạ tầng nội bộ
</a:t>
            </a:r>
            <a:pPr indent="0" marL="0">
              <a:lnSpc>
                <a:spcPct val="100000"/>
              </a:lnSpc>
              <a:buNone/>
            </a:pPr>
            <a:r>
              <a:rPr lang="en-US" sz="900" dirty="0">
                <a:solidFill>
                  <a:srgbClr val="667E93"/>
                </a:solidFill>
                <a:latin typeface="Calibri" pitchFamily="34" charset="0"/>
                <a:ea typeface="Calibri" pitchFamily="34" charset="-122"/>
                <a:cs typeface="Calibri" pitchFamily="34" charset="-120"/>
              </a:rPr>
              <a:t>không gửi ra dịch vụ đám mây</a:t>
            </a:r>
            <a:endParaRPr lang="en-US" sz="1000" dirty="0"/>
          </a:p>
        </p:txBody>
      </p:sp>
      <p:sp>
        <p:nvSpPr>
          <p:cNvPr id="31" name="Text 2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TIẾN ĐỘ</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Đề tài được triển khai qua năm giai đoạn có thể kiểm chứng</a:t>
            </a:r>
            <a:endParaRPr lang="en-US" sz="2600" dirty="0"/>
          </a:p>
        </p:txBody>
      </p:sp>
      <p:sp>
        <p:nvSpPr>
          <p:cNvPr id="5" name="Shape 3"/>
          <p:cNvSpPr/>
          <p:nvPr/>
        </p:nvSpPr>
        <p:spPr>
          <a:xfrm>
            <a:off x="548640" y="1691640"/>
            <a:ext cx="2084832" cy="1810512"/>
          </a:xfrm>
          <a:prstGeom prst="roundRect">
            <a:avLst>
              <a:gd name="adj" fmla="val 4545"/>
            </a:avLst>
          </a:prstGeom>
          <a:solidFill>
            <a:srgbClr val="F2F6FA"/>
          </a:solidFill>
          <a:ln w="9525">
            <a:solidFill>
              <a:srgbClr val="D7E2EC"/>
            </a:solidFill>
            <a:prstDash val="solid"/>
          </a:ln>
        </p:spPr>
      </p:sp>
      <p:sp>
        <p:nvSpPr>
          <p:cNvPr id="6" name="Shape 4"/>
          <p:cNvSpPr/>
          <p:nvPr/>
        </p:nvSpPr>
        <p:spPr>
          <a:xfrm>
            <a:off x="749808" y="1874520"/>
            <a:ext cx="658368" cy="274320"/>
          </a:xfrm>
          <a:prstGeom prst="roundRect">
            <a:avLst>
              <a:gd name="adj" fmla="val 50000"/>
            </a:avLst>
          </a:prstGeom>
          <a:solidFill>
            <a:srgbClr val="1F9E86"/>
          </a:solidFill>
          <a:ln w="12700">
            <a:solidFill>
              <a:srgbClr val="1F9E86"/>
            </a:solidFill>
            <a:prstDash val="solid"/>
          </a:ln>
        </p:spPr>
      </p:sp>
      <p:sp>
        <p:nvSpPr>
          <p:cNvPr id="7" name="Text 5"/>
          <p:cNvSpPr/>
          <p:nvPr/>
        </p:nvSpPr>
        <p:spPr>
          <a:xfrm>
            <a:off x="749808" y="1874520"/>
            <a:ext cx="65836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GĐ1</a:t>
            </a:r>
            <a:endParaRPr lang="en-US" sz="950" dirty="0"/>
          </a:p>
        </p:txBody>
      </p:sp>
      <p:sp>
        <p:nvSpPr>
          <p:cNvPr id="8" name="Text 6"/>
          <p:cNvSpPr/>
          <p:nvPr/>
        </p:nvSpPr>
        <p:spPr>
          <a:xfrm>
            <a:off x="749808" y="2249424"/>
            <a:ext cx="1737360" cy="475488"/>
          </a:xfrm>
          <a:prstGeom prst="rect">
            <a:avLst/>
          </a:prstGeom>
          <a:noFill/>
          <a:ln/>
        </p:spPr>
        <p:txBody>
          <a:bodyPr wrap="square" lIns="0" tIns="0" rIns="0" bIns="0" rtlCol="0" anchor="t"/>
          <a:lstStyle/>
          <a:p>
            <a:pPr indent="0" marL="0">
              <a:lnSpc>
                <a:spcPct val="95000"/>
              </a:lnSpc>
              <a:buNone/>
            </a:pPr>
            <a:r>
              <a:rPr lang="en-US" sz="1200" b="1" dirty="0">
                <a:solidFill>
                  <a:srgbClr val="0D1B2A"/>
                </a:solidFill>
                <a:latin typeface="Calibri" pitchFamily="34" charset="0"/>
                <a:ea typeface="Calibri" pitchFamily="34" charset="-122"/>
                <a:cs typeface="Calibri" pitchFamily="34" charset="-120"/>
              </a:rPr>
              <a:t>Dựng lab giám sát</a:t>
            </a:r>
            <a:endParaRPr lang="en-US" sz="1200" dirty="0"/>
          </a:p>
        </p:txBody>
      </p:sp>
      <p:sp>
        <p:nvSpPr>
          <p:cNvPr id="9" name="Text 7"/>
          <p:cNvSpPr/>
          <p:nvPr/>
        </p:nvSpPr>
        <p:spPr>
          <a:xfrm>
            <a:off x="749808" y="2743200"/>
            <a:ext cx="1737360" cy="65836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4 VM + máy chủ AI,</a:t>
            </a:r>
            <a:endParaRPr lang="en-US" sz="900" dirty="0"/>
          </a:p>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Wazuh 4.9.0 Docker</a:t>
            </a:r>
            <a:endParaRPr lang="en-US" sz="900" dirty="0"/>
          </a:p>
        </p:txBody>
      </p:sp>
      <p:sp>
        <p:nvSpPr>
          <p:cNvPr id="10" name="Shape 8"/>
          <p:cNvSpPr/>
          <p:nvPr/>
        </p:nvSpPr>
        <p:spPr>
          <a:xfrm rot="5400000">
            <a:off x="2660904" y="2496312"/>
            <a:ext cx="137160" cy="201168"/>
          </a:xfrm>
          <a:prstGeom prst="triangle">
            <a:avLst/>
          </a:prstGeom>
          <a:solidFill>
            <a:srgbClr val="1F9E86"/>
          </a:solidFill>
          <a:ln w="12700">
            <a:solidFill>
              <a:srgbClr val="1F9E86"/>
            </a:solidFill>
            <a:prstDash val="solid"/>
          </a:ln>
        </p:spPr>
      </p:sp>
      <p:sp>
        <p:nvSpPr>
          <p:cNvPr id="11" name="Shape 9"/>
          <p:cNvSpPr/>
          <p:nvPr/>
        </p:nvSpPr>
        <p:spPr>
          <a:xfrm>
            <a:off x="2775204" y="1691640"/>
            <a:ext cx="2084832" cy="1810512"/>
          </a:xfrm>
          <a:prstGeom prst="roundRect">
            <a:avLst>
              <a:gd name="adj" fmla="val 4545"/>
            </a:avLst>
          </a:prstGeom>
          <a:solidFill>
            <a:srgbClr val="F2F6FA"/>
          </a:solidFill>
          <a:ln w="9525">
            <a:solidFill>
              <a:srgbClr val="D7E2EC"/>
            </a:solidFill>
            <a:prstDash val="solid"/>
          </a:ln>
        </p:spPr>
      </p:sp>
      <p:sp>
        <p:nvSpPr>
          <p:cNvPr id="12" name="Shape 10"/>
          <p:cNvSpPr/>
          <p:nvPr/>
        </p:nvSpPr>
        <p:spPr>
          <a:xfrm>
            <a:off x="2976372" y="1874520"/>
            <a:ext cx="658368" cy="274320"/>
          </a:xfrm>
          <a:prstGeom prst="roundRect">
            <a:avLst>
              <a:gd name="adj" fmla="val 50000"/>
            </a:avLst>
          </a:prstGeom>
          <a:solidFill>
            <a:srgbClr val="1F9E86"/>
          </a:solidFill>
          <a:ln w="12700">
            <a:solidFill>
              <a:srgbClr val="1F9E86"/>
            </a:solidFill>
            <a:prstDash val="solid"/>
          </a:ln>
        </p:spPr>
      </p:sp>
      <p:sp>
        <p:nvSpPr>
          <p:cNvPr id="13" name="Text 11"/>
          <p:cNvSpPr/>
          <p:nvPr/>
        </p:nvSpPr>
        <p:spPr>
          <a:xfrm>
            <a:off x="2976372" y="1874520"/>
            <a:ext cx="65836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GĐ2</a:t>
            </a:r>
            <a:endParaRPr lang="en-US" sz="950" dirty="0"/>
          </a:p>
        </p:txBody>
      </p:sp>
      <p:sp>
        <p:nvSpPr>
          <p:cNvPr id="14" name="Text 12"/>
          <p:cNvSpPr/>
          <p:nvPr/>
        </p:nvSpPr>
        <p:spPr>
          <a:xfrm>
            <a:off x="2976372" y="2249424"/>
            <a:ext cx="1737360" cy="475488"/>
          </a:xfrm>
          <a:prstGeom prst="rect">
            <a:avLst/>
          </a:prstGeom>
          <a:noFill/>
          <a:ln/>
        </p:spPr>
        <p:txBody>
          <a:bodyPr wrap="square" lIns="0" tIns="0" rIns="0" bIns="0" rtlCol="0" anchor="t"/>
          <a:lstStyle/>
          <a:p>
            <a:pPr indent="0" marL="0">
              <a:lnSpc>
                <a:spcPct val="95000"/>
              </a:lnSpc>
              <a:buNone/>
            </a:pPr>
            <a:r>
              <a:rPr lang="en-US" sz="1200" b="1" dirty="0">
                <a:solidFill>
                  <a:srgbClr val="0D1B2A"/>
                </a:solidFill>
                <a:latin typeface="Calibri" pitchFamily="34" charset="0"/>
                <a:ea typeface="Calibri" pitchFamily="34" charset="-122"/>
                <a:cs typeface="Calibri" pitchFamily="34" charset="-120"/>
              </a:rPr>
              <a:t>Sinh cảnh báo</a:t>
            </a:r>
            <a:endParaRPr lang="en-US" sz="1200" dirty="0"/>
          </a:p>
        </p:txBody>
      </p:sp>
      <p:sp>
        <p:nvSpPr>
          <p:cNvPr id="15" name="Text 13"/>
          <p:cNvSpPr/>
          <p:nvPr/>
        </p:nvSpPr>
        <p:spPr>
          <a:xfrm>
            <a:off x="2976372" y="2743200"/>
            <a:ext cx="1737360" cy="65836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SSH brute-force, web</a:t>
            </a:r>
            <a:endParaRPr lang="en-US" sz="900" dirty="0"/>
          </a:p>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(nikto/sqlmap), FIM</a:t>
            </a:r>
            <a:endParaRPr lang="en-US" sz="900" dirty="0"/>
          </a:p>
        </p:txBody>
      </p:sp>
      <p:sp>
        <p:nvSpPr>
          <p:cNvPr id="16" name="Shape 14"/>
          <p:cNvSpPr/>
          <p:nvPr/>
        </p:nvSpPr>
        <p:spPr>
          <a:xfrm rot="5400000">
            <a:off x="4887468" y="2496312"/>
            <a:ext cx="137160" cy="201168"/>
          </a:xfrm>
          <a:prstGeom prst="triangle">
            <a:avLst/>
          </a:prstGeom>
          <a:solidFill>
            <a:srgbClr val="1F9E86"/>
          </a:solidFill>
          <a:ln w="12700">
            <a:solidFill>
              <a:srgbClr val="1F9E86"/>
            </a:solidFill>
            <a:prstDash val="solid"/>
          </a:ln>
        </p:spPr>
      </p:sp>
      <p:sp>
        <p:nvSpPr>
          <p:cNvPr id="17" name="Shape 15"/>
          <p:cNvSpPr/>
          <p:nvPr/>
        </p:nvSpPr>
        <p:spPr>
          <a:xfrm>
            <a:off x="5001768" y="1691640"/>
            <a:ext cx="2084832" cy="1810512"/>
          </a:xfrm>
          <a:prstGeom prst="roundRect">
            <a:avLst>
              <a:gd name="adj" fmla="val 4545"/>
            </a:avLst>
          </a:prstGeom>
          <a:solidFill>
            <a:srgbClr val="F2F6FA"/>
          </a:solidFill>
          <a:ln w="9525">
            <a:solidFill>
              <a:srgbClr val="D7E2EC"/>
            </a:solidFill>
            <a:prstDash val="solid"/>
          </a:ln>
        </p:spPr>
      </p:sp>
      <p:sp>
        <p:nvSpPr>
          <p:cNvPr id="18" name="Shape 16"/>
          <p:cNvSpPr/>
          <p:nvPr/>
        </p:nvSpPr>
        <p:spPr>
          <a:xfrm>
            <a:off x="5202936" y="1874520"/>
            <a:ext cx="658368" cy="274320"/>
          </a:xfrm>
          <a:prstGeom prst="roundRect">
            <a:avLst>
              <a:gd name="adj" fmla="val 50000"/>
            </a:avLst>
          </a:prstGeom>
          <a:solidFill>
            <a:srgbClr val="1F9E86"/>
          </a:solidFill>
          <a:ln w="12700">
            <a:solidFill>
              <a:srgbClr val="1F9E86"/>
            </a:solidFill>
            <a:prstDash val="solid"/>
          </a:ln>
        </p:spPr>
      </p:sp>
      <p:sp>
        <p:nvSpPr>
          <p:cNvPr id="19" name="Text 17"/>
          <p:cNvSpPr/>
          <p:nvPr/>
        </p:nvSpPr>
        <p:spPr>
          <a:xfrm>
            <a:off x="5202936" y="1874520"/>
            <a:ext cx="65836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GĐ3</a:t>
            </a:r>
            <a:endParaRPr lang="en-US" sz="950" dirty="0"/>
          </a:p>
        </p:txBody>
      </p:sp>
      <p:sp>
        <p:nvSpPr>
          <p:cNvPr id="20" name="Text 18"/>
          <p:cNvSpPr/>
          <p:nvPr/>
        </p:nvSpPr>
        <p:spPr>
          <a:xfrm>
            <a:off x="5202936" y="2249424"/>
            <a:ext cx="1737360" cy="475488"/>
          </a:xfrm>
          <a:prstGeom prst="rect">
            <a:avLst/>
          </a:prstGeom>
          <a:noFill/>
          <a:ln/>
        </p:spPr>
        <p:txBody>
          <a:bodyPr wrap="square" lIns="0" tIns="0" rIns="0" bIns="0" rtlCol="0" anchor="t"/>
          <a:lstStyle/>
          <a:p>
            <a:pPr indent="0" marL="0">
              <a:lnSpc>
                <a:spcPct val="95000"/>
              </a:lnSpc>
              <a:buNone/>
            </a:pPr>
            <a:r>
              <a:rPr lang="en-US" sz="1200" b="1" dirty="0">
                <a:solidFill>
                  <a:srgbClr val="0D1B2A"/>
                </a:solidFill>
                <a:latin typeface="Calibri" pitchFamily="34" charset="0"/>
                <a:ea typeface="Calibri" pitchFamily="34" charset="-122"/>
                <a:cs typeface="Calibri" pitchFamily="34" charset="-120"/>
              </a:rPr>
              <a:t>Mô-đun AI và RAG</a:t>
            </a:r>
            <a:endParaRPr lang="en-US" sz="1200" dirty="0"/>
          </a:p>
        </p:txBody>
      </p:sp>
      <p:sp>
        <p:nvSpPr>
          <p:cNvPr id="21" name="Text 19"/>
          <p:cNvSpPr/>
          <p:nvPr/>
        </p:nvSpPr>
        <p:spPr>
          <a:xfrm>
            <a:off x="5202936" y="2743200"/>
            <a:ext cx="1737360" cy="65836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Ollama, trích trường,</a:t>
            </a:r>
            <a:endParaRPr lang="en-US" sz="900" dirty="0"/>
          </a:p>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ChromaDB, ép lược đồ</a:t>
            </a:r>
            <a:endParaRPr lang="en-US" sz="900" dirty="0"/>
          </a:p>
        </p:txBody>
      </p:sp>
      <p:sp>
        <p:nvSpPr>
          <p:cNvPr id="22" name="Shape 20"/>
          <p:cNvSpPr/>
          <p:nvPr/>
        </p:nvSpPr>
        <p:spPr>
          <a:xfrm rot="5400000">
            <a:off x="7114032" y="2496312"/>
            <a:ext cx="137160" cy="201168"/>
          </a:xfrm>
          <a:prstGeom prst="triangle">
            <a:avLst/>
          </a:prstGeom>
          <a:solidFill>
            <a:srgbClr val="1F9E86"/>
          </a:solidFill>
          <a:ln w="12700">
            <a:solidFill>
              <a:srgbClr val="1F9E86"/>
            </a:solidFill>
            <a:prstDash val="solid"/>
          </a:ln>
        </p:spPr>
      </p:sp>
      <p:sp>
        <p:nvSpPr>
          <p:cNvPr id="23" name="Shape 21"/>
          <p:cNvSpPr/>
          <p:nvPr/>
        </p:nvSpPr>
        <p:spPr>
          <a:xfrm>
            <a:off x="7228332" y="1691640"/>
            <a:ext cx="2084832" cy="1810512"/>
          </a:xfrm>
          <a:prstGeom prst="roundRect">
            <a:avLst>
              <a:gd name="adj" fmla="val 4545"/>
            </a:avLst>
          </a:prstGeom>
          <a:solidFill>
            <a:srgbClr val="F2F6FA"/>
          </a:solidFill>
          <a:ln w="9525">
            <a:solidFill>
              <a:srgbClr val="D7E2EC"/>
            </a:solidFill>
            <a:prstDash val="solid"/>
          </a:ln>
        </p:spPr>
      </p:sp>
      <p:sp>
        <p:nvSpPr>
          <p:cNvPr id="24" name="Shape 22"/>
          <p:cNvSpPr/>
          <p:nvPr/>
        </p:nvSpPr>
        <p:spPr>
          <a:xfrm>
            <a:off x="7429500" y="1874520"/>
            <a:ext cx="658368" cy="274320"/>
          </a:xfrm>
          <a:prstGeom prst="roundRect">
            <a:avLst>
              <a:gd name="adj" fmla="val 50000"/>
            </a:avLst>
          </a:prstGeom>
          <a:solidFill>
            <a:srgbClr val="1F9E86"/>
          </a:solidFill>
          <a:ln w="12700">
            <a:solidFill>
              <a:srgbClr val="1F9E86"/>
            </a:solidFill>
            <a:prstDash val="solid"/>
          </a:ln>
        </p:spPr>
      </p:sp>
      <p:sp>
        <p:nvSpPr>
          <p:cNvPr id="25" name="Text 23"/>
          <p:cNvSpPr/>
          <p:nvPr/>
        </p:nvSpPr>
        <p:spPr>
          <a:xfrm>
            <a:off x="7429500" y="1874520"/>
            <a:ext cx="65836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GĐ4</a:t>
            </a:r>
            <a:endParaRPr lang="en-US" sz="950" dirty="0"/>
          </a:p>
        </p:txBody>
      </p:sp>
      <p:sp>
        <p:nvSpPr>
          <p:cNvPr id="26" name="Text 24"/>
          <p:cNvSpPr/>
          <p:nvPr/>
        </p:nvSpPr>
        <p:spPr>
          <a:xfrm>
            <a:off x="7429500" y="2249424"/>
            <a:ext cx="1737360" cy="475488"/>
          </a:xfrm>
          <a:prstGeom prst="rect">
            <a:avLst/>
          </a:prstGeom>
          <a:noFill/>
          <a:ln/>
        </p:spPr>
        <p:txBody>
          <a:bodyPr wrap="square" lIns="0" tIns="0" rIns="0" bIns="0" rtlCol="0" anchor="t"/>
          <a:lstStyle/>
          <a:p>
            <a:pPr indent="0" marL="0">
              <a:lnSpc>
                <a:spcPct val="95000"/>
              </a:lnSpc>
              <a:buNone/>
            </a:pPr>
            <a:r>
              <a:rPr lang="en-US" sz="1200" b="1" dirty="0">
                <a:solidFill>
                  <a:srgbClr val="0D1B2A"/>
                </a:solidFill>
                <a:latin typeface="Calibri" pitchFamily="34" charset="0"/>
                <a:ea typeface="Calibri" pitchFamily="34" charset="-122"/>
                <a:cs typeface="Calibri" pitchFamily="34" charset="-120"/>
              </a:rPr>
              <a:t>Giao diện vận hành</a:t>
            </a:r>
            <a:endParaRPr lang="en-US" sz="1200" dirty="0"/>
          </a:p>
        </p:txBody>
      </p:sp>
      <p:sp>
        <p:nvSpPr>
          <p:cNvPr id="27" name="Text 25"/>
          <p:cNvSpPr/>
          <p:nvPr/>
        </p:nvSpPr>
        <p:spPr>
          <a:xfrm>
            <a:off x="7429500" y="2743200"/>
            <a:ext cx="1737360" cy="65836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Flask, worker, SQLite,</a:t>
            </a:r>
            <a:endParaRPr lang="en-US" sz="900" dirty="0"/>
          </a:p>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lịch chạy, kênh gửi</a:t>
            </a:r>
            <a:endParaRPr lang="en-US" sz="900" dirty="0"/>
          </a:p>
        </p:txBody>
      </p:sp>
      <p:sp>
        <p:nvSpPr>
          <p:cNvPr id="28" name="Shape 26"/>
          <p:cNvSpPr/>
          <p:nvPr/>
        </p:nvSpPr>
        <p:spPr>
          <a:xfrm rot="5400000">
            <a:off x="9340596" y="2496312"/>
            <a:ext cx="137160" cy="201168"/>
          </a:xfrm>
          <a:prstGeom prst="triangle">
            <a:avLst/>
          </a:prstGeom>
          <a:solidFill>
            <a:srgbClr val="1F9E86"/>
          </a:solidFill>
          <a:ln w="12700">
            <a:solidFill>
              <a:srgbClr val="1F9E86"/>
            </a:solidFill>
            <a:prstDash val="solid"/>
          </a:ln>
        </p:spPr>
      </p:sp>
      <p:sp>
        <p:nvSpPr>
          <p:cNvPr id="29" name="Shape 27"/>
          <p:cNvSpPr/>
          <p:nvPr/>
        </p:nvSpPr>
        <p:spPr>
          <a:xfrm>
            <a:off x="9454896" y="1691640"/>
            <a:ext cx="2084832" cy="1810512"/>
          </a:xfrm>
          <a:prstGeom prst="roundRect">
            <a:avLst>
              <a:gd name="adj" fmla="val 4545"/>
            </a:avLst>
          </a:prstGeom>
          <a:solidFill>
            <a:srgbClr val="F2F6FA"/>
          </a:solidFill>
          <a:ln w="9525">
            <a:solidFill>
              <a:srgbClr val="D7E2EC"/>
            </a:solidFill>
            <a:prstDash val="solid"/>
          </a:ln>
        </p:spPr>
      </p:sp>
      <p:sp>
        <p:nvSpPr>
          <p:cNvPr id="30" name="Shape 28"/>
          <p:cNvSpPr/>
          <p:nvPr/>
        </p:nvSpPr>
        <p:spPr>
          <a:xfrm>
            <a:off x="9656064" y="1874520"/>
            <a:ext cx="658368" cy="274320"/>
          </a:xfrm>
          <a:prstGeom prst="roundRect">
            <a:avLst>
              <a:gd name="adj" fmla="val 50000"/>
            </a:avLst>
          </a:prstGeom>
          <a:solidFill>
            <a:srgbClr val="1F9E86"/>
          </a:solidFill>
          <a:ln w="12700">
            <a:solidFill>
              <a:srgbClr val="1F9E86"/>
            </a:solidFill>
            <a:prstDash val="solid"/>
          </a:ln>
        </p:spPr>
      </p:sp>
      <p:sp>
        <p:nvSpPr>
          <p:cNvPr id="31" name="Text 29"/>
          <p:cNvSpPr/>
          <p:nvPr/>
        </p:nvSpPr>
        <p:spPr>
          <a:xfrm>
            <a:off x="9656064" y="1874520"/>
            <a:ext cx="65836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GĐ5</a:t>
            </a:r>
            <a:endParaRPr lang="en-US" sz="950" dirty="0"/>
          </a:p>
        </p:txBody>
      </p:sp>
      <p:sp>
        <p:nvSpPr>
          <p:cNvPr id="32" name="Text 30"/>
          <p:cNvSpPr/>
          <p:nvPr/>
        </p:nvSpPr>
        <p:spPr>
          <a:xfrm>
            <a:off x="9656064" y="2249424"/>
            <a:ext cx="1737360" cy="475488"/>
          </a:xfrm>
          <a:prstGeom prst="rect">
            <a:avLst/>
          </a:prstGeom>
          <a:noFill/>
          <a:ln/>
        </p:spPr>
        <p:txBody>
          <a:bodyPr wrap="square" lIns="0" tIns="0" rIns="0" bIns="0" rtlCol="0" anchor="t"/>
          <a:lstStyle/>
          <a:p>
            <a:pPr indent="0" marL="0">
              <a:lnSpc>
                <a:spcPct val="95000"/>
              </a:lnSpc>
              <a:buNone/>
            </a:pPr>
            <a:r>
              <a:rPr lang="en-US" sz="1200" b="1" dirty="0">
                <a:solidFill>
                  <a:srgbClr val="0D1B2A"/>
                </a:solidFill>
                <a:latin typeface="Calibri" pitchFamily="34" charset="0"/>
                <a:ea typeface="Calibri" pitchFamily="34" charset="-122"/>
                <a:cs typeface="Calibri" pitchFamily="34" charset="-120"/>
              </a:rPr>
              <a:t>Kiểm thử và đánh giá</a:t>
            </a:r>
            <a:endParaRPr lang="en-US" sz="1200" dirty="0"/>
          </a:p>
        </p:txBody>
      </p:sp>
      <p:sp>
        <p:nvSpPr>
          <p:cNvPr id="33" name="Text 31"/>
          <p:cNvSpPr/>
          <p:nvPr/>
        </p:nvSpPr>
        <p:spPr>
          <a:xfrm>
            <a:off x="9656064" y="2743200"/>
            <a:ext cx="1737360" cy="65836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33 case × 3 cấu hình,</a:t>
            </a:r>
            <a:endParaRPr lang="en-US" sz="900" dirty="0"/>
          </a:p>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rubric và Kappa</a:t>
            </a:r>
            <a:endParaRPr lang="en-US" sz="900" dirty="0"/>
          </a:p>
        </p:txBody>
      </p:sp>
      <p:sp>
        <p:nvSpPr>
          <p:cNvPr id="34" name="Shape 32"/>
          <p:cNvSpPr/>
          <p:nvPr/>
        </p:nvSpPr>
        <p:spPr>
          <a:xfrm>
            <a:off x="548640" y="3749040"/>
            <a:ext cx="6949440" cy="2395728"/>
          </a:xfrm>
          <a:prstGeom prst="roundRect">
            <a:avLst>
              <a:gd name="adj" fmla="val 3435"/>
            </a:avLst>
          </a:prstGeom>
          <a:solidFill>
            <a:srgbClr val="DCF0EB"/>
          </a:solidFill>
          <a:ln w="9525">
            <a:solidFill>
              <a:srgbClr val="BCE0D7"/>
            </a:solidFill>
            <a:prstDash val="solid"/>
          </a:ln>
        </p:spPr>
      </p:sp>
      <p:sp>
        <p:nvSpPr>
          <p:cNvPr id="35" name="Text 33"/>
          <p:cNvSpPr/>
          <p:nvPr/>
        </p:nvSpPr>
        <p:spPr>
          <a:xfrm>
            <a:off x="777240" y="3877056"/>
            <a:ext cx="2743200" cy="256032"/>
          </a:xfrm>
          <a:prstGeom prst="rect">
            <a:avLst/>
          </a:prstGeom>
          <a:noFill/>
          <a:ln/>
        </p:spPr>
        <p:txBody>
          <a:bodyPr wrap="square" lIns="0" tIns="0" rIns="0" bIns="0" rtlCol="0" anchor="ctr"/>
          <a:lstStyle/>
          <a:p>
            <a:pPr indent="0" marL="0">
              <a:buNone/>
            </a:pPr>
            <a:r>
              <a:rPr lang="en-US" sz="900" b="1" spc="110" kern="0" dirty="0">
                <a:solidFill>
                  <a:srgbClr val="0E6B5A"/>
                </a:solidFill>
                <a:latin typeface="Calibri" pitchFamily="34" charset="0"/>
                <a:ea typeface="Calibri" pitchFamily="34" charset="-122"/>
                <a:cs typeface="Calibri" pitchFamily="34" charset="-120"/>
              </a:rPr>
              <a:t>HOÀN TẤT</a:t>
            </a:r>
            <a:endParaRPr lang="en-US" sz="900" dirty="0"/>
          </a:p>
        </p:txBody>
      </p:sp>
      <p:sp>
        <p:nvSpPr>
          <p:cNvPr id="36" name="Shape 34"/>
          <p:cNvSpPr/>
          <p:nvPr/>
        </p:nvSpPr>
        <p:spPr>
          <a:xfrm>
            <a:off x="804672" y="4315968"/>
            <a:ext cx="146304" cy="146304"/>
          </a:xfrm>
          <a:prstGeom prst="roundRect">
            <a:avLst>
              <a:gd name="adj" fmla="val 50000"/>
            </a:avLst>
          </a:prstGeom>
          <a:solidFill>
            <a:srgbClr val="1F9E86"/>
          </a:solidFill>
          <a:ln w="12700">
            <a:solidFill>
              <a:srgbClr val="1F9E86"/>
            </a:solidFill>
            <a:prstDash val="solid"/>
          </a:ln>
        </p:spPr>
      </p:sp>
      <p:sp>
        <p:nvSpPr>
          <p:cNvPr id="37" name="Text 35"/>
          <p:cNvSpPr/>
          <p:nvPr/>
        </p:nvSpPr>
        <p:spPr>
          <a:xfrm>
            <a:off x="1097280" y="4224528"/>
            <a:ext cx="6217920" cy="347472"/>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Lab Wazuh 4.9.0, agent Ubuntu và Windows, ba kịch bản sinh cảnh báo</a:t>
            </a:r>
            <a:endParaRPr lang="en-US" sz="1050" dirty="0"/>
          </a:p>
        </p:txBody>
      </p:sp>
      <p:sp>
        <p:nvSpPr>
          <p:cNvPr id="38" name="Shape 36"/>
          <p:cNvSpPr/>
          <p:nvPr/>
        </p:nvSpPr>
        <p:spPr>
          <a:xfrm>
            <a:off x="804672" y="4773168"/>
            <a:ext cx="146304" cy="146304"/>
          </a:xfrm>
          <a:prstGeom prst="roundRect">
            <a:avLst>
              <a:gd name="adj" fmla="val 50000"/>
            </a:avLst>
          </a:prstGeom>
          <a:solidFill>
            <a:srgbClr val="1F9E86"/>
          </a:solidFill>
          <a:ln w="12700">
            <a:solidFill>
              <a:srgbClr val="1F9E86"/>
            </a:solidFill>
            <a:prstDash val="solid"/>
          </a:ln>
        </p:spPr>
      </p:sp>
      <p:sp>
        <p:nvSpPr>
          <p:cNvPr id="39" name="Text 37"/>
          <p:cNvSpPr/>
          <p:nvPr/>
        </p:nvSpPr>
        <p:spPr>
          <a:xfrm>
            <a:off x="1097280" y="4681728"/>
            <a:ext cx="6217920" cy="347472"/>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Mô-đun AI cục bộ, truy xuất tăng cường, ràng buộc lược đồ và dự phòng</a:t>
            </a:r>
            <a:endParaRPr lang="en-US" sz="1050" dirty="0"/>
          </a:p>
        </p:txBody>
      </p:sp>
      <p:sp>
        <p:nvSpPr>
          <p:cNvPr id="40" name="Shape 38"/>
          <p:cNvSpPr/>
          <p:nvPr/>
        </p:nvSpPr>
        <p:spPr>
          <a:xfrm>
            <a:off x="804672" y="5230368"/>
            <a:ext cx="146304" cy="146304"/>
          </a:xfrm>
          <a:prstGeom prst="roundRect">
            <a:avLst>
              <a:gd name="adj" fmla="val 50000"/>
            </a:avLst>
          </a:prstGeom>
          <a:solidFill>
            <a:srgbClr val="1F9E86"/>
          </a:solidFill>
          <a:ln w="12700">
            <a:solidFill>
              <a:srgbClr val="1F9E86"/>
            </a:solidFill>
            <a:prstDash val="solid"/>
          </a:ln>
        </p:spPr>
      </p:sp>
      <p:sp>
        <p:nvSpPr>
          <p:cNvPr id="41" name="Text 39"/>
          <p:cNvSpPr/>
          <p:nvPr/>
        </p:nvSpPr>
        <p:spPr>
          <a:xfrm>
            <a:off x="1097280" y="5138928"/>
            <a:ext cx="6217920" cy="347472"/>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Giao diện vận hành, lưu trữ SQLite, lịch chạy và kênh gửi kết quả</a:t>
            </a:r>
            <a:endParaRPr lang="en-US" sz="1050" dirty="0"/>
          </a:p>
        </p:txBody>
      </p:sp>
      <p:sp>
        <p:nvSpPr>
          <p:cNvPr id="42" name="Shape 40"/>
          <p:cNvSpPr/>
          <p:nvPr/>
        </p:nvSpPr>
        <p:spPr>
          <a:xfrm>
            <a:off x="804672" y="5687568"/>
            <a:ext cx="146304" cy="146304"/>
          </a:xfrm>
          <a:prstGeom prst="roundRect">
            <a:avLst>
              <a:gd name="adj" fmla="val 50000"/>
            </a:avLst>
          </a:prstGeom>
          <a:solidFill>
            <a:srgbClr val="1F9E86"/>
          </a:solidFill>
          <a:ln w="12700">
            <a:solidFill>
              <a:srgbClr val="1F9E86"/>
            </a:solidFill>
            <a:prstDash val="solid"/>
          </a:ln>
        </p:spPr>
      </p:sp>
      <p:sp>
        <p:nvSpPr>
          <p:cNvPr id="43" name="Text 41"/>
          <p:cNvSpPr/>
          <p:nvPr/>
        </p:nvSpPr>
        <p:spPr>
          <a:xfrm>
            <a:off x="1097280" y="5596128"/>
            <a:ext cx="6217920" cy="347472"/>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33 case × 3 cấu hình = 99 lượt kết quả; hai người chấm độc lập, tính Kappa</a:t>
            </a:r>
            <a:endParaRPr lang="en-US" sz="1050" dirty="0"/>
          </a:p>
        </p:txBody>
      </p:sp>
      <p:sp>
        <p:nvSpPr>
          <p:cNvPr id="44" name="Shape 42"/>
          <p:cNvSpPr/>
          <p:nvPr/>
        </p:nvSpPr>
        <p:spPr>
          <a:xfrm>
            <a:off x="7680960" y="3749040"/>
            <a:ext cx="3931920" cy="2395728"/>
          </a:xfrm>
          <a:prstGeom prst="roundRect">
            <a:avLst>
              <a:gd name="adj" fmla="val 3435"/>
            </a:avLst>
          </a:prstGeom>
          <a:solidFill>
            <a:srgbClr val="FBF1DC"/>
          </a:solidFill>
          <a:ln w="9525">
            <a:solidFill>
              <a:srgbClr val="EBD9AE"/>
            </a:solidFill>
            <a:prstDash val="solid"/>
          </a:ln>
        </p:spPr>
      </p:sp>
      <p:sp>
        <p:nvSpPr>
          <p:cNvPr id="45" name="Text 43"/>
          <p:cNvSpPr/>
          <p:nvPr/>
        </p:nvSpPr>
        <p:spPr>
          <a:xfrm>
            <a:off x="7909560" y="3877056"/>
            <a:ext cx="2743200" cy="256032"/>
          </a:xfrm>
          <a:prstGeom prst="rect">
            <a:avLst/>
          </a:prstGeom>
          <a:noFill/>
          <a:ln/>
        </p:spPr>
        <p:txBody>
          <a:bodyPr wrap="square" lIns="0" tIns="0" rIns="0" bIns="0" rtlCol="0" anchor="ctr"/>
          <a:lstStyle/>
          <a:p>
            <a:pPr indent="0" marL="0">
              <a:buNone/>
            </a:pPr>
            <a:r>
              <a:rPr lang="en-US" sz="900" b="1" spc="110" kern="0" dirty="0">
                <a:solidFill>
                  <a:srgbClr val="B57A16"/>
                </a:solidFill>
                <a:latin typeface="Calibri" pitchFamily="34" charset="0"/>
                <a:ea typeface="Calibri" pitchFamily="34" charset="-122"/>
                <a:cs typeface="Calibri" pitchFamily="34" charset="-120"/>
              </a:rPr>
              <a:t>CÒN GIỚI HẠN</a:t>
            </a:r>
            <a:endParaRPr lang="en-US" sz="900" dirty="0"/>
          </a:p>
        </p:txBody>
      </p:sp>
      <p:sp>
        <p:nvSpPr>
          <p:cNvPr id="46" name="Shape 44"/>
          <p:cNvSpPr/>
          <p:nvPr/>
        </p:nvSpPr>
        <p:spPr>
          <a:xfrm>
            <a:off x="7936992" y="4379976"/>
            <a:ext cx="146304" cy="146304"/>
          </a:xfrm>
          <a:prstGeom prst="roundRect">
            <a:avLst>
              <a:gd name="adj" fmla="val 50000"/>
            </a:avLst>
          </a:prstGeom>
          <a:solidFill>
            <a:srgbClr val="B57A16"/>
          </a:solidFill>
          <a:ln w="12700">
            <a:solidFill>
              <a:srgbClr val="B57A16"/>
            </a:solidFill>
            <a:prstDash val="solid"/>
          </a:ln>
        </p:spPr>
      </p:sp>
      <p:sp>
        <p:nvSpPr>
          <p:cNvPr id="47" name="Text 45"/>
          <p:cNvSpPr/>
          <p:nvPr/>
        </p:nvSpPr>
        <p:spPr>
          <a:xfrm>
            <a:off x="8229600" y="4261104"/>
            <a:ext cx="3200400" cy="457200"/>
          </a:xfrm>
          <a:prstGeom prst="rect">
            <a:avLst/>
          </a:prstGeom>
          <a:noFill/>
          <a:ln/>
        </p:spPr>
        <p:txBody>
          <a:bodyPr wrap="square" lIns="0" tIns="0" rIns="0" bIns="0" rtlCol="0" anchor="ctr"/>
          <a:lstStyle/>
          <a:p>
            <a:pPr indent="0" marL="0">
              <a:lnSpc>
                <a:spcPct val="98000"/>
              </a:lnSpc>
              <a:buNone/>
            </a:pPr>
            <a:r>
              <a:rPr lang="en-US" sz="1050" dirty="0">
                <a:solidFill>
                  <a:srgbClr val="22303F"/>
                </a:solidFill>
                <a:latin typeface="Calibri" pitchFamily="34" charset="0"/>
                <a:ea typeface="Calibri" pitchFamily="34" charset="-122"/>
                <a:cs typeface="Calibri" pitchFamily="34" charset="-120"/>
              </a:rPr>
              <a:t>Chưa có chuyên gia SOC ngoài nhóm chấm độc lập</a:t>
            </a:r>
            <a:endParaRPr lang="en-US" sz="1050" dirty="0"/>
          </a:p>
        </p:txBody>
      </p:sp>
      <p:sp>
        <p:nvSpPr>
          <p:cNvPr id="48" name="Shape 46"/>
          <p:cNvSpPr/>
          <p:nvPr/>
        </p:nvSpPr>
        <p:spPr>
          <a:xfrm>
            <a:off x="7936992" y="4946904"/>
            <a:ext cx="146304" cy="146304"/>
          </a:xfrm>
          <a:prstGeom prst="roundRect">
            <a:avLst>
              <a:gd name="adj" fmla="val 50000"/>
            </a:avLst>
          </a:prstGeom>
          <a:solidFill>
            <a:srgbClr val="B57A16"/>
          </a:solidFill>
          <a:ln w="12700">
            <a:solidFill>
              <a:srgbClr val="B57A16"/>
            </a:solidFill>
            <a:prstDash val="solid"/>
          </a:ln>
        </p:spPr>
      </p:sp>
      <p:sp>
        <p:nvSpPr>
          <p:cNvPr id="49" name="Text 47"/>
          <p:cNvSpPr/>
          <p:nvPr/>
        </p:nvSpPr>
        <p:spPr>
          <a:xfrm>
            <a:off x="8229600" y="4828032"/>
            <a:ext cx="3200400" cy="457200"/>
          </a:xfrm>
          <a:prstGeom prst="rect">
            <a:avLst/>
          </a:prstGeom>
          <a:noFill/>
          <a:ln/>
        </p:spPr>
        <p:txBody>
          <a:bodyPr wrap="square" lIns="0" tIns="0" rIns="0" bIns="0" rtlCol="0" anchor="ctr"/>
          <a:lstStyle/>
          <a:p>
            <a:pPr indent="0" marL="0">
              <a:lnSpc>
                <a:spcPct val="98000"/>
              </a:lnSpc>
              <a:buNone/>
            </a:pPr>
            <a:r>
              <a:rPr lang="en-US" sz="1050" dirty="0">
                <a:solidFill>
                  <a:srgbClr val="22303F"/>
                </a:solidFill>
                <a:latin typeface="Calibri" pitchFamily="34" charset="0"/>
                <a:ea typeface="Calibri" pitchFamily="34" charset="-122"/>
                <a:cs typeface="Calibri" pitchFamily="34" charset="-120"/>
              </a:rPr>
              <a:t>Chưa đo thời gian phân tích tay để so sánh</a:t>
            </a:r>
            <a:endParaRPr lang="en-US" sz="1050" dirty="0"/>
          </a:p>
        </p:txBody>
      </p:sp>
      <p:sp>
        <p:nvSpPr>
          <p:cNvPr id="50" name="Shape 48"/>
          <p:cNvSpPr/>
          <p:nvPr/>
        </p:nvSpPr>
        <p:spPr>
          <a:xfrm>
            <a:off x="7936992" y="5513832"/>
            <a:ext cx="146304" cy="146304"/>
          </a:xfrm>
          <a:prstGeom prst="roundRect">
            <a:avLst>
              <a:gd name="adj" fmla="val 50000"/>
            </a:avLst>
          </a:prstGeom>
          <a:solidFill>
            <a:srgbClr val="B57A16"/>
          </a:solidFill>
          <a:ln w="12700">
            <a:solidFill>
              <a:srgbClr val="B57A16"/>
            </a:solidFill>
            <a:prstDash val="solid"/>
          </a:ln>
        </p:spPr>
      </p:sp>
      <p:sp>
        <p:nvSpPr>
          <p:cNvPr id="51" name="Text 49"/>
          <p:cNvSpPr/>
          <p:nvPr/>
        </p:nvSpPr>
        <p:spPr>
          <a:xfrm>
            <a:off x="8229600" y="5394960"/>
            <a:ext cx="3200400" cy="457200"/>
          </a:xfrm>
          <a:prstGeom prst="rect">
            <a:avLst/>
          </a:prstGeom>
          <a:noFill/>
          <a:ln/>
        </p:spPr>
        <p:txBody>
          <a:bodyPr wrap="square" lIns="0" tIns="0" rIns="0" bIns="0" rtlCol="0" anchor="ctr"/>
          <a:lstStyle/>
          <a:p>
            <a:pPr indent="0" marL="0">
              <a:lnSpc>
                <a:spcPct val="98000"/>
              </a:lnSpc>
              <a:buNone/>
            </a:pPr>
            <a:r>
              <a:rPr lang="en-US" sz="1050" dirty="0">
                <a:solidFill>
                  <a:srgbClr val="22303F"/>
                </a:solidFill>
                <a:latin typeface="Calibri" pitchFamily="34" charset="0"/>
                <a:ea typeface="Calibri" pitchFamily="34" charset="-122"/>
                <a:cs typeface="Calibri" pitchFamily="34" charset="-120"/>
              </a:rPr>
              <a:t>Kho tri thức mới có 19 tài liệu tham chiếu</a:t>
            </a:r>
            <a:endParaRPr lang="en-US" sz="1050" dirty="0"/>
          </a:p>
        </p:txBody>
      </p:sp>
      <p:sp>
        <p:nvSpPr>
          <p:cNvPr id="52" name="Text 50"/>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2422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2422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GIẢI PHÁP · KIẾN TRÚC</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Bốn lớp nối tiếp, dữ liệu thu hẹp dần và không có đường tắt tới mô hình</a:t>
            </a:r>
            <a:endParaRPr lang="en-US" sz="2600" dirty="0"/>
          </a:p>
        </p:txBody>
      </p:sp>
      <p:sp>
        <p:nvSpPr>
          <p:cNvPr id="5" name="Shape 3"/>
          <p:cNvSpPr/>
          <p:nvPr/>
        </p:nvSpPr>
        <p:spPr>
          <a:xfrm>
            <a:off x="548640" y="1664208"/>
            <a:ext cx="6766560" cy="603504"/>
          </a:xfrm>
          <a:prstGeom prst="roundRect">
            <a:avLst>
              <a:gd name="adj" fmla="val 13636"/>
            </a:avLst>
          </a:prstGeom>
          <a:solidFill>
            <a:srgbClr val="E1EDF6"/>
          </a:solidFill>
          <a:ln w="9525">
            <a:solidFill>
              <a:srgbClr val="BFD8EA"/>
            </a:solidFill>
            <a:prstDash val="solid"/>
          </a:ln>
        </p:spPr>
      </p:sp>
      <p:sp>
        <p:nvSpPr>
          <p:cNvPr id="6" name="Text 4"/>
          <p:cNvSpPr/>
          <p:nvPr/>
        </p:nvSpPr>
        <p:spPr>
          <a:xfrm>
            <a:off x="804672" y="1737360"/>
            <a:ext cx="6309360" cy="256032"/>
          </a:xfrm>
          <a:prstGeom prst="rect">
            <a:avLst/>
          </a:prstGeom>
          <a:noFill/>
          <a:ln/>
        </p:spPr>
        <p:txBody>
          <a:bodyPr wrap="square" lIns="0" tIns="0" rIns="0" bIns="0" rtlCol="0" anchor="ctr"/>
          <a:lstStyle/>
          <a:p>
            <a:pPr indent="0" marL="0">
              <a:buNone/>
            </a:pPr>
            <a:r>
              <a:rPr lang="en-US" sz="1200" b="1" dirty="0">
                <a:solidFill>
                  <a:srgbClr val="2C6E9B"/>
                </a:solidFill>
                <a:latin typeface="Calibri" pitchFamily="34" charset="0"/>
                <a:ea typeface="Calibri" pitchFamily="34" charset="-122"/>
                <a:cs typeface="Calibri" pitchFamily="34" charset="-120"/>
              </a:rPr>
              <a:t>Lớp 1 — Nguồn dữ liệu</a:t>
            </a:r>
            <a:endParaRPr lang="en-US" sz="1200" dirty="0"/>
          </a:p>
        </p:txBody>
      </p:sp>
      <p:sp>
        <p:nvSpPr>
          <p:cNvPr id="7" name="Text 5"/>
          <p:cNvSpPr/>
          <p:nvPr/>
        </p:nvSpPr>
        <p:spPr>
          <a:xfrm>
            <a:off x="804672" y="1975104"/>
            <a:ext cx="6309360" cy="237744"/>
          </a:xfrm>
          <a:prstGeom prst="rect">
            <a:avLst/>
          </a:prstGeom>
          <a:noFill/>
          <a:ln/>
        </p:spPr>
        <p:txBody>
          <a:bodyPr wrap="square" lIns="0" tIns="0" rIns="0" bIns="0" rtlCol="0" anchor="ctr"/>
          <a:lstStyle/>
          <a:p>
            <a:pPr indent="0" marL="0">
              <a:buNone/>
            </a:pPr>
            <a:r>
              <a:rPr lang="en-US" sz="850" dirty="0">
                <a:solidFill>
                  <a:srgbClr val="667E93"/>
                </a:solidFill>
                <a:latin typeface="Calibri" pitchFamily="34" charset="0"/>
                <a:ea typeface="Calibri" pitchFamily="34" charset="-122"/>
                <a:cs typeface="Calibri" pitchFamily="34" charset="-120"/>
              </a:rPr>
              <a:t>Wazuh Indexer 192.168.100.10:9200  ·  Manager API :55000 không nằm trong luồng dữ liệu</a:t>
            </a:r>
            <a:endParaRPr lang="en-US" sz="850" dirty="0"/>
          </a:p>
        </p:txBody>
      </p:sp>
      <p:sp>
        <p:nvSpPr>
          <p:cNvPr id="8" name="Shape 6"/>
          <p:cNvSpPr/>
          <p:nvPr/>
        </p:nvSpPr>
        <p:spPr>
          <a:xfrm rot="10800000">
            <a:off x="3831336" y="2304288"/>
            <a:ext cx="201168" cy="137160"/>
          </a:xfrm>
          <a:prstGeom prst="triangle">
            <a:avLst/>
          </a:prstGeom>
          <a:solidFill>
            <a:srgbClr val="1F9E86"/>
          </a:solidFill>
          <a:ln w="12700">
            <a:solidFill>
              <a:srgbClr val="1F9E86"/>
            </a:solidFill>
            <a:prstDash val="solid"/>
          </a:ln>
        </p:spPr>
      </p:sp>
      <p:sp>
        <p:nvSpPr>
          <p:cNvPr id="9" name="Shape 7"/>
          <p:cNvSpPr/>
          <p:nvPr/>
        </p:nvSpPr>
        <p:spPr>
          <a:xfrm>
            <a:off x="548640" y="2478024"/>
            <a:ext cx="6766560" cy="896112"/>
          </a:xfrm>
          <a:prstGeom prst="roundRect">
            <a:avLst>
              <a:gd name="adj" fmla="val 9184"/>
            </a:avLst>
          </a:prstGeom>
          <a:solidFill>
            <a:srgbClr val="F2F6FA"/>
          </a:solidFill>
          <a:ln w="9525">
            <a:solidFill>
              <a:srgbClr val="D7E2EC"/>
            </a:solidFill>
            <a:prstDash val="solid"/>
          </a:ln>
        </p:spPr>
      </p:sp>
      <p:sp>
        <p:nvSpPr>
          <p:cNvPr id="10" name="Text 8"/>
          <p:cNvSpPr/>
          <p:nvPr/>
        </p:nvSpPr>
        <p:spPr>
          <a:xfrm>
            <a:off x="749808" y="2532888"/>
            <a:ext cx="6400800" cy="237744"/>
          </a:xfrm>
          <a:prstGeom prst="rect">
            <a:avLst/>
          </a:prstGeom>
          <a:noFill/>
          <a:ln/>
        </p:spPr>
        <p:txBody>
          <a:bodyPr wrap="square" lIns="0" tIns="0" rIns="0" bIns="0" rtlCol="0" anchor="ctr"/>
          <a:lstStyle/>
          <a:p>
            <a:pPr indent="0" marL="0">
              <a:buNone/>
            </a:pPr>
            <a:r>
              <a:rPr lang="en-US" sz="900" b="1" spc="60" kern="0" dirty="0">
                <a:solidFill>
                  <a:srgbClr val="667E93"/>
                </a:solidFill>
                <a:latin typeface="Calibri" pitchFamily="34" charset="0"/>
                <a:ea typeface="Calibri" pitchFamily="34" charset="-122"/>
                <a:cs typeface="Calibri" pitchFamily="34" charset="-120"/>
              </a:rPr>
              <a:t>Lớp 2 — Xử lý  ·  bốn thành phần nối tiếp, mỗi thành phần một tệp mã nguồn</a:t>
            </a:r>
            <a:endParaRPr lang="en-US" sz="900" dirty="0"/>
          </a:p>
        </p:txBody>
      </p:sp>
      <p:sp>
        <p:nvSpPr>
          <p:cNvPr id="11" name="Shape 9"/>
          <p:cNvSpPr/>
          <p:nvPr/>
        </p:nvSpPr>
        <p:spPr>
          <a:xfrm>
            <a:off x="749808" y="2807208"/>
            <a:ext cx="1389888" cy="402336"/>
          </a:xfrm>
          <a:prstGeom prst="roundRect">
            <a:avLst>
              <a:gd name="adj" fmla="val 22727"/>
            </a:avLst>
          </a:prstGeom>
          <a:solidFill>
            <a:srgbClr val="FFFFFF"/>
          </a:solidFill>
          <a:ln w="9525">
            <a:solidFill>
              <a:srgbClr val="D7E2EC"/>
            </a:solidFill>
            <a:prstDash val="solid"/>
          </a:ln>
        </p:spPr>
      </p:sp>
      <p:sp>
        <p:nvSpPr>
          <p:cNvPr id="12" name="Text 10"/>
          <p:cNvSpPr/>
          <p:nvPr/>
        </p:nvSpPr>
        <p:spPr>
          <a:xfrm>
            <a:off x="749808" y="2807208"/>
            <a:ext cx="1389888" cy="402336"/>
          </a:xfrm>
          <a:prstGeom prst="rect">
            <a:avLst/>
          </a:prstGeom>
          <a:noFill/>
          <a:ln/>
        </p:spPr>
        <p:txBody>
          <a:bodyPr wrap="square" lIns="0" tIns="0" rIns="0" bIns="0" rtlCol="0" anchor="ctr"/>
          <a:lstStyle/>
          <a:p>
            <a:pPr algn="ctr" indent="0" marL="0">
              <a:buNone/>
            </a:pPr>
            <a:r>
              <a:rPr lang="en-US" sz="950" b="1" dirty="0">
                <a:solidFill>
                  <a:srgbClr val="0D1B2A"/>
                </a:solidFill>
                <a:latin typeface="Courier New" pitchFamily="34" charset="0"/>
                <a:ea typeface="Courier New" pitchFamily="34" charset="-122"/>
                <a:cs typeface="Courier New" pitchFamily="34" charset="-120"/>
              </a:rPr>
              <a:t>reader.py</a:t>
            </a:r>
            <a:endParaRPr lang="en-US" sz="950" dirty="0"/>
          </a:p>
        </p:txBody>
      </p:sp>
      <p:sp>
        <p:nvSpPr>
          <p:cNvPr id="13" name="Shape 11"/>
          <p:cNvSpPr/>
          <p:nvPr/>
        </p:nvSpPr>
        <p:spPr>
          <a:xfrm rot="5400000">
            <a:off x="2185416" y="2907792"/>
            <a:ext cx="137160" cy="201168"/>
          </a:xfrm>
          <a:prstGeom prst="triangle">
            <a:avLst/>
          </a:prstGeom>
          <a:solidFill>
            <a:srgbClr val="1F9E86"/>
          </a:solidFill>
          <a:ln w="12700">
            <a:solidFill>
              <a:srgbClr val="1F9E86"/>
            </a:solidFill>
            <a:prstDash val="solid"/>
          </a:ln>
        </p:spPr>
      </p:sp>
      <p:sp>
        <p:nvSpPr>
          <p:cNvPr id="14" name="Shape 12"/>
          <p:cNvSpPr/>
          <p:nvPr/>
        </p:nvSpPr>
        <p:spPr>
          <a:xfrm>
            <a:off x="2386584" y="2807208"/>
            <a:ext cx="1389888" cy="402336"/>
          </a:xfrm>
          <a:prstGeom prst="roundRect">
            <a:avLst>
              <a:gd name="adj" fmla="val 22727"/>
            </a:avLst>
          </a:prstGeom>
          <a:solidFill>
            <a:srgbClr val="FFFFFF"/>
          </a:solidFill>
          <a:ln w="9525">
            <a:solidFill>
              <a:srgbClr val="D7E2EC"/>
            </a:solidFill>
            <a:prstDash val="solid"/>
          </a:ln>
        </p:spPr>
      </p:sp>
      <p:sp>
        <p:nvSpPr>
          <p:cNvPr id="15" name="Text 13"/>
          <p:cNvSpPr/>
          <p:nvPr/>
        </p:nvSpPr>
        <p:spPr>
          <a:xfrm>
            <a:off x="2386584" y="2807208"/>
            <a:ext cx="1389888" cy="402336"/>
          </a:xfrm>
          <a:prstGeom prst="rect">
            <a:avLst/>
          </a:prstGeom>
          <a:noFill/>
          <a:ln/>
        </p:spPr>
        <p:txBody>
          <a:bodyPr wrap="square" lIns="0" tIns="0" rIns="0" bIns="0" rtlCol="0" anchor="ctr"/>
          <a:lstStyle/>
          <a:p>
            <a:pPr algn="ctr" indent="0" marL="0">
              <a:buNone/>
            </a:pPr>
            <a:r>
              <a:rPr lang="en-US" sz="950" b="1" dirty="0">
                <a:solidFill>
                  <a:srgbClr val="0D1B2A"/>
                </a:solidFill>
                <a:latin typeface="Courier New" pitchFamily="34" charset="0"/>
                <a:ea typeface="Courier New" pitchFamily="34" charset="-122"/>
                <a:cs typeface="Courier New" pitchFamily="34" charset="-120"/>
              </a:rPr>
              <a:t>extractor.py</a:t>
            </a:r>
            <a:endParaRPr lang="en-US" sz="950" dirty="0"/>
          </a:p>
        </p:txBody>
      </p:sp>
      <p:sp>
        <p:nvSpPr>
          <p:cNvPr id="16" name="Shape 14"/>
          <p:cNvSpPr/>
          <p:nvPr/>
        </p:nvSpPr>
        <p:spPr>
          <a:xfrm rot="5400000">
            <a:off x="3822192" y="2907792"/>
            <a:ext cx="137160" cy="201168"/>
          </a:xfrm>
          <a:prstGeom prst="triangle">
            <a:avLst/>
          </a:prstGeom>
          <a:solidFill>
            <a:srgbClr val="1F9E86"/>
          </a:solidFill>
          <a:ln w="12700">
            <a:solidFill>
              <a:srgbClr val="1F9E86"/>
            </a:solidFill>
            <a:prstDash val="solid"/>
          </a:ln>
        </p:spPr>
      </p:sp>
      <p:sp>
        <p:nvSpPr>
          <p:cNvPr id="17" name="Shape 15"/>
          <p:cNvSpPr/>
          <p:nvPr/>
        </p:nvSpPr>
        <p:spPr>
          <a:xfrm>
            <a:off x="4023360" y="2807208"/>
            <a:ext cx="1389888" cy="402336"/>
          </a:xfrm>
          <a:prstGeom prst="roundRect">
            <a:avLst>
              <a:gd name="adj" fmla="val 22727"/>
            </a:avLst>
          </a:prstGeom>
          <a:solidFill>
            <a:srgbClr val="FFFFFF"/>
          </a:solidFill>
          <a:ln w="9525">
            <a:solidFill>
              <a:srgbClr val="BCE0D7"/>
            </a:solidFill>
            <a:prstDash val="solid"/>
          </a:ln>
        </p:spPr>
      </p:sp>
      <p:sp>
        <p:nvSpPr>
          <p:cNvPr id="18" name="Text 16"/>
          <p:cNvSpPr/>
          <p:nvPr/>
        </p:nvSpPr>
        <p:spPr>
          <a:xfrm>
            <a:off x="4023360" y="2807208"/>
            <a:ext cx="1389888" cy="402336"/>
          </a:xfrm>
          <a:prstGeom prst="rect">
            <a:avLst/>
          </a:prstGeom>
          <a:noFill/>
          <a:ln/>
        </p:spPr>
        <p:txBody>
          <a:bodyPr wrap="square" lIns="0" tIns="0" rIns="0" bIns="0" rtlCol="0" anchor="ctr"/>
          <a:lstStyle/>
          <a:p>
            <a:pPr algn="ctr" indent="0" marL="0">
              <a:buNone/>
            </a:pPr>
            <a:r>
              <a:rPr lang="en-US" sz="950" b="1" dirty="0">
                <a:solidFill>
                  <a:srgbClr val="0E6B5A"/>
                </a:solidFill>
                <a:latin typeface="Courier New" pitchFamily="34" charset="0"/>
                <a:ea typeface="Courier New" pitchFamily="34" charset="-122"/>
                <a:cs typeface="Courier New" pitchFamily="34" charset="-120"/>
              </a:rPr>
              <a:t>rag.py</a:t>
            </a:r>
            <a:endParaRPr lang="en-US" sz="950" dirty="0"/>
          </a:p>
        </p:txBody>
      </p:sp>
      <p:sp>
        <p:nvSpPr>
          <p:cNvPr id="19" name="Shape 17"/>
          <p:cNvSpPr/>
          <p:nvPr/>
        </p:nvSpPr>
        <p:spPr>
          <a:xfrm rot="5400000">
            <a:off x="5458968" y="2907792"/>
            <a:ext cx="137160" cy="201168"/>
          </a:xfrm>
          <a:prstGeom prst="triangle">
            <a:avLst/>
          </a:prstGeom>
          <a:solidFill>
            <a:srgbClr val="1F9E86"/>
          </a:solidFill>
          <a:ln w="12700">
            <a:solidFill>
              <a:srgbClr val="1F9E86"/>
            </a:solidFill>
            <a:prstDash val="solid"/>
          </a:ln>
        </p:spPr>
      </p:sp>
      <p:sp>
        <p:nvSpPr>
          <p:cNvPr id="20" name="Shape 18"/>
          <p:cNvSpPr/>
          <p:nvPr/>
        </p:nvSpPr>
        <p:spPr>
          <a:xfrm>
            <a:off x="5660136" y="2807208"/>
            <a:ext cx="1389888" cy="402336"/>
          </a:xfrm>
          <a:prstGeom prst="roundRect">
            <a:avLst>
              <a:gd name="adj" fmla="val 22727"/>
            </a:avLst>
          </a:prstGeom>
          <a:solidFill>
            <a:srgbClr val="FFFFFF"/>
          </a:solidFill>
          <a:ln w="9525">
            <a:solidFill>
              <a:srgbClr val="D7E2EC"/>
            </a:solidFill>
            <a:prstDash val="solid"/>
          </a:ln>
        </p:spPr>
      </p:sp>
      <p:sp>
        <p:nvSpPr>
          <p:cNvPr id="21" name="Text 19"/>
          <p:cNvSpPr/>
          <p:nvPr/>
        </p:nvSpPr>
        <p:spPr>
          <a:xfrm>
            <a:off x="5660136" y="2807208"/>
            <a:ext cx="1389888" cy="402336"/>
          </a:xfrm>
          <a:prstGeom prst="rect">
            <a:avLst/>
          </a:prstGeom>
          <a:noFill/>
          <a:ln/>
        </p:spPr>
        <p:txBody>
          <a:bodyPr wrap="square" lIns="0" tIns="0" rIns="0" bIns="0" rtlCol="0" anchor="ctr"/>
          <a:lstStyle/>
          <a:p>
            <a:pPr algn="ctr" indent="0" marL="0">
              <a:buNone/>
            </a:pPr>
            <a:r>
              <a:rPr lang="en-US" sz="950" b="1" dirty="0">
                <a:solidFill>
                  <a:srgbClr val="0D1B2A"/>
                </a:solidFill>
                <a:latin typeface="Courier New" pitchFamily="34" charset="0"/>
                <a:ea typeface="Courier New" pitchFamily="34" charset="-122"/>
                <a:cs typeface="Courier New" pitchFamily="34" charset="-120"/>
              </a:rPr>
              <a:t>llm.py</a:t>
            </a:r>
            <a:endParaRPr lang="en-US" sz="950" dirty="0"/>
          </a:p>
        </p:txBody>
      </p:sp>
      <p:sp>
        <p:nvSpPr>
          <p:cNvPr id="22" name="Text 20"/>
          <p:cNvSpPr/>
          <p:nvPr/>
        </p:nvSpPr>
        <p:spPr>
          <a:xfrm>
            <a:off x="3913632" y="3200400"/>
            <a:ext cx="1463040" cy="182880"/>
          </a:xfrm>
          <a:prstGeom prst="rect">
            <a:avLst/>
          </a:prstGeom>
          <a:noFill/>
          <a:ln/>
        </p:spPr>
        <p:txBody>
          <a:bodyPr wrap="square" lIns="0" tIns="0" rIns="0" bIns="0" rtlCol="0" anchor="ctr"/>
          <a:lstStyle/>
          <a:p>
            <a:pPr algn="ctr" indent="0" marL="0">
              <a:buNone/>
            </a:pPr>
            <a:r>
              <a:rPr lang="en-US" sz="750" i="1" dirty="0">
                <a:solidFill>
                  <a:srgbClr val="0E6B5A"/>
                </a:solidFill>
                <a:latin typeface="Calibri" pitchFamily="34" charset="0"/>
                <a:ea typeface="Calibri" pitchFamily="34" charset="-122"/>
                <a:cs typeface="Calibri" pitchFamily="34" charset="-120"/>
              </a:rPr>
              <a:t>nhánh tùy chọn</a:t>
            </a:r>
            <a:endParaRPr lang="en-US" sz="750" dirty="0"/>
          </a:p>
        </p:txBody>
      </p:sp>
      <p:sp>
        <p:nvSpPr>
          <p:cNvPr id="23" name="Shape 21"/>
          <p:cNvSpPr/>
          <p:nvPr/>
        </p:nvSpPr>
        <p:spPr>
          <a:xfrm rot="10800000">
            <a:off x="3831336" y="3410712"/>
            <a:ext cx="201168" cy="137160"/>
          </a:xfrm>
          <a:prstGeom prst="triangle">
            <a:avLst/>
          </a:prstGeom>
          <a:solidFill>
            <a:srgbClr val="1F9E86"/>
          </a:solidFill>
          <a:ln w="12700">
            <a:solidFill>
              <a:srgbClr val="1F9E86"/>
            </a:solidFill>
            <a:prstDash val="solid"/>
          </a:ln>
        </p:spPr>
      </p:sp>
      <p:sp>
        <p:nvSpPr>
          <p:cNvPr id="24" name="Shape 22"/>
          <p:cNvSpPr/>
          <p:nvPr/>
        </p:nvSpPr>
        <p:spPr>
          <a:xfrm>
            <a:off x="548640" y="3584448"/>
            <a:ext cx="6766560" cy="603504"/>
          </a:xfrm>
          <a:prstGeom prst="roundRect">
            <a:avLst>
              <a:gd name="adj" fmla="val 13636"/>
            </a:avLst>
          </a:prstGeom>
          <a:solidFill>
            <a:srgbClr val="DCF0EB"/>
          </a:solidFill>
          <a:ln w="9525">
            <a:solidFill>
              <a:srgbClr val="BCE0D7"/>
            </a:solidFill>
            <a:prstDash val="solid"/>
          </a:ln>
        </p:spPr>
      </p:sp>
      <p:sp>
        <p:nvSpPr>
          <p:cNvPr id="25" name="Text 23"/>
          <p:cNvSpPr/>
          <p:nvPr/>
        </p:nvSpPr>
        <p:spPr>
          <a:xfrm>
            <a:off x="804672" y="3657600"/>
            <a:ext cx="6309360" cy="256032"/>
          </a:xfrm>
          <a:prstGeom prst="rect">
            <a:avLst/>
          </a:prstGeom>
          <a:noFill/>
          <a:ln/>
        </p:spPr>
        <p:txBody>
          <a:bodyPr wrap="square" lIns="0" tIns="0" rIns="0" bIns="0" rtlCol="0" anchor="ctr"/>
          <a:lstStyle/>
          <a:p>
            <a:pPr indent="0" marL="0">
              <a:buNone/>
            </a:pPr>
            <a:r>
              <a:rPr lang="en-US" sz="1200" b="1" dirty="0">
                <a:solidFill>
                  <a:srgbClr val="0E6B5A"/>
                </a:solidFill>
                <a:latin typeface="Calibri" pitchFamily="34" charset="0"/>
                <a:ea typeface="Calibri" pitchFamily="34" charset="-122"/>
                <a:cs typeface="Calibri" pitchFamily="34" charset="-120"/>
              </a:rPr>
              <a:t>Lớp 3 — Phục vụ mô hình</a:t>
            </a:r>
            <a:endParaRPr lang="en-US" sz="1200" dirty="0"/>
          </a:p>
        </p:txBody>
      </p:sp>
      <p:sp>
        <p:nvSpPr>
          <p:cNvPr id="26" name="Text 24"/>
          <p:cNvSpPr/>
          <p:nvPr/>
        </p:nvSpPr>
        <p:spPr>
          <a:xfrm>
            <a:off x="804672" y="3895344"/>
            <a:ext cx="6309360" cy="237744"/>
          </a:xfrm>
          <a:prstGeom prst="rect">
            <a:avLst/>
          </a:prstGeom>
          <a:noFill/>
          <a:ln/>
        </p:spPr>
        <p:txBody>
          <a:bodyPr wrap="square" lIns="0" tIns="0" rIns="0" bIns="0" rtlCol="0" anchor="ctr"/>
          <a:lstStyle/>
          <a:p>
            <a:pPr indent="0" marL="0">
              <a:buNone/>
            </a:pPr>
            <a:r>
              <a:rPr lang="en-US" sz="850" dirty="0">
                <a:solidFill>
                  <a:srgbClr val="667E93"/>
                </a:solidFill>
                <a:latin typeface="Calibri" pitchFamily="34" charset="0"/>
                <a:ea typeface="Calibri" pitchFamily="34" charset="-122"/>
                <a:cs typeface="Calibri" pitchFamily="34" charset="-120"/>
              </a:rPr>
              <a:t>Ollama localhost:11434  ·  nomic-embed-text  +  qwen2.5:7b  ·  chặn kết nối ngoài localhost</a:t>
            </a:r>
            <a:endParaRPr lang="en-US" sz="850" dirty="0"/>
          </a:p>
        </p:txBody>
      </p:sp>
      <p:sp>
        <p:nvSpPr>
          <p:cNvPr id="27" name="Shape 25"/>
          <p:cNvSpPr/>
          <p:nvPr/>
        </p:nvSpPr>
        <p:spPr>
          <a:xfrm rot="10800000">
            <a:off x="3831336" y="4224528"/>
            <a:ext cx="201168" cy="137160"/>
          </a:xfrm>
          <a:prstGeom prst="triangle">
            <a:avLst/>
          </a:prstGeom>
          <a:solidFill>
            <a:srgbClr val="1F9E86"/>
          </a:solidFill>
          <a:ln w="12700">
            <a:solidFill>
              <a:srgbClr val="1F9E86"/>
            </a:solidFill>
            <a:prstDash val="solid"/>
          </a:ln>
        </p:spPr>
      </p:sp>
      <p:sp>
        <p:nvSpPr>
          <p:cNvPr id="28" name="Shape 26"/>
          <p:cNvSpPr/>
          <p:nvPr/>
        </p:nvSpPr>
        <p:spPr>
          <a:xfrm>
            <a:off x="548640" y="4398264"/>
            <a:ext cx="6766560" cy="566928"/>
          </a:xfrm>
          <a:prstGeom prst="roundRect">
            <a:avLst>
              <a:gd name="adj" fmla="val 14516"/>
            </a:avLst>
          </a:prstGeom>
          <a:solidFill>
            <a:srgbClr val="FBF1DC"/>
          </a:solidFill>
          <a:ln w="9525">
            <a:solidFill>
              <a:srgbClr val="EBD9AE"/>
            </a:solidFill>
            <a:prstDash val="solid"/>
          </a:ln>
        </p:spPr>
      </p:sp>
      <p:sp>
        <p:nvSpPr>
          <p:cNvPr id="29" name="Text 27"/>
          <p:cNvSpPr/>
          <p:nvPr/>
        </p:nvSpPr>
        <p:spPr>
          <a:xfrm>
            <a:off x="804672" y="4471416"/>
            <a:ext cx="6309360" cy="256032"/>
          </a:xfrm>
          <a:prstGeom prst="rect">
            <a:avLst/>
          </a:prstGeom>
          <a:noFill/>
          <a:ln/>
        </p:spPr>
        <p:txBody>
          <a:bodyPr wrap="square" lIns="0" tIns="0" rIns="0" bIns="0" rtlCol="0" anchor="ctr"/>
          <a:lstStyle/>
          <a:p>
            <a:pPr indent="0" marL="0">
              <a:buNone/>
            </a:pPr>
            <a:r>
              <a:rPr lang="en-US" sz="1200" b="1" dirty="0">
                <a:solidFill>
                  <a:srgbClr val="B57A16"/>
                </a:solidFill>
                <a:latin typeface="Calibri" pitchFamily="34" charset="0"/>
                <a:ea typeface="Calibri" pitchFamily="34" charset="-122"/>
                <a:cs typeface="Calibri" pitchFamily="34" charset="-120"/>
              </a:rPr>
              <a:t>Xác thực lược đồ / kết quả dự phòng</a:t>
            </a:r>
            <a:endParaRPr lang="en-US" sz="1200" dirty="0"/>
          </a:p>
        </p:txBody>
      </p:sp>
      <p:sp>
        <p:nvSpPr>
          <p:cNvPr id="30" name="Text 28"/>
          <p:cNvSpPr/>
          <p:nvPr/>
        </p:nvSpPr>
        <p:spPr>
          <a:xfrm>
            <a:off x="804672" y="4709160"/>
            <a:ext cx="6309360" cy="237744"/>
          </a:xfrm>
          <a:prstGeom prst="rect">
            <a:avLst/>
          </a:prstGeom>
          <a:noFill/>
          <a:ln/>
        </p:spPr>
        <p:txBody>
          <a:bodyPr wrap="square" lIns="0" tIns="0" rIns="0" bIns="0" rtlCol="0" anchor="ctr"/>
          <a:lstStyle/>
          <a:p>
            <a:pPr indent="0" marL="0">
              <a:buNone/>
            </a:pPr>
            <a:r>
              <a:rPr lang="en-US" sz="850" dirty="0">
                <a:solidFill>
                  <a:srgbClr val="667E93"/>
                </a:solidFill>
                <a:latin typeface="Calibri" pitchFamily="34" charset="0"/>
                <a:ea typeface="Calibri" pitchFamily="34" charset="-122"/>
                <a:cs typeface="Calibri" pitchFamily="34" charset="-120"/>
              </a:rPr>
              <a:t>Chuỗi kiểm tra 10 bước; thất bại → severity = unknown kèm lý do</a:t>
            </a:r>
            <a:endParaRPr lang="en-US" sz="850" dirty="0"/>
          </a:p>
        </p:txBody>
      </p:sp>
      <p:sp>
        <p:nvSpPr>
          <p:cNvPr id="31" name="Shape 29"/>
          <p:cNvSpPr/>
          <p:nvPr/>
        </p:nvSpPr>
        <p:spPr>
          <a:xfrm rot="10800000">
            <a:off x="3831336" y="5001768"/>
            <a:ext cx="201168" cy="137160"/>
          </a:xfrm>
          <a:prstGeom prst="triangle">
            <a:avLst/>
          </a:prstGeom>
          <a:solidFill>
            <a:srgbClr val="1F9E86"/>
          </a:solidFill>
          <a:ln w="12700">
            <a:solidFill>
              <a:srgbClr val="1F9E86"/>
            </a:solidFill>
            <a:prstDash val="solid"/>
          </a:ln>
        </p:spPr>
      </p:sp>
      <p:sp>
        <p:nvSpPr>
          <p:cNvPr id="32" name="Shape 30"/>
          <p:cNvSpPr/>
          <p:nvPr/>
        </p:nvSpPr>
        <p:spPr>
          <a:xfrm>
            <a:off x="548640" y="5175504"/>
            <a:ext cx="6766560" cy="658368"/>
          </a:xfrm>
          <a:prstGeom prst="roundRect">
            <a:avLst>
              <a:gd name="adj" fmla="val 12500"/>
            </a:avLst>
          </a:prstGeom>
          <a:solidFill>
            <a:srgbClr val="0D1B2A"/>
          </a:solidFill>
          <a:ln w="9525">
            <a:solidFill>
              <a:srgbClr val="0D1B2A"/>
            </a:solidFill>
            <a:prstDash val="solid"/>
          </a:ln>
        </p:spPr>
      </p:sp>
      <p:sp>
        <p:nvSpPr>
          <p:cNvPr id="33" name="Text 31"/>
          <p:cNvSpPr/>
          <p:nvPr/>
        </p:nvSpPr>
        <p:spPr>
          <a:xfrm>
            <a:off x="804672" y="5248656"/>
            <a:ext cx="63093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Lớp 4 — Điều phối và giao diện</a:t>
            </a:r>
            <a:endParaRPr lang="en-US" sz="1200" dirty="0"/>
          </a:p>
        </p:txBody>
      </p:sp>
      <p:sp>
        <p:nvSpPr>
          <p:cNvPr id="34" name="Text 32"/>
          <p:cNvSpPr/>
          <p:nvPr/>
        </p:nvSpPr>
        <p:spPr>
          <a:xfrm>
            <a:off x="804672" y="5486400"/>
            <a:ext cx="6309360" cy="237744"/>
          </a:xfrm>
          <a:prstGeom prst="rect">
            <a:avLst/>
          </a:prstGeom>
          <a:noFill/>
          <a:ln/>
        </p:spPr>
        <p:txBody>
          <a:bodyPr wrap="square" lIns="0" tIns="0" rIns="0" bIns="0" rtlCol="0" anchor="ctr"/>
          <a:lstStyle/>
          <a:p>
            <a:pPr indent="0" marL="0">
              <a:buNone/>
            </a:pPr>
            <a:r>
              <a:rPr lang="en-US" sz="850" dirty="0">
                <a:solidFill>
                  <a:srgbClr val="8FB0C8"/>
                </a:solidFill>
                <a:latin typeface="Calibri" pitchFamily="34" charset="0"/>
                <a:ea typeface="Calibri" pitchFamily="34" charset="-122"/>
                <a:cs typeface="Calibri" pitchFamily="34" charset="-120"/>
              </a:rPr>
              <a:t>analysis_service → dashboard_worker → SQLite → dashboard  ·  review, xuất JSON, Telegram/Gmail</a:t>
            </a:r>
            <a:endParaRPr lang="en-US" sz="850" dirty="0"/>
          </a:p>
        </p:txBody>
      </p:sp>
      <p:sp>
        <p:nvSpPr>
          <p:cNvPr id="35" name="Shape 33"/>
          <p:cNvSpPr/>
          <p:nvPr/>
        </p:nvSpPr>
        <p:spPr>
          <a:xfrm>
            <a:off x="7589520" y="1664208"/>
            <a:ext cx="4023360" cy="4553712"/>
          </a:xfrm>
          <a:prstGeom prst="roundRect">
            <a:avLst>
              <a:gd name="adj" fmla="val 2045"/>
            </a:avLst>
          </a:prstGeom>
          <a:solidFill>
            <a:srgbClr val="F2F6FA"/>
          </a:solidFill>
          <a:ln w="9525">
            <a:solidFill>
              <a:srgbClr val="D7E2EC"/>
            </a:solidFill>
            <a:prstDash val="solid"/>
          </a:ln>
        </p:spPr>
      </p:sp>
      <p:sp>
        <p:nvSpPr>
          <p:cNvPr id="36" name="Text 34"/>
          <p:cNvSpPr/>
          <p:nvPr/>
        </p:nvSpPr>
        <p:spPr>
          <a:xfrm>
            <a:off x="7827264" y="1792224"/>
            <a:ext cx="3200400" cy="256032"/>
          </a:xfrm>
          <a:prstGeom prst="rect">
            <a:avLst/>
          </a:prstGeom>
          <a:noFill/>
          <a:ln/>
        </p:spPr>
        <p:txBody>
          <a:bodyPr wrap="square" lIns="0" tIns="0" rIns="0" bIns="0" rtlCol="0" anchor="ctr"/>
          <a:lstStyle/>
          <a:p>
            <a:pPr indent="0" marL="0">
              <a:buNone/>
            </a:pPr>
            <a:r>
              <a:rPr lang="en-US" sz="900" b="1" spc="110" kern="0" dirty="0">
                <a:solidFill>
                  <a:srgbClr val="667E93"/>
                </a:solidFill>
                <a:latin typeface="Calibri" pitchFamily="34" charset="0"/>
                <a:ea typeface="Calibri" pitchFamily="34" charset="-122"/>
                <a:cs typeface="Calibri" pitchFamily="34" charset="-120"/>
              </a:rPr>
              <a:t>BỐN QUYẾT ĐỊNH THIẾT KẾ</a:t>
            </a:r>
            <a:endParaRPr lang="en-US" sz="900" dirty="0"/>
          </a:p>
        </p:txBody>
      </p:sp>
      <p:sp>
        <p:nvSpPr>
          <p:cNvPr id="37" name="Shape 35"/>
          <p:cNvSpPr/>
          <p:nvPr/>
        </p:nvSpPr>
        <p:spPr>
          <a:xfrm>
            <a:off x="7827264" y="2139696"/>
            <a:ext cx="310896" cy="310896"/>
          </a:xfrm>
          <a:prstGeom prst="roundRect">
            <a:avLst>
              <a:gd name="adj" fmla="val 64706"/>
            </a:avLst>
          </a:prstGeom>
          <a:solidFill>
            <a:srgbClr val="0D1B2A"/>
          </a:solidFill>
          <a:ln w="12700">
            <a:solidFill>
              <a:srgbClr val="0D1B2A"/>
            </a:solidFill>
            <a:prstDash val="solid"/>
          </a:ln>
        </p:spPr>
      </p:sp>
      <p:sp>
        <p:nvSpPr>
          <p:cNvPr id="38" name="Text 36"/>
          <p:cNvSpPr/>
          <p:nvPr/>
        </p:nvSpPr>
        <p:spPr>
          <a:xfrm>
            <a:off x="7827264" y="21396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9" name="Text 37"/>
          <p:cNvSpPr/>
          <p:nvPr/>
        </p:nvSpPr>
        <p:spPr>
          <a:xfrm>
            <a:off x="8302752" y="2112264"/>
            <a:ext cx="310896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Alert lấy từ Indexer :9200</a:t>
            </a:r>
            <a:endParaRPr lang="en-US" sz="1100" dirty="0"/>
          </a:p>
        </p:txBody>
      </p:sp>
      <p:sp>
        <p:nvSpPr>
          <p:cNvPr id="40" name="Text 38"/>
          <p:cNvSpPr/>
          <p:nvPr/>
        </p:nvSpPr>
        <p:spPr>
          <a:xfrm>
            <a:off x="7827264" y="2432304"/>
            <a:ext cx="3584448" cy="640080"/>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Manager API :55000 chỉ phục vụ quản trị, không trả cảnh báo theo điều kiện tìm kiếm.</a:t>
            </a:r>
            <a:endParaRPr lang="en-US" sz="950" dirty="0"/>
          </a:p>
        </p:txBody>
      </p:sp>
      <p:sp>
        <p:nvSpPr>
          <p:cNvPr id="41" name="Shape 39"/>
          <p:cNvSpPr/>
          <p:nvPr/>
        </p:nvSpPr>
        <p:spPr>
          <a:xfrm>
            <a:off x="7827264" y="3182112"/>
            <a:ext cx="310896" cy="310896"/>
          </a:xfrm>
          <a:prstGeom prst="roundRect">
            <a:avLst>
              <a:gd name="adj" fmla="val 64706"/>
            </a:avLst>
          </a:prstGeom>
          <a:solidFill>
            <a:srgbClr val="0D1B2A"/>
          </a:solidFill>
          <a:ln w="12700">
            <a:solidFill>
              <a:srgbClr val="0D1B2A"/>
            </a:solidFill>
            <a:prstDash val="solid"/>
          </a:ln>
        </p:spPr>
      </p:sp>
      <p:sp>
        <p:nvSpPr>
          <p:cNvPr id="42" name="Text 40"/>
          <p:cNvSpPr/>
          <p:nvPr/>
        </p:nvSpPr>
        <p:spPr>
          <a:xfrm>
            <a:off x="7827264" y="3182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1"/>
          <p:cNvSpPr/>
          <p:nvPr/>
        </p:nvSpPr>
        <p:spPr>
          <a:xfrm>
            <a:off x="8302752" y="3154680"/>
            <a:ext cx="310896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Ranh giới tin cậy tường minh</a:t>
            </a:r>
            <a:endParaRPr lang="en-US" sz="1100" dirty="0"/>
          </a:p>
        </p:txBody>
      </p:sp>
      <p:sp>
        <p:nvSpPr>
          <p:cNvPr id="44" name="Text 42"/>
          <p:cNvSpPr/>
          <p:nvPr/>
        </p:nvSpPr>
        <p:spPr>
          <a:xfrm>
            <a:off x="7827264" y="3474720"/>
            <a:ext cx="3584448" cy="640080"/>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Cảnh báo, log gốc và ngữ cảnh truy xuất đều thuộc vùng không đáng tin cậy.</a:t>
            </a:r>
            <a:endParaRPr lang="en-US" sz="950" dirty="0"/>
          </a:p>
        </p:txBody>
      </p:sp>
      <p:sp>
        <p:nvSpPr>
          <p:cNvPr id="45" name="Shape 43"/>
          <p:cNvSpPr/>
          <p:nvPr/>
        </p:nvSpPr>
        <p:spPr>
          <a:xfrm>
            <a:off x="7827264" y="4224528"/>
            <a:ext cx="310896" cy="310896"/>
          </a:xfrm>
          <a:prstGeom prst="roundRect">
            <a:avLst>
              <a:gd name="adj" fmla="val 64706"/>
            </a:avLst>
          </a:prstGeom>
          <a:solidFill>
            <a:srgbClr val="0D1B2A"/>
          </a:solidFill>
          <a:ln w="12700">
            <a:solidFill>
              <a:srgbClr val="0D1B2A"/>
            </a:solidFill>
            <a:prstDash val="solid"/>
          </a:ln>
        </p:spPr>
      </p:sp>
      <p:sp>
        <p:nvSpPr>
          <p:cNvPr id="46" name="Text 44"/>
          <p:cNvSpPr/>
          <p:nvPr/>
        </p:nvSpPr>
        <p:spPr>
          <a:xfrm>
            <a:off x="7827264" y="42245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7" name="Text 45"/>
          <p:cNvSpPr/>
          <p:nvPr/>
        </p:nvSpPr>
        <p:spPr>
          <a:xfrm>
            <a:off x="8302752" y="4197096"/>
            <a:ext cx="310896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Toàn bộ xử lý trong nội bộ</a:t>
            </a:r>
            <a:endParaRPr lang="en-US" sz="1100" dirty="0"/>
          </a:p>
        </p:txBody>
      </p:sp>
      <p:sp>
        <p:nvSpPr>
          <p:cNvPr id="48" name="Text 46"/>
          <p:cNvSpPr/>
          <p:nvPr/>
        </p:nvSpPr>
        <p:spPr>
          <a:xfrm>
            <a:off x="7827264" y="4517136"/>
            <a:ext cx="3584448" cy="640080"/>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Hàm kết nối Ollama từ chối hoạt động nếu địa chỉ không phải localhost.</a:t>
            </a:r>
            <a:endParaRPr lang="en-US" sz="950" dirty="0"/>
          </a:p>
        </p:txBody>
      </p:sp>
      <p:sp>
        <p:nvSpPr>
          <p:cNvPr id="49" name="Shape 47"/>
          <p:cNvSpPr/>
          <p:nvPr/>
        </p:nvSpPr>
        <p:spPr>
          <a:xfrm>
            <a:off x="7827264" y="5266944"/>
            <a:ext cx="310896" cy="310896"/>
          </a:xfrm>
          <a:prstGeom prst="roundRect">
            <a:avLst>
              <a:gd name="adj" fmla="val 64706"/>
            </a:avLst>
          </a:prstGeom>
          <a:solidFill>
            <a:srgbClr val="0D1B2A"/>
          </a:solidFill>
          <a:ln w="12700">
            <a:solidFill>
              <a:srgbClr val="0D1B2A"/>
            </a:solidFill>
            <a:prstDash val="solid"/>
          </a:ln>
        </p:spPr>
      </p:sp>
      <p:sp>
        <p:nvSpPr>
          <p:cNvPr id="50" name="Text 48"/>
          <p:cNvSpPr/>
          <p:nvPr/>
        </p:nvSpPr>
        <p:spPr>
          <a:xfrm>
            <a:off x="7827264" y="5266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p:nvPr/>
        </p:nvSpPr>
        <p:spPr>
          <a:xfrm>
            <a:off x="8302752" y="5239512"/>
            <a:ext cx="310896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Mô-đun chỉ hỗ trợ diễn giải</a:t>
            </a:r>
            <a:endParaRPr lang="en-US" sz="1100" dirty="0"/>
          </a:p>
        </p:txBody>
      </p:sp>
      <p:sp>
        <p:nvSpPr>
          <p:cNvPr id="52" name="Text 50"/>
          <p:cNvSpPr/>
          <p:nvPr/>
        </p:nvSpPr>
        <p:spPr>
          <a:xfrm>
            <a:off x="7827264" y="5559552"/>
            <a:ext cx="3584448" cy="640080"/>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Không tự đóng cảnh báo, không leo thang, không thực hiện hành động phản ứng.</a:t>
            </a:r>
            <a:endParaRPr lang="en-US" sz="950" dirty="0"/>
          </a:p>
        </p:txBody>
      </p:sp>
      <p:sp>
        <p:nvSpPr>
          <p:cNvPr id="53" name="Text 51"/>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96138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96138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GIẢI PHÁP · LUỒNG XỬ LÝ</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Mỗi cảnh báo đi qua sáu bước, kết thúc bằng bước rà soát của người</a:t>
            </a:r>
            <a:endParaRPr lang="en-US" sz="2600" dirty="0"/>
          </a:p>
        </p:txBody>
      </p:sp>
      <p:sp>
        <p:nvSpPr>
          <p:cNvPr id="5" name="Shape 3"/>
          <p:cNvSpPr/>
          <p:nvPr/>
        </p:nvSpPr>
        <p:spPr>
          <a:xfrm>
            <a:off x="548640" y="1719072"/>
            <a:ext cx="3520440" cy="1572768"/>
          </a:xfrm>
          <a:prstGeom prst="roundRect">
            <a:avLst>
              <a:gd name="adj" fmla="val 5233"/>
            </a:avLst>
          </a:prstGeom>
          <a:solidFill>
            <a:srgbClr val="F2F6FA"/>
          </a:solidFill>
          <a:ln w="9525">
            <a:solidFill>
              <a:srgbClr val="D7E2EC"/>
            </a:solidFill>
            <a:prstDash val="solid"/>
          </a:ln>
        </p:spPr>
      </p:sp>
      <p:sp>
        <p:nvSpPr>
          <p:cNvPr id="6" name="Shape 4"/>
          <p:cNvSpPr/>
          <p:nvPr/>
        </p:nvSpPr>
        <p:spPr>
          <a:xfrm>
            <a:off x="786384" y="1901952"/>
            <a:ext cx="310896" cy="310896"/>
          </a:xfrm>
          <a:prstGeom prst="roundRect">
            <a:avLst>
              <a:gd name="adj" fmla="val 64706"/>
            </a:avLst>
          </a:prstGeom>
          <a:solidFill>
            <a:srgbClr val="1F9E86"/>
          </a:solidFill>
          <a:ln w="12700">
            <a:solidFill>
              <a:srgbClr val="1F9E86"/>
            </a:solidFill>
            <a:prstDash val="solid"/>
          </a:ln>
        </p:spPr>
      </p:sp>
      <p:sp>
        <p:nvSpPr>
          <p:cNvPr id="7" name="Text 5"/>
          <p:cNvSpPr/>
          <p:nvPr/>
        </p:nvSpPr>
        <p:spPr>
          <a:xfrm>
            <a:off x="786384"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786384" y="2304288"/>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Tiếp nhận cảnh báo</a:t>
            </a:r>
            <a:endParaRPr lang="en-US" sz="1250" dirty="0"/>
          </a:p>
        </p:txBody>
      </p:sp>
      <p:sp>
        <p:nvSpPr>
          <p:cNvPr id="9" name="Text 7"/>
          <p:cNvSpPr/>
          <p:nvPr/>
        </p:nvSpPr>
        <p:spPr>
          <a:xfrm>
            <a:off x="786384" y="2651760"/>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Indexer API :9200, theo lô hoặc gần thời gian thực; chống trùng theo mã cảnh báo</a:t>
            </a:r>
            <a:endParaRPr lang="en-US" sz="950" dirty="0"/>
          </a:p>
        </p:txBody>
      </p:sp>
      <p:sp>
        <p:nvSpPr>
          <p:cNvPr id="10" name="Shape 8"/>
          <p:cNvSpPr/>
          <p:nvPr/>
        </p:nvSpPr>
        <p:spPr>
          <a:xfrm rot="5400000">
            <a:off x="4114800" y="2368296"/>
            <a:ext cx="137160" cy="201168"/>
          </a:xfrm>
          <a:prstGeom prst="triangle">
            <a:avLst/>
          </a:prstGeom>
          <a:solidFill>
            <a:srgbClr val="1F9E86"/>
          </a:solidFill>
          <a:ln w="12700">
            <a:solidFill>
              <a:srgbClr val="1F9E86"/>
            </a:solidFill>
            <a:prstDash val="solid"/>
          </a:ln>
        </p:spPr>
      </p:sp>
      <p:sp>
        <p:nvSpPr>
          <p:cNvPr id="11" name="Shape 9"/>
          <p:cNvSpPr/>
          <p:nvPr/>
        </p:nvSpPr>
        <p:spPr>
          <a:xfrm>
            <a:off x="4297680" y="1719072"/>
            <a:ext cx="3520440" cy="1572768"/>
          </a:xfrm>
          <a:prstGeom prst="roundRect">
            <a:avLst>
              <a:gd name="adj" fmla="val 5233"/>
            </a:avLst>
          </a:prstGeom>
          <a:solidFill>
            <a:srgbClr val="F2F6FA"/>
          </a:solidFill>
          <a:ln w="9525">
            <a:solidFill>
              <a:srgbClr val="D7E2EC"/>
            </a:solidFill>
            <a:prstDash val="solid"/>
          </a:ln>
        </p:spPr>
      </p:sp>
      <p:sp>
        <p:nvSpPr>
          <p:cNvPr id="12" name="Shape 10"/>
          <p:cNvSpPr/>
          <p:nvPr/>
        </p:nvSpPr>
        <p:spPr>
          <a:xfrm>
            <a:off x="4535424" y="1901952"/>
            <a:ext cx="310896" cy="310896"/>
          </a:xfrm>
          <a:prstGeom prst="roundRect">
            <a:avLst>
              <a:gd name="adj" fmla="val 64706"/>
            </a:avLst>
          </a:prstGeom>
          <a:solidFill>
            <a:srgbClr val="1F9E86"/>
          </a:solidFill>
          <a:ln w="12700">
            <a:solidFill>
              <a:srgbClr val="1F9E86"/>
            </a:solidFill>
            <a:prstDash val="solid"/>
          </a:ln>
        </p:spPr>
      </p:sp>
      <p:sp>
        <p:nvSpPr>
          <p:cNvPr id="13" name="Text 11"/>
          <p:cNvSpPr/>
          <p:nvPr/>
        </p:nvSpPr>
        <p:spPr>
          <a:xfrm>
            <a:off x="4535424"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535424" y="2304288"/>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Tiền xử lý và trích xuất</a:t>
            </a:r>
            <a:endParaRPr lang="en-US" sz="1250" dirty="0"/>
          </a:p>
        </p:txBody>
      </p:sp>
      <p:sp>
        <p:nvSpPr>
          <p:cNvPr id="15" name="Text 13"/>
          <p:cNvSpPr/>
          <p:nvPr/>
        </p:nvSpPr>
        <p:spPr>
          <a:xfrm>
            <a:off x="4535424" y="2651760"/>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Bỏ trường vận hành, giữ 10 trường cần thiết, làm phẳng thành văn bản ngắn</a:t>
            </a:r>
            <a:endParaRPr lang="en-US" sz="950" dirty="0"/>
          </a:p>
        </p:txBody>
      </p:sp>
      <p:sp>
        <p:nvSpPr>
          <p:cNvPr id="16" name="Shape 14"/>
          <p:cNvSpPr/>
          <p:nvPr/>
        </p:nvSpPr>
        <p:spPr>
          <a:xfrm rot="5400000">
            <a:off x="7863840" y="2368296"/>
            <a:ext cx="137160" cy="201168"/>
          </a:xfrm>
          <a:prstGeom prst="triangle">
            <a:avLst/>
          </a:prstGeom>
          <a:solidFill>
            <a:srgbClr val="1F9E86"/>
          </a:solidFill>
          <a:ln w="12700">
            <a:solidFill>
              <a:srgbClr val="1F9E86"/>
            </a:solidFill>
            <a:prstDash val="solid"/>
          </a:ln>
        </p:spPr>
      </p:sp>
      <p:sp>
        <p:nvSpPr>
          <p:cNvPr id="17" name="Shape 15"/>
          <p:cNvSpPr/>
          <p:nvPr/>
        </p:nvSpPr>
        <p:spPr>
          <a:xfrm>
            <a:off x="8046720" y="1719072"/>
            <a:ext cx="3520440" cy="1572768"/>
          </a:xfrm>
          <a:prstGeom prst="roundRect">
            <a:avLst>
              <a:gd name="adj" fmla="val 5233"/>
            </a:avLst>
          </a:prstGeom>
          <a:solidFill>
            <a:srgbClr val="F2F6FA"/>
          </a:solidFill>
          <a:ln w="9525">
            <a:solidFill>
              <a:srgbClr val="D7E2EC"/>
            </a:solidFill>
            <a:prstDash val="solid"/>
          </a:ln>
        </p:spPr>
      </p:sp>
      <p:sp>
        <p:nvSpPr>
          <p:cNvPr id="18" name="Shape 16"/>
          <p:cNvSpPr/>
          <p:nvPr/>
        </p:nvSpPr>
        <p:spPr>
          <a:xfrm>
            <a:off x="8284464" y="1901952"/>
            <a:ext cx="310896" cy="310896"/>
          </a:xfrm>
          <a:prstGeom prst="roundRect">
            <a:avLst>
              <a:gd name="adj" fmla="val 64706"/>
            </a:avLst>
          </a:prstGeom>
          <a:solidFill>
            <a:srgbClr val="1F9E86"/>
          </a:solidFill>
          <a:ln w="12700">
            <a:solidFill>
              <a:srgbClr val="1F9E86"/>
            </a:solidFill>
            <a:prstDash val="solid"/>
          </a:ln>
        </p:spPr>
      </p:sp>
      <p:sp>
        <p:nvSpPr>
          <p:cNvPr id="19" name="Text 17"/>
          <p:cNvSpPr/>
          <p:nvPr/>
        </p:nvSpPr>
        <p:spPr>
          <a:xfrm>
            <a:off x="8284464"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284464" y="2304288"/>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Dựng prompt</a:t>
            </a:r>
            <a:endParaRPr lang="en-US" sz="1250" dirty="0"/>
          </a:p>
        </p:txBody>
      </p:sp>
      <p:sp>
        <p:nvSpPr>
          <p:cNvPr id="21" name="Text 19"/>
          <p:cNvSpPr/>
          <p:nvPr/>
        </p:nvSpPr>
        <p:spPr>
          <a:xfrm>
            <a:off x="8284464" y="2651760"/>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System: soc-contract-v1  ·  User: dữ liệu bọc trong ranh giới &lt;UNTRUSTED&gt;</a:t>
            </a:r>
            <a:endParaRPr lang="en-US" sz="950" dirty="0"/>
          </a:p>
        </p:txBody>
      </p:sp>
      <p:sp>
        <p:nvSpPr>
          <p:cNvPr id="22" name="Shape 20"/>
          <p:cNvSpPr/>
          <p:nvPr/>
        </p:nvSpPr>
        <p:spPr>
          <a:xfrm>
            <a:off x="548640" y="3511296"/>
            <a:ext cx="3520440" cy="1572768"/>
          </a:xfrm>
          <a:prstGeom prst="roundRect">
            <a:avLst>
              <a:gd name="adj" fmla="val 5233"/>
            </a:avLst>
          </a:prstGeom>
          <a:solidFill>
            <a:srgbClr val="F2F6FA"/>
          </a:solidFill>
          <a:ln w="9525">
            <a:solidFill>
              <a:srgbClr val="D7E2EC"/>
            </a:solidFill>
            <a:prstDash val="solid"/>
          </a:ln>
        </p:spPr>
      </p:sp>
      <p:sp>
        <p:nvSpPr>
          <p:cNvPr id="23" name="Shape 21"/>
          <p:cNvSpPr/>
          <p:nvPr/>
        </p:nvSpPr>
        <p:spPr>
          <a:xfrm>
            <a:off x="786384" y="3694176"/>
            <a:ext cx="310896" cy="310896"/>
          </a:xfrm>
          <a:prstGeom prst="roundRect">
            <a:avLst>
              <a:gd name="adj" fmla="val 64706"/>
            </a:avLst>
          </a:prstGeom>
          <a:solidFill>
            <a:srgbClr val="1F9E86"/>
          </a:solidFill>
          <a:ln w="12700">
            <a:solidFill>
              <a:srgbClr val="1F9E86"/>
            </a:solidFill>
            <a:prstDash val="solid"/>
          </a:ln>
        </p:spPr>
      </p:sp>
      <p:sp>
        <p:nvSpPr>
          <p:cNvPr id="24" name="Text 22"/>
          <p:cNvSpPr/>
          <p:nvPr/>
        </p:nvSpPr>
        <p:spPr>
          <a:xfrm>
            <a:off x="786384"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786384" y="4096512"/>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Gọi mô hình</a:t>
            </a:r>
            <a:endParaRPr lang="en-US" sz="1250" dirty="0"/>
          </a:p>
        </p:txBody>
      </p:sp>
      <p:sp>
        <p:nvSpPr>
          <p:cNvPr id="26" name="Text 24"/>
          <p:cNvSpPr/>
          <p:nvPr/>
        </p:nvSpPr>
        <p:spPr>
          <a:xfrm>
            <a:off x="786384" y="4443984"/>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Ollama :11434, format = JSON Schema, nhiệt độ 0, seed cố định</a:t>
            </a:r>
            <a:endParaRPr lang="en-US" sz="950" dirty="0"/>
          </a:p>
        </p:txBody>
      </p:sp>
      <p:sp>
        <p:nvSpPr>
          <p:cNvPr id="27" name="Shape 25"/>
          <p:cNvSpPr/>
          <p:nvPr/>
        </p:nvSpPr>
        <p:spPr>
          <a:xfrm rot="5400000">
            <a:off x="4114800" y="4160520"/>
            <a:ext cx="137160" cy="201168"/>
          </a:xfrm>
          <a:prstGeom prst="triangle">
            <a:avLst/>
          </a:prstGeom>
          <a:solidFill>
            <a:srgbClr val="1F9E86"/>
          </a:solidFill>
          <a:ln w="12700">
            <a:solidFill>
              <a:srgbClr val="1F9E86"/>
            </a:solidFill>
            <a:prstDash val="solid"/>
          </a:ln>
        </p:spPr>
      </p:sp>
      <p:sp>
        <p:nvSpPr>
          <p:cNvPr id="28" name="Shape 26"/>
          <p:cNvSpPr/>
          <p:nvPr/>
        </p:nvSpPr>
        <p:spPr>
          <a:xfrm>
            <a:off x="4297680" y="3511296"/>
            <a:ext cx="3520440" cy="1572768"/>
          </a:xfrm>
          <a:prstGeom prst="roundRect">
            <a:avLst>
              <a:gd name="adj" fmla="val 5233"/>
            </a:avLst>
          </a:prstGeom>
          <a:solidFill>
            <a:srgbClr val="FBF1DC"/>
          </a:solidFill>
          <a:ln w="9525">
            <a:solidFill>
              <a:srgbClr val="EBD9AE"/>
            </a:solidFill>
            <a:prstDash val="solid"/>
          </a:ln>
        </p:spPr>
      </p:sp>
      <p:sp>
        <p:nvSpPr>
          <p:cNvPr id="29" name="Shape 27"/>
          <p:cNvSpPr/>
          <p:nvPr/>
        </p:nvSpPr>
        <p:spPr>
          <a:xfrm>
            <a:off x="4535424" y="3694176"/>
            <a:ext cx="310896" cy="310896"/>
          </a:xfrm>
          <a:prstGeom prst="roundRect">
            <a:avLst>
              <a:gd name="adj" fmla="val 64706"/>
            </a:avLst>
          </a:prstGeom>
          <a:solidFill>
            <a:srgbClr val="B57A16"/>
          </a:solidFill>
          <a:ln w="12700">
            <a:solidFill>
              <a:srgbClr val="B57A16"/>
            </a:solidFill>
            <a:prstDash val="solid"/>
          </a:ln>
        </p:spPr>
      </p:sp>
      <p:sp>
        <p:nvSpPr>
          <p:cNvPr id="30" name="Text 28"/>
          <p:cNvSpPr/>
          <p:nvPr/>
        </p:nvSpPr>
        <p:spPr>
          <a:xfrm>
            <a:off x="4535424"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4535424" y="4096512"/>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Xác thực lược đồ</a:t>
            </a:r>
            <a:endParaRPr lang="en-US" sz="1250" dirty="0"/>
          </a:p>
        </p:txBody>
      </p:sp>
      <p:sp>
        <p:nvSpPr>
          <p:cNvPr id="32" name="Text 30"/>
          <p:cNvSpPr/>
          <p:nvPr/>
        </p:nvSpPr>
        <p:spPr>
          <a:xfrm>
            <a:off x="4535424" y="4443984"/>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Chuỗi kiểm tra 10 bước: JSON → khóa → kiểu → enum; thất bại thì dùng kết quả dự phòng</a:t>
            </a:r>
            <a:endParaRPr lang="en-US" sz="950" dirty="0"/>
          </a:p>
        </p:txBody>
      </p:sp>
      <p:sp>
        <p:nvSpPr>
          <p:cNvPr id="33" name="Shape 31"/>
          <p:cNvSpPr/>
          <p:nvPr/>
        </p:nvSpPr>
        <p:spPr>
          <a:xfrm rot="5400000">
            <a:off x="7863840" y="4160520"/>
            <a:ext cx="137160" cy="201168"/>
          </a:xfrm>
          <a:prstGeom prst="triangle">
            <a:avLst/>
          </a:prstGeom>
          <a:solidFill>
            <a:srgbClr val="1F9E86"/>
          </a:solidFill>
          <a:ln w="12700">
            <a:solidFill>
              <a:srgbClr val="1F9E86"/>
            </a:solidFill>
            <a:prstDash val="solid"/>
          </a:ln>
        </p:spPr>
      </p:sp>
      <p:sp>
        <p:nvSpPr>
          <p:cNvPr id="34" name="Shape 32"/>
          <p:cNvSpPr/>
          <p:nvPr/>
        </p:nvSpPr>
        <p:spPr>
          <a:xfrm>
            <a:off x="8046720" y="3511296"/>
            <a:ext cx="3520440" cy="1572768"/>
          </a:xfrm>
          <a:prstGeom prst="roundRect">
            <a:avLst>
              <a:gd name="adj" fmla="val 5233"/>
            </a:avLst>
          </a:prstGeom>
          <a:solidFill>
            <a:srgbClr val="F2F6FA"/>
          </a:solidFill>
          <a:ln w="9525">
            <a:solidFill>
              <a:srgbClr val="D7E2EC"/>
            </a:solidFill>
            <a:prstDash val="solid"/>
          </a:ln>
        </p:spPr>
      </p:sp>
      <p:sp>
        <p:nvSpPr>
          <p:cNvPr id="35" name="Shape 33"/>
          <p:cNvSpPr/>
          <p:nvPr/>
        </p:nvSpPr>
        <p:spPr>
          <a:xfrm>
            <a:off x="8284464" y="3694176"/>
            <a:ext cx="310896" cy="310896"/>
          </a:xfrm>
          <a:prstGeom prst="roundRect">
            <a:avLst>
              <a:gd name="adj" fmla="val 64706"/>
            </a:avLst>
          </a:prstGeom>
          <a:solidFill>
            <a:srgbClr val="1F9E86"/>
          </a:solidFill>
          <a:ln w="12700">
            <a:solidFill>
              <a:srgbClr val="1F9E86"/>
            </a:solidFill>
            <a:prstDash val="solid"/>
          </a:ln>
        </p:spPr>
      </p:sp>
      <p:sp>
        <p:nvSpPr>
          <p:cNvPr id="36" name="Text 34"/>
          <p:cNvSpPr/>
          <p:nvPr/>
        </p:nvSpPr>
        <p:spPr>
          <a:xfrm>
            <a:off x="8284464"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8284464" y="4096512"/>
            <a:ext cx="3044952" cy="329184"/>
          </a:xfrm>
          <a:prstGeom prst="rect">
            <a:avLst/>
          </a:prstGeom>
          <a:noFill/>
          <a:ln/>
        </p:spPr>
        <p:txBody>
          <a:bodyPr wrap="square" lIns="0" tIns="0" rIns="0" bIns="0" rtlCol="0" anchor="t"/>
          <a:lstStyle/>
          <a:p>
            <a:pPr indent="0" marL="0">
              <a:buNone/>
            </a:pPr>
            <a:r>
              <a:rPr lang="en-US" sz="1250" b="1" dirty="0">
                <a:solidFill>
                  <a:srgbClr val="0D1B2A"/>
                </a:solidFill>
                <a:latin typeface="Calibri" pitchFamily="34" charset="0"/>
                <a:ea typeface="Calibri" pitchFamily="34" charset="-122"/>
                <a:cs typeface="Calibri" pitchFamily="34" charset="-120"/>
              </a:rPr>
              <a:t>Ghi vết và lưu</a:t>
            </a:r>
            <a:endParaRPr lang="en-US" sz="1250" dirty="0"/>
          </a:p>
        </p:txBody>
      </p:sp>
      <p:sp>
        <p:nvSpPr>
          <p:cNvPr id="38" name="Text 36"/>
          <p:cNvSpPr/>
          <p:nvPr/>
        </p:nvSpPr>
        <p:spPr>
          <a:xfrm>
            <a:off x="8284464" y="4443984"/>
            <a:ext cx="3044952"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5 giá trị băm SHA-256, phiên bản chỉ dẫn, độ trễ và số token vào SQLite</a:t>
            </a:r>
            <a:endParaRPr lang="en-US" sz="950" dirty="0"/>
          </a:p>
        </p:txBody>
      </p:sp>
      <p:sp>
        <p:nvSpPr>
          <p:cNvPr id="39" name="Shape 37"/>
          <p:cNvSpPr/>
          <p:nvPr/>
        </p:nvSpPr>
        <p:spPr>
          <a:xfrm rot="10800000">
            <a:off x="10552176" y="3310128"/>
            <a:ext cx="201168" cy="137160"/>
          </a:xfrm>
          <a:prstGeom prst="triangle">
            <a:avLst/>
          </a:prstGeom>
          <a:solidFill>
            <a:srgbClr val="1F9E86"/>
          </a:solidFill>
          <a:ln w="12700">
            <a:solidFill>
              <a:srgbClr val="1F9E86"/>
            </a:solidFill>
            <a:prstDash val="solid"/>
          </a:ln>
        </p:spPr>
      </p:sp>
      <p:sp>
        <p:nvSpPr>
          <p:cNvPr id="40" name="Shape 38"/>
          <p:cNvSpPr/>
          <p:nvPr/>
        </p:nvSpPr>
        <p:spPr>
          <a:xfrm>
            <a:off x="548640" y="5230368"/>
            <a:ext cx="5394960" cy="566928"/>
          </a:xfrm>
          <a:prstGeom prst="roundRect">
            <a:avLst>
              <a:gd name="adj" fmla="val 14516"/>
            </a:avLst>
          </a:prstGeom>
          <a:solidFill>
            <a:srgbClr val="DCF0EB"/>
          </a:solidFill>
          <a:ln w="9525">
            <a:solidFill>
              <a:srgbClr val="BCE0D7"/>
            </a:solidFill>
            <a:prstDash val="solid"/>
          </a:ln>
        </p:spPr>
      </p:sp>
      <p:sp>
        <p:nvSpPr>
          <p:cNvPr id="41" name="Text 39"/>
          <p:cNvSpPr/>
          <p:nvPr/>
        </p:nvSpPr>
        <p:spPr>
          <a:xfrm>
            <a:off x="768096" y="5230368"/>
            <a:ext cx="4983480" cy="566928"/>
          </a:xfrm>
          <a:prstGeom prst="rect">
            <a:avLst/>
          </a:prstGeom>
          <a:noFill/>
          <a:ln/>
        </p:spPr>
        <p:txBody>
          <a:bodyPr wrap="square" lIns="0" tIns="0" rIns="0" bIns="0" rtlCol="0" anchor="ctr"/>
          <a:lstStyle/>
          <a:p>
            <a:pPr indent="0" marL="0">
              <a:lnSpc>
                <a:spcPct val="100000"/>
              </a:lnSpc>
              <a:buNone/>
            </a:pPr>
            <a:r>
              <a:rPr lang="en-US" sz="1000" b="1" dirty="0">
                <a:solidFill>
                  <a:srgbClr val="0E6B5A"/>
                </a:solidFill>
                <a:latin typeface="Calibri" pitchFamily="34" charset="0"/>
                <a:ea typeface="Calibri" pitchFamily="34" charset="-122"/>
                <a:cs typeface="Calibri" pitchFamily="34" charset="-120"/>
              </a:rPr>
              <a:t>Nhánh tùy chọn — truy xuất tri thức:  </a:t>
            </a:r>
            <a:pPr indent="0" marL="0">
              <a:lnSpc>
                <a:spcPct val="100000"/>
              </a:lnSpc>
              <a:buNone/>
            </a:pPr>
            <a:r>
              <a:rPr lang="en-US" sz="1000" dirty="0">
                <a:solidFill>
                  <a:srgbClr val="22303F"/>
                </a:solidFill>
                <a:latin typeface="Calibri" pitchFamily="34" charset="0"/>
                <a:ea typeface="Calibri" pitchFamily="34" charset="-122"/>
                <a:cs typeface="Calibri" pitchFamily="34" charset="-120"/>
              </a:rPr>
              <a:t>ChromaDB top-3, ngưỡng khoảng cách ≤ 1,0. Lỗi thì bỏ qua, không chặn luồng chính.</a:t>
            </a:r>
            <a:endParaRPr lang="en-US" sz="1000" dirty="0"/>
          </a:p>
        </p:txBody>
      </p:sp>
      <p:sp>
        <p:nvSpPr>
          <p:cNvPr id="42" name="Shape 40"/>
          <p:cNvSpPr/>
          <p:nvPr/>
        </p:nvSpPr>
        <p:spPr>
          <a:xfrm>
            <a:off x="6217920" y="5230368"/>
            <a:ext cx="5394960" cy="566928"/>
          </a:xfrm>
          <a:prstGeom prst="roundRect">
            <a:avLst>
              <a:gd name="adj" fmla="val 14516"/>
            </a:avLst>
          </a:prstGeom>
          <a:solidFill>
            <a:srgbClr val="0D1B2A"/>
          </a:solidFill>
          <a:ln w="9525">
            <a:solidFill>
              <a:srgbClr val="0D1B2A"/>
            </a:solidFill>
            <a:prstDash val="solid"/>
          </a:ln>
        </p:spPr>
      </p:sp>
      <p:sp>
        <p:nvSpPr>
          <p:cNvPr id="43" name="Text 41"/>
          <p:cNvSpPr/>
          <p:nvPr/>
        </p:nvSpPr>
        <p:spPr>
          <a:xfrm>
            <a:off x="6437376" y="5230368"/>
            <a:ext cx="4983480" cy="566928"/>
          </a:xfrm>
          <a:prstGeom prst="rect">
            <a:avLst/>
          </a:prstGeom>
          <a:noFill/>
          <a:ln/>
        </p:spPr>
        <p:txBody>
          <a:bodyPr wrap="square" lIns="0" tIns="0" rIns="0" bIns="0" rtlCol="0" anchor="ctr"/>
          <a:lstStyle/>
          <a:p>
            <a:pPr indent="0" marL="0">
              <a:lnSpc>
                <a:spcPct val="100000"/>
              </a:lnSpc>
              <a:buNone/>
            </a:pPr>
            <a:r>
              <a:rPr lang="en-US" sz="1000" b="1" dirty="0">
                <a:solidFill>
                  <a:srgbClr val="1F9E86"/>
                </a:solidFill>
                <a:latin typeface="Calibri" pitchFamily="34" charset="0"/>
                <a:ea typeface="Calibri" pitchFamily="34" charset="-122"/>
                <a:cs typeface="Calibri" pitchFamily="34" charset="-120"/>
              </a:rPr>
              <a:t>Điểm human-in-the-loop duy nhất:  </a:t>
            </a:r>
            <a:pPr indent="0" marL="0">
              <a:lnSpc>
                <a:spcPct val="100000"/>
              </a:lnSpc>
              <a:buNone/>
            </a:pPr>
            <a:r>
              <a:rPr lang="en-US" sz="1000" dirty="0">
                <a:solidFill>
                  <a:srgbClr val="D5E4F0"/>
                </a:solidFill>
                <a:latin typeface="Calibri" pitchFamily="34" charset="0"/>
                <a:ea typeface="Calibri" pitchFamily="34" charset="-122"/>
                <a:cs typeface="Calibri" pitchFamily="34" charset="-120"/>
              </a:rPr>
              <a:t>người phân tích rà soát rồi đóng cảnh báo hoặc leo thang.</a:t>
            </a:r>
            <a:endParaRPr lang="en-US" sz="1000" dirty="0"/>
          </a:p>
        </p:txBody>
      </p:sp>
      <p:sp>
        <p:nvSpPr>
          <p:cNvPr id="44" name="Shape 42"/>
          <p:cNvSpPr/>
          <p:nvPr/>
        </p:nvSpPr>
        <p:spPr>
          <a:xfrm>
            <a:off x="548640" y="5925312"/>
            <a:ext cx="11064240" cy="402336"/>
          </a:xfrm>
          <a:prstGeom prst="roundRect">
            <a:avLst>
              <a:gd name="adj" fmla="val 18182"/>
            </a:avLst>
          </a:prstGeom>
          <a:solidFill>
            <a:srgbClr val="F2F6FA"/>
          </a:solidFill>
          <a:ln w="9525">
            <a:solidFill>
              <a:srgbClr val="D7E2EC"/>
            </a:solidFill>
            <a:prstDash val="solid"/>
          </a:ln>
        </p:spPr>
      </p:sp>
      <p:sp>
        <p:nvSpPr>
          <p:cNvPr id="45" name="Text 43"/>
          <p:cNvSpPr/>
          <p:nvPr/>
        </p:nvSpPr>
        <p:spPr>
          <a:xfrm>
            <a:off x="804672" y="5925312"/>
            <a:ext cx="10552176" cy="402336"/>
          </a:xfrm>
          <a:prstGeom prst="rect">
            <a:avLst/>
          </a:prstGeom>
          <a:noFill/>
          <a:ln/>
        </p:spPr>
        <p:txBody>
          <a:bodyPr wrap="square" lIns="0" tIns="0" rIns="0" bIns="0" rtlCol="0" anchor="ctr"/>
          <a:lstStyle/>
          <a:p>
            <a:pPr algn="l" indent="0" marL="0">
              <a:buNone/>
            </a:pPr>
            <a:r>
              <a:rPr lang="en-US" sz="1000" b="1" dirty="0">
                <a:solidFill>
                  <a:srgbClr val="22303F"/>
                </a:solidFill>
                <a:latin typeface="Calibri" pitchFamily="34" charset="0"/>
                <a:ea typeface="Calibri" pitchFamily="34" charset="-122"/>
                <a:cs typeface="Calibri" pitchFamily="34" charset="-120"/>
              </a:rPr>
              <a:t>Không đưa bản ghi JSON gốc vào mô hình — chỉ các trường đã trích chọn lọc. Nội dung phản hồi thô không được lưu lại để tránh log độc hại bị hiểu sai lan truyền tiếp.</a:t>
            </a:r>
            <a:endParaRPr lang="en-US" sz="1000" dirty="0"/>
          </a:p>
        </p:txBody>
      </p:sp>
      <p:sp>
        <p:nvSpPr>
          <p:cNvPr id="46" name="Text 44"/>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2422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2422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GIẢI PHÁP · CÔNG NGHỆ</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Toàn bộ chuỗi công cụ chạy được trên một máy phổ thông</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1691640"/>
                <a:gridCol w="4343400"/>
                <a:gridCol w="50292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Lớp</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Công nghệ và phiên bản</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Vai trò trong hệ thống</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SIEM</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Wazuh 4.9.0 — Manager, Indexer, Dashboard</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Thu thập log từ agent, đối sánh luật, sinh và lưu cảnh báo</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Hạ tầng lab</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VMware Workstation 17 Pro · Docker 29.6.1 / Compose v5.3.1</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Bốn máy ảo trên mạng host-only 192.168.100.0/24</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Mô hình</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Ollama 0.6.2 · qwen2.5:7b (7,61 tỷ, Q4_K_M, 4,7 GB)</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Suy luận cục bộ; đối chứng CyberCrew/notmythos-8b (~3,2 tỷ)</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Truy xuất tri thức</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nomic-embed-text · ChromaDB PersistentClient</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19 đoạn tri thức, top-3 mỗi lần, ngưỡng khoảng cách 1,0</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Xử lý</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Python 3.12.7 · Flask</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Pipeline phân tích, API cục bộ và worker xử lý nền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Lưu trữ</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SQLite — dashboard.db</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Job, kết quả, đánh giá chỉ-ghi-thêm và nhật ký kiểm toán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Giao diện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HTML / CSS / JavaScript thuần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Dashboard phục vụ tại 127.0.0.1:8765</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Kênh báo cáo</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JSON · PDF · Telegram · Gmail (tùy chọn)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Chỉ gửi bản tóm tắt đã lọc bỏ thông tin nhạy cảm</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6" name="Shape 3"/>
          <p:cNvSpPr/>
          <p:nvPr/>
        </p:nvSpPr>
        <p:spPr>
          <a:xfrm>
            <a:off x="548640" y="5669280"/>
            <a:ext cx="11064240" cy="658368"/>
          </a:xfrm>
          <a:prstGeom prst="roundRect">
            <a:avLst>
              <a:gd name="adj" fmla="val 11111"/>
            </a:avLst>
          </a:prstGeom>
          <a:solidFill>
            <a:srgbClr val="E1EDF6"/>
          </a:solidFill>
          <a:ln w="9525">
            <a:solidFill>
              <a:srgbClr val="BFD8EA"/>
            </a:solidFill>
            <a:prstDash val="solid"/>
          </a:ln>
        </p:spPr>
      </p:sp>
      <p:sp>
        <p:nvSpPr>
          <p:cNvPr id="7" name="Text 4"/>
          <p:cNvSpPr/>
          <p:nvPr/>
        </p:nvSpPr>
        <p:spPr>
          <a:xfrm>
            <a:off x="804672" y="5669280"/>
            <a:ext cx="10552176" cy="658368"/>
          </a:xfrm>
          <a:prstGeom prst="rect">
            <a:avLst/>
          </a:prstGeom>
          <a:noFill/>
          <a:ln/>
        </p:spPr>
        <p:txBody>
          <a:bodyPr wrap="square" lIns="0" tIns="0" rIns="0" bIns="0" rtlCol="0" anchor="ctr"/>
          <a:lstStyle/>
          <a:p>
            <a:pPr algn="l" indent="0" marL="0">
              <a:buNone/>
            </a:pPr>
            <a:r>
              <a:rPr lang="en-US" sz="1100" b="1" dirty="0">
                <a:solidFill>
                  <a:srgbClr val="2C6E9B"/>
                </a:solidFill>
                <a:latin typeface="Calibri" pitchFamily="34" charset="0"/>
                <a:ea typeface="Calibri" pitchFamily="34" charset="-122"/>
                <a:cs typeface="Calibri" pitchFamily="34" charset="-120"/>
              </a:rPr>
              <a:t>Ràng buộc không rời hạ tầng nội bộ được ép cứng ngay ở tầng mã nguồn: hàm kết nối tới Ollama từ chối hoạt động nếu địa chỉ không phải localhost, trừ khi được chủ động cho phép.</a:t>
            </a:r>
            <a:endParaRPr lang="en-US" sz="1100" dirty="0"/>
          </a:p>
        </p:txBody>
      </p:sp>
      <p:sp>
        <p:nvSpPr>
          <p:cNvPr id="8" name="Text 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2357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2357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GIẢI PHÁP · HỢP ĐỒNG ĐẦU RA</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Đầu ra được ép thành cấu trúc và phải bám bằng chứng</a:t>
            </a:r>
            <a:endParaRPr lang="en-US" sz="2600" dirty="0"/>
          </a:p>
        </p:txBody>
      </p:sp>
      <p:sp>
        <p:nvSpPr>
          <p:cNvPr id="5" name="Shape 3"/>
          <p:cNvSpPr/>
          <p:nvPr/>
        </p:nvSpPr>
        <p:spPr>
          <a:xfrm>
            <a:off x="548640" y="1719072"/>
            <a:ext cx="5074920" cy="3877056"/>
          </a:xfrm>
          <a:prstGeom prst="roundRect">
            <a:avLst>
              <a:gd name="adj" fmla="val 2123"/>
            </a:avLst>
          </a:prstGeom>
          <a:solidFill>
            <a:srgbClr val="0D1B2A"/>
          </a:solidFill>
          <a:ln w="9525">
            <a:solidFill>
              <a:srgbClr val="0D1B2A"/>
            </a:solidFill>
            <a:prstDash val="solid"/>
          </a:ln>
        </p:spPr>
      </p:sp>
      <p:sp>
        <p:nvSpPr>
          <p:cNvPr id="6" name="Text 4"/>
          <p:cNvSpPr/>
          <p:nvPr/>
        </p:nvSpPr>
        <p:spPr>
          <a:xfrm>
            <a:off x="804672" y="1847088"/>
            <a:ext cx="4480560" cy="256032"/>
          </a:xfrm>
          <a:prstGeom prst="rect">
            <a:avLst/>
          </a:prstGeom>
          <a:noFill/>
          <a:ln/>
        </p:spPr>
        <p:txBody>
          <a:bodyPr wrap="square" lIns="0" tIns="0" rIns="0" bIns="0" rtlCol="0" anchor="ctr"/>
          <a:lstStyle/>
          <a:p>
            <a:pPr indent="0" marL="0">
              <a:buNone/>
            </a:pPr>
            <a:r>
              <a:rPr lang="en-US" sz="900" b="1" spc="110" kern="0" dirty="0">
                <a:solidFill>
                  <a:srgbClr val="7794AE"/>
                </a:solidFill>
                <a:latin typeface="Calibri" pitchFamily="34" charset="0"/>
                <a:ea typeface="Calibri" pitchFamily="34" charset="-122"/>
                <a:cs typeface="Calibri" pitchFamily="34" charset="-120"/>
              </a:rPr>
              <a:t>LƯỢC ĐỒ JSON BẮT BUỘC</a:t>
            </a:r>
            <a:endParaRPr lang="en-US" sz="900" dirty="0"/>
          </a:p>
        </p:txBody>
      </p:sp>
      <p:sp>
        <p:nvSpPr>
          <p:cNvPr id="7" name="Text 5"/>
          <p:cNvSpPr/>
          <p:nvPr/>
        </p:nvSpPr>
        <p:spPr>
          <a:xfrm>
            <a:off x="804672" y="2176272"/>
            <a:ext cx="4572000" cy="2743200"/>
          </a:xfrm>
          <a:prstGeom prst="rect">
            <a:avLst/>
          </a:prstGeom>
          <a:noFill/>
          <a:ln/>
        </p:spPr>
        <p:txBody>
          <a:bodyPr wrap="square" lIns="0" tIns="0" rIns="0" bIns="0" rtlCol="0" anchor="t"/>
          <a:lstStyle/>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"summary":     "...",</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"root_cause":  "...",</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"severity":    "low | medium | high",</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"mitre":       ["T1110"],</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"next_steps":  ["..."],</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"assessment_basis": {</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"observed":    [...],   // sự kiện quan sát</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"inference":   [...],   // suy luận</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"uncertainty": [...],   // điểm bất định</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"limitation":  [...]    // giới hạn dữ liệu</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  }</a:t>
            </a:r>
            <a:endParaRPr lang="en-US" sz="950" dirty="0"/>
          </a:p>
          <a:p>
            <a:pPr indent="0" marL="0">
              <a:lnSpc>
                <a:spcPct val="114000"/>
              </a:lnSpc>
              <a:buNone/>
            </a:pPr>
            <a:r>
              <a:rPr lang="en-US" sz="950" dirty="0">
                <a:solidFill>
                  <a:srgbClr val="A8C6DD"/>
                </a:solidFill>
                <a:latin typeface="Courier New" pitchFamily="34" charset="0"/>
                <a:ea typeface="Courier New" pitchFamily="34" charset="-122"/>
                <a:cs typeface="Courier New" pitchFamily="34" charset="-120"/>
              </a:rPr>
              <a:t>}</a:t>
            </a:r>
            <a:endParaRPr lang="en-US" sz="950" dirty="0"/>
          </a:p>
        </p:txBody>
      </p:sp>
      <p:sp>
        <p:nvSpPr>
          <p:cNvPr id="8" name="Text 6"/>
          <p:cNvSpPr/>
          <p:nvPr/>
        </p:nvSpPr>
        <p:spPr>
          <a:xfrm>
            <a:off x="804672" y="4974336"/>
            <a:ext cx="4572000" cy="512064"/>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Calibri" pitchFamily="34" charset="0"/>
                <a:ea typeface="Calibri" pitchFamily="34" charset="-122"/>
                <a:cs typeface="Calibri" pitchFamily="34" charset="-120"/>
              </a:rPr>
              <a:t>Hai lớp ép cấu trúc:  </a:t>
            </a:r>
            <a:pPr indent="0" marL="0">
              <a:lnSpc>
                <a:spcPct val="105000"/>
              </a:lnSpc>
              <a:buNone/>
            </a:pPr>
            <a:r>
              <a:rPr lang="en-US" sz="950" dirty="0">
                <a:solidFill>
                  <a:srgbClr val="8FB0C8"/>
                </a:solidFill>
                <a:latin typeface="Calibri" pitchFamily="34" charset="0"/>
                <a:ea typeface="Calibri" pitchFamily="34" charset="-122"/>
                <a:cs typeface="Calibri" pitchFamily="34" charset="-120"/>
              </a:rPr>
              <a:t>chỉ dẫn bằng văn bản trong system prompt, và tham số format của Ollama nhận trực tiếp JSON Schema đầy đủ.</a:t>
            </a:r>
            <a:endParaRPr lang="en-US" sz="950" dirty="0"/>
          </a:p>
        </p:txBody>
      </p:sp>
      <p:sp>
        <p:nvSpPr>
          <p:cNvPr id="9" name="Shape 7"/>
          <p:cNvSpPr/>
          <p:nvPr/>
        </p:nvSpPr>
        <p:spPr>
          <a:xfrm>
            <a:off x="5897880" y="1719072"/>
            <a:ext cx="5715000" cy="3877056"/>
          </a:xfrm>
          <a:prstGeom prst="roundRect">
            <a:avLst>
              <a:gd name="adj" fmla="val 2123"/>
            </a:avLst>
          </a:prstGeom>
          <a:solidFill>
            <a:srgbClr val="F2F6FA"/>
          </a:solidFill>
          <a:ln w="9525">
            <a:solidFill>
              <a:srgbClr val="D7E2EC"/>
            </a:solidFill>
            <a:prstDash val="solid"/>
          </a:ln>
        </p:spPr>
      </p:sp>
      <p:sp>
        <p:nvSpPr>
          <p:cNvPr id="10" name="Text 8"/>
          <p:cNvSpPr/>
          <p:nvPr/>
        </p:nvSpPr>
        <p:spPr>
          <a:xfrm>
            <a:off x="6153912" y="1847088"/>
            <a:ext cx="4572000" cy="256032"/>
          </a:xfrm>
          <a:prstGeom prst="rect">
            <a:avLst/>
          </a:prstGeom>
          <a:noFill/>
          <a:ln/>
        </p:spPr>
        <p:txBody>
          <a:bodyPr wrap="square" lIns="0" tIns="0" rIns="0" bIns="0" rtlCol="0" anchor="ctr"/>
          <a:lstStyle/>
          <a:p>
            <a:pPr indent="0" marL="0">
              <a:buNone/>
            </a:pPr>
            <a:r>
              <a:rPr lang="en-US" sz="900" b="1" spc="110" kern="0" dirty="0">
                <a:solidFill>
                  <a:srgbClr val="667E93"/>
                </a:solidFill>
                <a:latin typeface="Calibri" pitchFamily="34" charset="0"/>
                <a:ea typeface="Calibri" pitchFamily="34" charset="-122"/>
                <a:cs typeface="Calibri" pitchFamily="34" charset="-120"/>
              </a:rPr>
              <a:t>BA LỚP CHỐNG CHÈN CHỈ DẪN ĐỘC HẠI</a:t>
            </a:r>
            <a:endParaRPr lang="en-US" sz="900" dirty="0"/>
          </a:p>
        </p:txBody>
      </p:sp>
      <p:sp>
        <p:nvSpPr>
          <p:cNvPr id="11" name="Shape 9"/>
          <p:cNvSpPr/>
          <p:nvPr/>
        </p:nvSpPr>
        <p:spPr>
          <a:xfrm>
            <a:off x="6153912" y="2249424"/>
            <a:ext cx="292608" cy="292608"/>
          </a:xfrm>
          <a:prstGeom prst="roundRect">
            <a:avLst>
              <a:gd name="adj" fmla="val 68750"/>
            </a:avLst>
          </a:prstGeom>
          <a:solidFill>
            <a:srgbClr val="BE4B3B"/>
          </a:solidFill>
          <a:ln w="12700">
            <a:solidFill>
              <a:srgbClr val="BE4B3B"/>
            </a:solidFill>
            <a:prstDash val="solid"/>
          </a:ln>
        </p:spPr>
      </p:sp>
      <p:sp>
        <p:nvSpPr>
          <p:cNvPr id="12" name="Text 10"/>
          <p:cNvSpPr/>
          <p:nvPr/>
        </p:nvSpPr>
        <p:spPr>
          <a:xfrm>
            <a:off x="6153912" y="22494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6574536" y="2212848"/>
            <a:ext cx="484632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Phân tách cấu trúc</a:t>
            </a:r>
            <a:endParaRPr lang="en-US" sz="1150" dirty="0"/>
          </a:p>
        </p:txBody>
      </p:sp>
      <p:sp>
        <p:nvSpPr>
          <p:cNvPr id="14" name="Text 12"/>
          <p:cNvSpPr/>
          <p:nvPr/>
        </p:nvSpPr>
        <p:spPr>
          <a:xfrm>
            <a:off x="6574536" y="2505456"/>
            <a:ext cx="4846320"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Dữ liệu cảnh báo và ngữ cảnh truy xuất luôn nằm ở vai trò user message, tách khỏi chỉ dẫn hệ thống</a:t>
            </a:r>
            <a:endParaRPr lang="en-US" sz="950" dirty="0"/>
          </a:p>
        </p:txBody>
      </p:sp>
      <p:sp>
        <p:nvSpPr>
          <p:cNvPr id="15" name="Shape 13"/>
          <p:cNvSpPr/>
          <p:nvPr/>
        </p:nvSpPr>
        <p:spPr>
          <a:xfrm>
            <a:off x="6153912" y="3182112"/>
            <a:ext cx="292608" cy="292608"/>
          </a:xfrm>
          <a:prstGeom prst="roundRect">
            <a:avLst>
              <a:gd name="adj" fmla="val 68750"/>
            </a:avLst>
          </a:prstGeom>
          <a:solidFill>
            <a:srgbClr val="BE4B3B"/>
          </a:solidFill>
          <a:ln w="12700">
            <a:solidFill>
              <a:srgbClr val="BE4B3B"/>
            </a:solidFill>
            <a:prstDash val="solid"/>
          </a:ln>
        </p:spPr>
      </p:sp>
      <p:sp>
        <p:nvSpPr>
          <p:cNvPr id="16" name="Text 14"/>
          <p:cNvSpPr/>
          <p:nvPr/>
        </p:nvSpPr>
        <p:spPr>
          <a:xfrm>
            <a:off x="6153912" y="31821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6574536" y="3145536"/>
            <a:ext cx="484632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Đánh dấu tường minh</a:t>
            </a:r>
            <a:endParaRPr lang="en-US" sz="1150" dirty="0"/>
          </a:p>
        </p:txBody>
      </p:sp>
      <p:sp>
        <p:nvSpPr>
          <p:cNvPr id="18" name="Text 16"/>
          <p:cNvSpPr/>
          <p:nvPr/>
        </p:nvSpPr>
        <p:spPr>
          <a:xfrm>
            <a:off x="6574536" y="3438144"/>
            <a:ext cx="4846320"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Bọc trong ranh giới &lt;UNTRUSTED&gt; kèm khẳng định đây là bằng chứng, không phải chỉ dẫn để làm theo</a:t>
            </a:r>
            <a:endParaRPr lang="en-US" sz="950" dirty="0"/>
          </a:p>
        </p:txBody>
      </p:sp>
      <p:sp>
        <p:nvSpPr>
          <p:cNvPr id="19" name="Shape 17"/>
          <p:cNvSpPr/>
          <p:nvPr/>
        </p:nvSpPr>
        <p:spPr>
          <a:xfrm>
            <a:off x="6153912" y="4114800"/>
            <a:ext cx="292608" cy="292608"/>
          </a:xfrm>
          <a:prstGeom prst="roundRect">
            <a:avLst>
              <a:gd name="adj" fmla="val 68750"/>
            </a:avLst>
          </a:prstGeom>
          <a:solidFill>
            <a:srgbClr val="BE4B3B"/>
          </a:solidFill>
          <a:ln w="12700">
            <a:solidFill>
              <a:srgbClr val="BE4B3B"/>
            </a:solidFill>
            <a:prstDash val="solid"/>
          </a:ln>
        </p:spPr>
      </p:sp>
      <p:sp>
        <p:nvSpPr>
          <p:cNvPr id="20" name="Text 18"/>
          <p:cNvSpPr/>
          <p:nvPr/>
        </p:nvSpPr>
        <p:spPr>
          <a:xfrm>
            <a:off x="6153912" y="4114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574536" y="4078224"/>
            <a:ext cx="484632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Giới hạn quyền</a:t>
            </a:r>
            <a:endParaRPr lang="en-US" sz="1150" dirty="0"/>
          </a:p>
        </p:txBody>
      </p:sp>
      <p:sp>
        <p:nvSpPr>
          <p:cNvPr id="22" name="Text 20"/>
          <p:cNvSpPr/>
          <p:nvPr/>
        </p:nvSpPr>
        <p:spPr>
          <a:xfrm>
            <a:off x="6574536" y="4370832"/>
            <a:ext cx="4846320" cy="566928"/>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Mô hình không có khả năng thực thi; thiệt hại tối đa chỉ là một kết quả diễn giải sai</a:t>
            </a:r>
            <a:endParaRPr lang="en-US" sz="950" dirty="0"/>
          </a:p>
        </p:txBody>
      </p:sp>
      <p:sp>
        <p:nvSpPr>
          <p:cNvPr id="23" name="Shape 21"/>
          <p:cNvSpPr/>
          <p:nvPr/>
        </p:nvSpPr>
        <p:spPr>
          <a:xfrm>
            <a:off x="6153912" y="5047488"/>
            <a:ext cx="5212080" cy="402336"/>
          </a:xfrm>
          <a:prstGeom prst="roundRect">
            <a:avLst>
              <a:gd name="adj" fmla="val 18182"/>
            </a:avLst>
          </a:prstGeom>
          <a:solidFill>
            <a:srgbClr val="FFFFFF"/>
          </a:solidFill>
          <a:ln w="9525">
            <a:solidFill>
              <a:srgbClr val="D7E2EC"/>
            </a:solidFill>
            <a:prstDash val="solid"/>
          </a:ln>
        </p:spPr>
      </p:sp>
      <p:sp>
        <p:nvSpPr>
          <p:cNvPr id="24" name="Text 22"/>
          <p:cNvSpPr/>
          <p:nvPr/>
        </p:nvSpPr>
        <p:spPr>
          <a:xfrm>
            <a:off x="6309360" y="5047488"/>
            <a:ext cx="4901184" cy="402336"/>
          </a:xfrm>
          <a:prstGeom prst="rect">
            <a:avLst/>
          </a:prstGeom>
          <a:noFill/>
          <a:ln/>
        </p:spPr>
        <p:txBody>
          <a:bodyPr wrap="square" lIns="0" tIns="0" rIns="0" bIns="0" rtlCol="0" anchor="ctr"/>
          <a:lstStyle/>
          <a:p>
            <a:pPr indent="0" marL="0">
              <a:buNone/>
            </a:pPr>
            <a:r>
              <a:rPr lang="en-US" sz="900" dirty="0">
                <a:solidFill>
                  <a:srgbClr val="22303F"/>
                </a:solidFill>
                <a:latin typeface="Calibri" pitchFamily="34" charset="0"/>
                <a:ea typeface="Calibri" pitchFamily="34" charset="-122"/>
                <a:cs typeface="Calibri" pitchFamily="34" charset="-120"/>
              </a:rPr>
              <a:t>Ghi vết: 5 giá trị băm SHA-256 (chỉ dẫn, đầu vào, lược đồ, phản hồi, ngữ cảnh) — không lưu văn bản gốc</a:t>
            </a:r>
            <a:endParaRPr lang="en-US" sz="900" dirty="0"/>
          </a:p>
        </p:txBody>
      </p:sp>
      <p:sp>
        <p:nvSpPr>
          <p:cNvPr id="25" name="Shape 23"/>
          <p:cNvSpPr/>
          <p:nvPr/>
        </p:nvSpPr>
        <p:spPr>
          <a:xfrm>
            <a:off x="548640" y="5724144"/>
            <a:ext cx="11064240" cy="603504"/>
          </a:xfrm>
          <a:prstGeom prst="roundRect">
            <a:avLst>
              <a:gd name="adj" fmla="val 12121"/>
            </a:avLst>
          </a:prstGeom>
          <a:solidFill>
            <a:srgbClr val="FAE3DF"/>
          </a:solidFill>
          <a:ln w="9525">
            <a:solidFill>
              <a:srgbClr val="EFC8C1"/>
            </a:solidFill>
            <a:prstDash val="solid"/>
          </a:ln>
        </p:spPr>
      </p:sp>
      <p:sp>
        <p:nvSpPr>
          <p:cNvPr id="26" name="Text 24"/>
          <p:cNvSpPr/>
          <p:nvPr/>
        </p:nvSpPr>
        <p:spPr>
          <a:xfrm>
            <a:off x="804672" y="5724144"/>
            <a:ext cx="10552176" cy="603504"/>
          </a:xfrm>
          <a:prstGeom prst="rect">
            <a:avLst/>
          </a:prstGeom>
          <a:noFill/>
          <a:ln/>
        </p:spPr>
        <p:txBody>
          <a:bodyPr wrap="square" lIns="0" tIns="0" rIns="0" bIns="0" rtlCol="0" anchor="ctr"/>
          <a:lstStyle/>
          <a:p>
            <a:pPr algn="l" indent="0" marL="0">
              <a:buNone/>
            </a:pPr>
            <a:r>
              <a:rPr lang="en-US" sz="1150" b="1" dirty="0">
                <a:solidFill>
                  <a:srgbClr val="BE4B3B"/>
                </a:solidFill>
                <a:latin typeface="Calibri" pitchFamily="34" charset="0"/>
                <a:ea typeface="Calibri" pitchFamily="34" charset="-122"/>
                <a:cs typeface="Calibri" pitchFamily="34" charset="-120"/>
              </a:rPr>
              <a:t>Đầu ra sai hợp đồng không được trả về như kết quả bình thường: hệ thống chuyển sang kết quả dự phòng và nêu rõ lý do thất bại, thay vì đưa ra một câu trả lời trông có vẻ đúng.</a:t>
            </a:r>
            <a:endParaRPr lang="en-US" sz="1150" dirty="0"/>
          </a:p>
        </p:txBody>
      </p:sp>
      <p:sp>
        <p:nvSpPr>
          <p:cNvPr id="27" name="Text 2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75564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75564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GIẢI PHÁP · VẬN HÀNH</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Giao diện đưa mô-đun từ một lệnh dòng lệnh thành quy trình dùng được</a:t>
            </a:r>
            <a:endParaRPr lang="en-US" sz="2600" dirty="0"/>
          </a:p>
        </p:txBody>
      </p:sp>
      <p:sp>
        <p:nvSpPr>
          <p:cNvPr id="5" name="Shape 3"/>
          <p:cNvSpPr/>
          <p:nvPr/>
        </p:nvSpPr>
        <p:spPr>
          <a:xfrm>
            <a:off x="548640" y="1719072"/>
            <a:ext cx="5257800" cy="950976"/>
          </a:xfrm>
          <a:prstGeom prst="roundRect">
            <a:avLst>
              <a:gd name="adj" fmla="val 8654"/>
            </a:avLst>
          </a:prstGeom>
          <a:solidFill>
            <a:srgbClr val="F2F6FA"/>
          </a:solidFill>
          <a:ln w="9525">
            <a:solidFill>
              <a:srgbClr val="D7E2EC"/>
            </a:solidFill>
            <a:prstDash val="solid"/>
          </a:ln>
        </p:spPr>
      </p:sp>
      <p:sp>
        <p:nvSpPr>
          <p:cNvPr id="6" name="Shape 4"/>
          <p:cNvSpPr/>
          <p:nvPr/>
        </p:nvSpPr>
        <p:spPr>
          <a:xfrm>
            <a:off x="786384" y="1892808"/>
            <a:ext cx="329184" cy="329184"/>
          </a:xfrm>
          <a:prstGeom prst="roundRect">
            <a:avLst>
              <a:gd name="adj" fmla="val 61111"/>
            </a:avLst>
          </a:prstGeom>
          <a:solidFill>
            <a:srgbClr val="1F9E86"/>
          </a:solidFill>
          <a:ln w="12700">
            <a:solidFill>
              <a:srgbClr val="1F9E86"/>
            </a:solidFill>
            <a:prstDash val="solid"/>
          </a:ln>
        </p:spPr>
      </p:sp>
      <p:sp>
        <p:nvSpPr>
          <p:cNvPr id="7" name="Text 5"/>
          <p:cNvSpPr/>
          <p:nvPr/>
        </p:nvSpPr>
        <p:spPr>
          <a:xfrm>
            <a:off x="786384" y="189280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243584" y="1828800"/>
            <a:ext cx="434340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Phân tích theo cửa sổ thời gian</a:t>
            </a:r>
            <a:endParaRPr lang="en-US" sz="1200" dirty="0"/>
          </a:p>
        </p:txBody>
      </p:sp>
      <p:sp>
        <p:nvSpPr>
          <p:cNvPr id="9" name="Text 7"/>
          <p:cNvSpPr/>
          <p:nvPr/>
        </p:nvSpPr>
        <p:spPr>
          <a:xfrm>
            <a:off x="1243584" y="2157984"/>
            <a:ext cx="4343400" cy="420624"/>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Chọn khoảng, mô hình và ngôn ngữ đầu ra; mỗi job tạo một báo cáo cửa sổ.</a:t>
            </a:r>
            <a:endParaRPr lang="en-US" sz="950" dirty="0"/>
          </a:p>
        </p:txBody>
      </p:sp>
      <p:sp>
        <p:nvSpPr>
          <p:cNvPr id="10" name="Shape 8"/>
          <p:cNvSpPr/>
          <p:nvPr/>
        </p:nvSpPr>
        <p:spPr>
          <a:xfrm>
            <a:off x="548640" y="2816352"/>
            <a:ext cx="5257800" cy="950976"/>
          </a:xfrm>
          <a:prstGeom prst="roundRect">
            <a:avLst>
              <a:gd name="adj" fmla="val 8654"/>
            </a:avLst>
          </a:prstGeom>
          <a:solidFill>
            <a:srgbClr val="FFFFFF"/>
          </a:solidFill>
          <a:ln w="9525">
            <a:solidFill>
              <a:srgbClr val="D7E2EC"/>
            </a:solidFill>
            <a:prstDash val="solid"/>
          </a:ln>
        </p:spPr>
      </p:sp>
      <p:sp>
        <p:nvSpPr>
          <p:cNvPr id="11" name="Shape 9"/>
          <p:cNvSpPr/>
          <p:nvPr/>
        </p:nvSpPr>
        <p:spPr>
          <a:xfrm>
            <a:off x="786384" y="2990088"/>
            <a:ext cx="329184" cy="329184"/>
          </a:xfrm>
          <a:prstGeom prst="roundRect">
            <a:avLst>
              <a:gd name="adj" fmla="val 61111"/>
            </a:avLst>
          </a:prstGeom>
          <a:solidFill>
            <a:srgbClr val="1F9E86"/>
          </a:solidFill>
          <a:ln w="12700">
            <a:solidFill>
              <a:srgbClr val="1F9E86"/>
            </a:solidFill>
            <a:prstDash val="solid"/>
          </a:ln>
        </p:spPr>
      </p:sp>
      <p:sp>
        <p:nvSpPr>
          <p:cNvPr id="12" name="Text 10"/>
          <p:cNvSpPr/>
          <p:nvPr/>
        </p:nvSpPr>
        <p:spPr>
          <a:xfrm>
            <a:off x="786384" y="299008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1243584" y="2926080"/>
            <a:ext cx="434340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Lịch chạy theo cửa sổ cố định</a:t>
            </a:r>
            <a:endParaRPr lang="en-US" sz="1200" dirty="0"/>
          </a:p>
        </p:txBody>
      </p:sp>
      <p:sp>
        <p:nvSpPr>
          <p:cNvPr id="14" name="Text 12"/>
          <p:cNvSpPr/>
          <p:nvPr/>
        </p:nvSpPr>
        <p:spPr>
          <a:xfrm>
            <a:off x="1243584" y="3255264"/>
            <a:ext cx="4343400" cy="420624"/>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Có độ trễ nạp dữ liệu và giới hạn bù đắp khi hệ thống bị gián đoạn.</a:t>
            </a:r>
            <a:endParaRPr lang="en-US" sz="950" dirty="0"/>
          </a:p>
        </p:txBody>
      </p:sp>
      <p:sp>
        <p:nvSpPr>
          <p:cNvPr id="15" name="Shape 13"/>
          <p:cNvSpPr/>
          <p:nvPr/>
        </p:nvSpPr>
        <p:spPr>
          <a:xfrm>
            <a:off x="548640" y="3913632"/>
            <a:ext cx="5257800" cy="950976"/>
          </a:xfrm>
          <a:prstGeom prst="roundRect">
            <a:avLst>
              <a:gd name="adj" fmla="val 8654"/>
            </a:avLst>
          </a:prstGeom>
          <a:solidFill>
            <a:srgbClr val="F2F6FA"/>
          </a:solidFill>
          <a:ln w="9525">
            <a:solidFill>
              <a:srgbClr val="D7E2EC"/>
            </a:solidFill>
            <a:prstDash val="solid"/>
          </a:ln>
        </p:spPr>
      </p:sp>
      <p:sp>
        <p:nvSpPr>
          <p:cNvPr id="16" name="Shape 14"/>
          <p:cNvSpPr/>
          <p:nvPr/>
        </p:nvSpPr>
        <p:spPr>
          <a:xfrm>
            <a:off x="786384" y="4087368"/>
            <a:ext cx="329184" cy="329184"/>
          </a:xfrm>
          <a:prstGeom prst="roundRect">
            <a:avLst>
              <a:gd name="adj" fmla="val 61111"/>
            </a:avLst>
          </a:prstGeom>
          <a:solidFill>
            <a:srgbClr val="1F9E86"/>
          </a:solidFill>
          <a:ln w="12700">
            <a:solidFill>
              <a:srgbClr val="1F9E86"/>
            </a:solidFill>
            <a:prstDash val="solid"/>
          </a:ln>
        </p:spPr>
      </p:sp>
      <p:sp>
        <p:nvSpPr>
          <p:cNvPr id="17" name="Text 15"/>
          <p:cNvSpPr/>
          <p:nvPr/>
        </p:nvSpPr>
        <p:spPr>
          <a:xfrm>
            <a:off x="786384" y="40873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243584" y="4023360"/>
            <a:ext cx="434340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Rà soát Case-lite</a:t>
            </a:r>
            <a:endParaRPr lang="en-US" sz="1200" dirty="0"/>
          </a:p>
        </p:txBody>
      </p:sp>
      <p:sp>
        <p:nvSpPr>
          <p:cNvPr id="19" name="Text 17"/>
          <p:cNvSpPr/>
          <p:nvPr/>
        </p:nvSpPr>
        <p:spPr>
          <a:xfrm>
            <a:off x="1243584" y="4352544"/>
            <a:ext cx="4343400" cy="420624"/>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Người phân tích chỉnh mức, gắn nhãn, ghi chú — lưu tách biệt với khuyến nghị AI.</a:t>
            </a:r>
            <a:endParaRPr lang="en-US" sz="950" dirty="0"/>
          </a:p>
        </p:txBody>
      </p:sp>
      <p:sp>
        <p:nvSpPr>
          <p:cNvPr id="20" name="Shape 18"/>
          <p:cNvSpPr/>
          <p:nvPr/>
        </p:nvSpPr>
        <p:spPr>
          <a:xfrm>
            <a:off x="548640" y="5010912"/>
            <a:ext cx="5257800" cy="950976"/>
          </a:xfrm>
          <a:prstGeom prst="roundRect">
            <a:avLst>
              <a:gd name="adj" fmla="val 8654"/>
            </a:avLst>
          </a:prstGeom>
          <a:solidFill>
            <a:srgbClr val="FFFFFF"/>
          </a:solidFill>
          <a:ln w="9525">
            <a:solidFill>
              <a:srgbClr val="D7E2EC"/>
            </a:solidFill>
            <a:prstDash val="solid"/>
          </a:ln>
        </p:spPr>
      </p:sp>
      <p:sp>
        <p:nvSpPr>
          <p:cNvPr id="21" name="Shape 19"/>
          <p:cNvSpPr/>
          <p:nvPr/>
        </p:nvSpPr>
        <p:spPr>
          <a:xfrm>
            <a:off x="786384" y="5184648"/>
            <a:ext cx="329184" cy="329184"/>
          </a:xfrm>
          <a:prstGeom prst="roundRect">
            <a:avLst>
              <a:gd name="adj" fmla="val 61111"/>
            </a:avLst>
          </a:prstGeom>
          <a:solidFill>
            <a:srgbClr val="1F9E86"/>
          </a:solidFill>
          <a:ln w="12700">
            <a:solidFill>
              <a:srgbClr val="1F9E86"/>
            </a:solidFill>
            <a:prstDash val="solid"/>
          </a:ln>
        </p:spPr>
      </p:sp>
      <p:sp>
        <p:nvSpPr>
          <p:cNvPr id="22" name="Text 20"/>
          <p:cNvSpPr/>
          <p:nvPr/>
        </p:nvSpPr>
        <p:spPr>
          <a:xfrm>
            <a:off x="786384" y="518464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1243584" y="5120640"/>
            <a:ext cx="434340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Xuất JSON / PDF và gửi thông báo</a:t>
            </a:r>
            <a:endParaRPr lang="en-US" sz="1200" dirty="0"/>
          </a:p>
        </p:txBody>
      </p:sp>
      <p:sp>
        <p:nvSpPr>
          <p:cNvPr id="24" name="Text 22"/>
          <p:cNvSpPr/>
          <p:nvPr/>
        </p:nvSpPr>
        <p:spPr>
          <a:xfrm>
            <a:off x="1243584" y="5449824"/>
            <a:ext cx="4343400" cy="420624"/>
          </a:xfrm>
          <a:prstGeom prst="rect">
            <a:avLst/>
          </a:prstGeom>
          <a:noFill/>
          <a:ln/>
        </p:spPr>
        <p:txBody>
          <a:bodyPr wrap="square" lIns="0" tIns="0" rIns="0" bIns="0" rtlCol="0" anchor="t"/>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Telegram hoặc Gmail ở chế độ tùy chọn, chỉ gửi bản đã lọc thông tin nhạy cảm.</a:t>
            </a:r>
            <a:endParaRPr lang="en-US" sz="950" dirty="0"/>
          </a:p>
        </p:txBody>
      </p:sp>
      <p:sp>
        <p:nvSpPr>
          <p:cNvPr id="25" name="Shape 23"/>
          <p:cNvSpPr/>
          <p:nvPr/>
        </p:nvSpPr>
        <p:spPr>
          <a:xfrm>
            <a:off x="6117336" y="1719072"/>
            <a:ext cx="5550408" cy="3502152"/>
          </a:xfrm>
          <a:prstGeom prst="roundRect">
            <a:avLst>
              <a:gd name="adj" fmla="val 1567"/>
            </a:avLst>
          </a:prstGeom>
          <a:solidFill>
            <a:srgbClr val="FFFFFF"/>
          </a:solidFill>
          <a:ln w="9525">
            <a:solidFill>
              <a:srgbClr val="D7E2EC"/>
            </a:solidFill>
            <a:prstDash val="solid"/>
          </a:ln>
        </p:spPr>
      </p:sp>
      <p:pic>
        <p:nvPicPr>
          <p:cNvPr id="26" name="Image 0" descr="fig/h35-ui-chinh.png">    </p:cNvPr>
          <p:cNvPicPr>
            <a:picLocks noChangeAspect="1"/>
          </p:cNvPicPr>
          <p:nvPr/>
        </p:nvPicPr>
        <p:blipFill>
          <a:blip r:embed="rId1"/>
          <a:stretch>
            <a:fillRect/>
          </a:stretch>
        </p:blipFill>
        <p:spPr>
          <a:xfrm>
            <a:off x="6172200" y="1773936"/>
            <a:ext cx="5440680" cy="3392424"/>
          </a:xfrm>
          <a:prstGeom prst="rect">
            <a:avLst/>
          </a:prstGeom>
        </p:spPr>
      </p:pic>
      <p:sp>
        <p:nvSpPr>
          <p:cNvPr id="27" name="Text 24"/>
          <p:cNvSpPr/>
          <p:nvPr/>
        </p:nvSpPr>
        <p:spPr>
          <a:xfrm>
            <a:off x="6172200" y="5294376"/>
            <a:ext cx="5440680" cy="274320"/>
          </a:xfrm>
          <a:prstGeom prst="rect">
            <a:avLst/>
          </a:prstGeom>
          <a:noFill/>
          <a:ln/>
        </p:spPr>
        <p:txBody>
          <a:bodyPr wrap="square" lIns="0" tIns="0" rIns="0" bIns="0" rtlCol="0" anchor="ctr"/>
          <a:lstStyle/>
          <a:p>
            <a:pPr algn="ctr" indent="0" marL="0">
              <a:lnSpc>
                <a:spcPct val="105000"/>
              </a:lnSpc>
              <a:buNone/>
            </a:pPr>
            <a:r>
              <a:rPr lang="en-US" sz="900" i="1" dirty="0">
                <a:solidFill>
                  <a:srgbClr val="667E93"/>
                </a:solidFill>
                <a:latin typeface="Calibri" pitchFamily="34" charset="0"/>
                <a:ea typeface="Calibri" pitchFamily="34" charset="-122"/>
                <a:cs typeface="Calibri" pitchFamily="34" charset="-120"/>
              </a:rPr>
              <a:t>Giao diện chính của mô-đun tại 127.0.0.1:8765 — chọn cửa sổ, mô hình, ngôn ngữ và kênh nhận báo cáo</a:t>
            </a:r>
            <a:endParaRPr lang="en-US" sz="900" dirty="0"/>
          </a:p>
        </p:txBody>
      </p:sp>
      <p:sp>
        <p:nvSpPr>
          <p:cNvPr id="28" name="Shape 25"/>
          <p:cNvSpPr/>
          <p:nvPr/>
        </p:nvSpPr>
        <p:spPr>
          <a:xfrm>
            <a:off x="6172200" y="5541264"/>
            <a:ext cx="5440680" cy="786384"/>
          </a:xfrm>
          <a:prstGeom prst="roundRect">
            <a:avLst>
              <a:gd name="adj" fmla="val 10465"/>
            </a:avLst>
          </a:prstGeom>
          <a:solidFill>
            <a:srgbClr val="F2F6FA"/>
          </a:solidFill>
          <a:ln w="9525">
            <a:solidFill>
              <a:srgbClr val="D7E2EC"/>
            </a:solidFill>
            <a:prstDash val="solid"/>
          </a:ln>
        </p:spPr>
      </p:sp>
      <p:sp>
        <p:nvSpPr>
          <p:cNvPr id="29" name="Text 26"/>
          <p:cNvSpPr/>
          <p:nvPr/>
        </p:nvSpPr>
        <p:spPr>
          <a:xfrm>
            <a:off x="6391656" y="5541264"/>
            <a:ext cx="5029200" cy="786384"/>
          </a:xfrm>
          <a:prstGeom prst="rect">
            <a:avLst/>
          </a:prstGeom>
          <a:noFill/>
          <a:ln/>
        </p:spPr>
        <p:txBody>
          <a:bodyPr wrap="square" lIns="0" tIns="0" rIns="0" bIns="0" rtlCol="0" anchor="ctr"/>
          <a:lstStyle/>
          <a:p>
            <a:pPr indent="0" marL="0">
              <a:lnSpc>
                <a:spcPct val="105000"/>
              </a:lnSpc>
              <a:buNone/>
            </a:pPr>
            <a:r>
              <a:rPr lang="en-US" sz="1000" b="1" dirty="0">
                <a:solidFill>
                  <a:srgbClr val="0D1B2A"/>
                </a:solidFill>
                <a:latin typeface="Calibri" pitchFamily="34" charset="0"/>
                <a:ea typeface="Calibri" pitchFamily="34" charset="-122"/>
                <a:cs typeface="Calibri" pitchFamily="34" charset="-120"/>
              </a:rPr>
              <a:t>Đã kiểm chứng trên lab:  </a:t>
            </a:r>
            <a:pPr indent="0" marL="0">
              <a:lnSpc>
                <a:spcPct val="105000"/>
              </a:lnSpc>
              <a:buNone/>
            </a:pPr>
            <a:r>
              <a:rPr lang="en-US" sz="1000" dirty="0">
                <a:solidFill>
                  <a:srgbClr val="667E93"/>
                </a:solidFill>
                <a:latin typeface="Calibri" pitchFamily="34" charset="0"/>
                <a:ea typeface="Calibri" pitchFamily="34" charset="-122"/>
                <a:cs typeface="Calibri" pitchFamily="34" charset="-120"/>
              </a:rPr>
              <a:t>một cửa sổ 24 giờ điển hình ghi nhận khoảng 580 cảnh báo; giao diện xử lý theo lô và giữ nguyên lịch sử job sau khi khởi động lại ứng dụng.</a:t>
            </a:r>
            <a:endParaRPr lang="en-US" sz="1000" dirty="0"/>
          </a:p>
        </p:txBody>
      </p:sp>
      <p:sp>
        <p:nvSpPr>
          <p:cNvPr id="30" name="Text 2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2357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2357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1 · ĐỌC ĐÚNG NGUỒN</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Cảnh báo không nằm ở nơi thiết kế ban đầu dự kiến</a:t>
            </a:r>
            <a:endParaRPr lang="en-US" sz="2600" dirty="0"/>
          </a:p>
        </p:txBody>
      </p:sp>
      <p:sp>
        <p:nvSpPr>
          <p:cNvPr id="5" name="Shape 3"/>
          <p:cNvSpPr/>
          <p:nvPr/>
        </p:nvSpPr>
        <p:spPr>
          <a:xfrm>
            <a:off x="548640" y="1755648"/>
            <a:ext cx="3566160" cy="2834640"/>
          </a:xfrm>
          <a:prstGeom prst="roundRect">
            <a:avLst>
              <a:gd name="adj" fmla="val 2903"/>
            </a:avLst>
          </a:prstGeom>
          <a:solidFill>
            <a:srgbClr val="FBF1DC"/>
          </a:solidFill>
          <a:ln w="9525">
            <a:solidFill>
              <a:srgbClr val="EBD9AE"/>
            </a:solidFill>
            <a:prstDash val="solid"/>
          </a:ln>
        </p:spPr>
      </p:sp>
      <p:sp>
        <p:nvSpPr>
          <p:cNvPr id="6" name="Shape 4"/>
          <p:cNvSpPr/>
          <p:nvPr/>
        </p:nvSpPr>
        <p:spPr>
          <a:xfrm>
            <a:off x="804672" y="1993392"/>
            <a:ext cx="347472" cy="347472"/>
          </a:xfrm>
          <a:prstGeom prst="roundRect">
            <a:avLst>
              <a:gd name="adj" fmla="val 57895"/>
            </a:avLst>
          </a:prstGeom>
          <a:solidFill>
            <a:srgbClr val="B57A16"/>
          </a:solidFill>
          <a:ln w="12700">
            <a:solidFill>
              <a:srgbClr val="B57A16"/>
            </a:solidFill>
            <a:prstDash val="solid"/>
          </a:ln>
        </p:spPr>
      </p:sp>
      <p:sp>
        <p:nvSpPr>
          <p:cNvPr id="7" name="Text 5"/>
          <p:cNvSpPr/>
          <p:nvPr/>
        </p:nvSpPr>
        <p:spPr>
          <a:xfrm>
            <a:off x="80467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0467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Wazuh có ba đường truy cập dễ nhầm</a:t>
            </a:r>
            <a:endParaRPr lang="en-US" sz="1300" dirty="0"/>
          </a:p>
        </p:txBody>
      </p:sp>
      <p:sp>
        <p:nvSpPr>
          <p:cNvPr id="9" name="Text 7"/>
          <p:cNvSpPr/>
          <p:nvPr/>
        </p:nvSpPr>
        <p:spPr>
          <a:xfrm>
            <a:off x="80467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Tệp alerts.json cục bộ trên Manager; Wazuh API cổng 55000 chỉ phục vụ quản trị; Indexer API cổng 9200 mới là nơi lưu và tìm kiếm được cảnh báo.</a:t>
            </a:r>
            <a:endParaRPr lang="en-US" sz="1050" dirty="0"/>
          </a:p>
        </p:txBody>
      </p:sp>
      <p:sp>
        <p:nvSpPr>
          <p:cNvPr id="10" name="Shape 8"/>
          <p:cNvSpPr/>
          <p:nvPr/>
        </p:nvSpPr>
        <p:spPr>
          <a:xfrm>
            <a:off x="4297680" y="1755648"/>
            <a:ext cx="3566160" cy="2834640"/>
          </a:xfrm>
          <a:prstGeom prst="roundRect">
            <a:avLst>
              <a:gd name="adj" fmla="val 2903"/>
            </a:avLst>
          </a:prstGeom>
          <a:solidFill>
            <a:srgbClr val="FBF1DC"/>
          </a:solidFill>
          <a:ln w="9525">
            <a:solidFill>
              <a:srgbClr val="EBD9AE"/>
            </a:solidFill>
            <a:prstDash val="solid"/>
          </a:ln>
        </p:spPr>
      </p:sp>
      <p:sp>
        <p:nvSpPr>
          <p:cNvPr id="11" name="Shape 9"/>
          <p:cNvSpPr/>
          <p:nvPr/>
        </p:nvSpPr>
        <p:spPr>
          <a:xfrm>
            <a:off x="4553712" y="1993392"/>
            <a:ext cx="347472" cy="347472"/>
          </a:xfrm>
          <a:prstGeom prst="roundRect">
            <a:avLst>
              <a:gd name="adj" fmla="val 57895"/>
            </a:avLst>
          </a:prstGeom>
          <a:solidFill>
            <a:srgbClr val="B57A16"/>
          </a:solidFill>
          <a:ln w="12700">
            <a:solidFill>
              <a:srgbClr val="B57A16"/>
            </a:solidFill>
            <a:prstDash val="solid"/>
          </a:ln>
        </p:spPr>
      </p:sp>
      <p:sp>
        <p:nvSpPr>
          <p:cNvPr id="12" name="Text 10"/>
          <p:cNvSpPr/>
          <p:nvPr/>
        </p:nvSpPr>
        <p:spPr>
          <a:xfrm>
            <a:off x="455371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5371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Khối lượng cảnh báo lớn hơn mức cần diễn giải</a:t>
            </a:r>
            <a:endParaRPr lang="en-US" sz="1300" dirty="0"/>
          </a:p>
        </p:txBody>
      </p:sp>
      <p:sp>
        <p:nvSpPr>
          <p:cNvPr id="14" name="Text 12"/>
          <p:cNvSpPr/>
          <p:nvPr/>
        </p:nvSpPr>
        <p:spPr>
          <a:xfrm>
            <a:off x="455371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Chỉ riêng lab nhỏ, một cửa sổ 24 giờ đã ghi nhận khoảng 580 cảnh báo. Đưa nguyên bản ghi JSON vào mô hình vừa tốn token vừa làm giảm độ chính xác.</a:t>
            </a:r>
            <a:endParaRPr lang="en-US" sz="1050" dirty="0"/>
          </a:p>
        </p:txBody>
      </p:sp>
      <p:sp>
        <p:nvSpPr>
          <p:cNvPr id="15" name="Shape 13"/>
          <p:cNvSpPr/>
          <p:nvPr/>
        </p:nvSpPr>
        <p:spPr>
          <a:xfrm>
            <a:off x="8046720" y="1755648"/>
            <a:ext cx="3566160" cy="2834640"/>
          </a:xfrm>
          <a:prstGeom prst="roundRect">
            <a:avLst>
              <a:gd name="adj" fmla="val 2903"/>
            </a:avLst>
          </a:prstGeom>
          <a:solidFill>
            <a:srgbClr val="FBF1DC"/>
          </a:solidFill>
          <a:ln w="9525">
            <a:solidFill>
              <a:srgbClr val="EBD9AE"/>
            </a:solidFill>
            <a:prstDash val="solid"/>
          </a:ln>
        </p:spPr>
      </p:sp>
      <p:sp>
        <p:nvSpPr>
          <p:cNvPr id="16" name="Shape 14"/>
          <p:cNvSpPr/>
          <p:nvPr/>
        </p:nvSpPr>
        <p:spPr>
          <a:xfrm>
            <a:off x="8302752" y="1993392"/>
            <a:ext cx="347472" cy="347472"/>
          </a:xfrm>
          <a:prstGeom prst="roundRect">
            <a:avLst>
              <a:gd name="adj" fmla="val 57895"/>
            </a:avLst>
          </a:prstGeom>
          <a:solidFill>
            <a:srgbClr val="B57A16"/>
          </a:solidFill>
          <a:ln w="12700">
            <a:solidFill>
              <a:srgbClr val="B57A16"/>
            </a:solidFill>
            <a:prstDash val="solid"/>
          </a:ln>
        </p:spPr>
      </p:sp>
      <p:sp>
        <p:nvSpPr>
          <p:cNvPr id="17" name="Text 15"/>
          <p:cNvSpPr/>
          <p:nvPr/>
        </p:nvSpPr>
        <p:spPr>
          <a:xfrm>
            <a:off x="830275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0275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Log gốc do kẻ tấn công điều khiển một phần</a:t>
            </a:r>
            <a:endParaRPr lang="en-US" sz="1300" dirty="0"/>
          </a:p>
        </p:txBody>
      </p:sp>
      <p:sp>
        <p:nvSpPr>
          <p:cNvPr id="19" name="Text 17"/>
          <p:cNvSpPr/>
          <p:nvPr/>
        </p:nvSpPr>
        <p:spPr>
          <a:xfrm>
            <a:off x="830275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Tên tài khoản đăng nhập, chuỗi user-agent hay đường dẫn HTTP đều do bên ngoài đặt — có thể chứa văn bản giống chỉ dẫn hệ thống.</a:t>
            </a:r>
            <a:endParaRPr lang="en-US" sz="1050" dirty="0"/>
          </a:p>
        </p:txBody>
      </p:sp>
      <p:sp>
        <p:nvSpPr>
          <p:cNvPr id="20" name="Shape 18"/>
          <p:cNvSpPr/>
          <p:nvPr/>
        </p:nvSpPr>
        <p:spPr>
          <a:xfrm>
            <a:off x="548640" y="4791456"/>
            <a:ext cx="11064240" cy="932688"/>
          </a:xfrm>
          <a:prstGeom prst="roundRect">
            <a:avLst>
              <a:gd name="adj" fmla="val 7843"/>
            </a:avLst>
          </a:prstGeom>
          <a:solidFill>
            <a:srgbClr val="E1EDF6"/>
          </a:solidFill>
          <a:ln w="9525">
            <a:solidFill>
              <a:srgbClr val="BFD8EA"/>
            </a:solidFill>
            <a:prstDash val="solid"/>
          </a:ln>
        </p:spPr>
      </p:sp>
      <p:sp>
        <p:nvSpPr>
          <p:cNvPr id="21" name="Text 19"/>
          <p:cNvSpPr/>
          <p:nvPr/>
        </p:nvSpPr>
        <p:spPr>
          <a:xfrm>
            <a:off x="804672" y="4791456"/>
            <a:ext cx="10552176" cy="932688"/>
          </a:xfrm>
          <a:prstGeom prst="rect">
            <a:avLst/>
          </a:prstGeom>
          <a:noFill/>
          <a:ln/>
        </p:spPr>
        <p:txBody>
          <a:bodyPr wrap="square" lIns="0" tIns="0" rIns="0" bIns="0" rtlCol="0" anchor="ctr"/>
          <a:lstStyle/>
          <a:p>
            <a:pPr algn="l" indent="0" marL="0">
              <a:buNone/>
            </a:pPr>
            <a:r>
              <a:rPr lang="en-US" sz="1150" b="1" dirty="0">
                <a:solidFill>
                  <a:srgbClr val="2C6E9B"/>
                </a:solidFill>
                <a:latin typeface="Calibri" pitchFamily="34" charset="0"/>
                <a:ea typeface="Calibri" pitchFamily="34" charset="-122"/>
                <a:cs typeface="Calibri" pitchFamily="34" charset="-120"/>
              </a:rPr>
              <a:t>Một ranh giới năng lực khác cũng được xác định trong quá trình thử nghiệm: quét cổng bằng nmap không sinh ra cảnh báo nào,</a:t>
            </a:r>
            <a:endParaRPr lang="en-US" sz="1150" dirty="0"/>
          </a:p>
          <a:p>
            <a:pPr algn="l" indent="0" marL="0">
              <a:buNone/>
            </a:pPr>
            <a:r>
              <a:rPr lang="en-US" sz="1150" b="1" dirty="0">
                <a:solidFill>
                  <a:srgbClr val="2C6E9B"/>
                </a:solidFill>
                <a:latin typeface="Calibri" pitchFamily="34" charset="0"/>
                <a:ea typeface="Calibri" pitchFamily="34" charset="-122"/>
                <a:cs typeface="Calibri" pitchFamily="34" charset="-120"/>
              </a:rPr>
              <a:t>vì Wazuh giám sát dựa trên máy chủ và phân tích nhật ký chứ không phân tích lưu lượng mạng.</a:t>
            </a:r>
            <a:endParaRPr lang="en-US" sz="1150" dirty="0"/>
          </a:p>
        </p:txBody>
      </p:sp>
      <p:sp>
        <p:nvSpPr>
          <p:cNvPr id="22" name="Text 20"/>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Nguyễn Trung Nguyên — lab Wazuh, agent, kịch bản sinh cảnh báo</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Đinh Tuấn Dương — mô-đun đọc và trích xuất</a:t>
            </a:r>
            <a:endParaRPr lang="en-US" sz="900" dirty="0"/>
          </a:p>
        </p:txBody>
      </p:sp>
      <p:sp>
        <p:nvSpPr>
          <p:cNvPr id="23" name="Text 21"/>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928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1 · GIẢI PHÁP</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Đọc có điều kiện từ Indexer, trích chọn lọc trước khi chạm tới mô hình</a:t>
            </a:r>
            <a:endParaRPr lang="en-US" sz="2600" dirty="0"/>
          </a:p>
        </p:txBody>
      </p:sp>
      <p:sp>
        <p:nvSpPr>
          <p:cNvPr id="5" name="Shape 3"/>
          <p:cNvSpPr/>
          <p:nvPr/>
        </p:nvSpPr>
        <p:spPr>
          <a:xfrm>
            <a:off x="548640" y="1737360"/>
            <a:ext cx="7635240" cy="640080"/>
          </a:xfrm>
          <a:prstGeom prst="roundRect">
            <a:avLst>
              <a:gd name="adj" fmla="val 12857"/>
            </a:avLst>
          </a:prstGeom>
          <a:solidFill>
            <a:srgbClr val="F2F6FA"/>
          </a:solidFill>
          <a:ln w="9525">
            <a:solidFill>
              <a:srgbClr val="D7E2EC"/>
            </a:solidFill>
            <a:prstDash val="solid"/>
          </a:ln>
        </p:spPr>
      </p:sp>
      <p:sp>
        <p:nvSpPr>
          <p:cNvPr id="6" name="Shape 4"/>
          <p:cNvSpPr/>
          <p:nvPr/>
        </p:nvSpPr>
        <p:spPr>
          <a:xfrm>
            <a:off x="768096" y="1892808"/>
            <a:ext cx="329184" cy="329184"/>
          </a:xfrm>
          <a:prstGeom prst="roundRect">
            <a:avLst>
              <a:gd name="adj" fmla="val 61111"/>
            </a:avLst>
          </a:prstGeom>
          <a:solidFill>
            <a:srgbClr val="1F9E86"/>
          </a:solidFill>
          <a:ln w="12700">
            <a:solidFill>
              <a:srgbClr val="1F9E86"/>
            </a:solidFill>
            <a:prstDash val="solid"/>
          </a:ln>
        </p:spPr>
      </p:sp>
      <p:sp>
        <p:nvSpPr>
          <p:cNvPr id="7" name="Text 5"/>
          <p:cNvSpPr/>
          <p:nvPr/>
        </p:nvSpPr>
        <p:spPr>
          <a:xfrm>
            <a:off x="768096" y="1892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25296" y="1737360"/>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Truy vấn Indexer API cổng 9200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POST /wazuh-alerts-*/_search; thông tin xác thực Indexer tách riêng khỏi Wazuh API.</a:t>
            </a:r>
            <a:endParaRPr lang="en-US" sz="1150" dirty="0"/>
          </a:p>
        </p:txBody>
      </p:sp>
      <p:sp>
        <p:nvSpPr>
          <p:cNvPr id="9" name="Shape 7"/>
          <p:cNvSpPr/>
          <p:nvPr/>
        </p:nvSpPr>
        <p:spPr>
          <a:xfrm>
            <a:off x="548640" y="2487168"/>
            <a:ext cx="7635240" cy="640080"/>
          </a:xfrm>
          <a:prstGeom prst="roundRect">
            <a:avLst>
              <a:gd name="adj" fmla="val 12857"/>
            </a:avLst>
          </a:prstGeom>
          <a:solidFill>
            <a:srgbClr val="FFFFFF"/>
          </a:solidFill>
          <a:ln w="9525">
            <a:solidFill>
              <a:srgbClr val="D7E2EC"/>
            </a:solidFill>
            <a:prstDash val="solid"/>
          </a:ln>
        </p:spPr>
      </p:sp>
      <p:sp>
        <p:nvSpPr>
          <p:cNvPr id="10" name="Shape 8"/>
          <p:cNvSpPr/>
          <p:nvPr/>
        </p:nvSpPr>
        <p:spPr>
          <a:xfrm>
            <a:off x="768096" y="2642616"/>
            <a:ext cx="329184" cy="329184"/>
          </a:xfrm>
          <a:prstGeom prst="roundRect">
            <a:avLst>
              <a:gd name="adj" fmla="val 61111"/>
            </a:avLst>
          </a:prstGeom>
          <a:solidFill>
            <a:srgbClr val="1F9E86"/>
          </a:solidFill>
          <a:ln w="12700">
            <a:solidFill>
              <a:srgbClr val="1F9E86"/>
            </a:solidFill>
            <a:prstDash val="solid"/>
          </a:ln>
        </p:spPr>
      </p:sp>
      <p:sp>
        <p:nvSpPr>
          <p:cNvPr id="11" name="Text 9"/>
          <p:cNvSpPr/>
          <p:nvPr/>
        </p:nvSpPr>
        <p:spPr>
          <a:xfrm>
            <a:off x="768096" y="26426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25296" y="2487168"/>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Hai chế độ tiếp nhận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Theo lô cho đánh giá và gần thời gian thực cho vận hành, dùng chung một đường xử lý.</a:t>
            </a:r>
            <a:endParaRPr lang="en-US" sz="1150" dirty="0"/>
          </a:p>
        </p:txBody>
      </p:sp>
      <p:sp>
        <p:nvSpPr>
          <p:cNvPr id="13" name="Shape 11"/>
          <p:cNvSpPr/>
          <p:nvPr/>
        </p:nvSpPr>
        <p:spPr>
          <a:xfrm>
            <a:off x="548640" y="3236976"/>
            <a:ext cx="7635240" cy="640080"/>
          </a:xfrm>
          <a:prstGeom prst="roundRect">
            <a:avLst>
              <a:gd name="adj" fmla="val 12857"/>
            </a:avLst>
          </a:prstGeom>
          <a:solidFill>
            <a:srgbClr val="F2F6FA"/>
          </a:solidFill>
          <a:ln w="9525">
            <a:solidFill>
              <a:srgbClr val="D7E2EC"/>
            </a:solidFill>
            <a:prstDash val="solid"/>
          </a:ln>
        </p:spPr>
      </p:sp>
      <p:sp>
        <p:nvSpPr>
          <p:cNvPr id="14" name="Shape 12"/>
          <p:cNvSpPr/>
          <p:nvPr/>
        </p:nvSpPr>
        <p:spPr>
          <a:xfrm>
            <a:off x="768096" y="3392424"/>
            <a:ext cx="329184" cy="329184"/>
          </a:xfrm>
          <a:prstGeom prst="roundRect">
            <a:avLst>
              <a:gd name="adj" fmla="val 61111"/>
            </a:avLst>
          </a:prstGeom>
          <a:solidFill>
            <a:srgbClr val="1F9E86"/>
          </a:solidFill>
          <a:ln w="12700">
            <a:solidFill>
              <a:srgbClr val="1F9E86"/>
            </a:solidFill>
            <a:prstDash val="solid"/>
          </a:ln>
        </p:spPr>
      </p:sp>
      <p:sp>
        <p:nvSpPr>
          <p:cNvPr id="15" name="Text 13"/>
          <p:cNvSpPr/>
          <p:nvPr/>
        </p:nvSpPr>
        <p:spPr>
          <a:xfrm>
            <a:off x="768096" y="3392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225296" y="3236976"/>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Chống trùng theo mã cảnh báo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Mỗi cảnh báo mang mã định danh duy nhất; mô-đun lưu lại mã đã xử lý.</a:t>
            </a:r>
            <a:endParaRPr lang="en-US" sz="1150" dirty="0"/>
          </a:p>
        </p:txBody>
      </p:sp>
      <p:sp>
        <p:nvSpPr>
          <p:cNvPr id="17" name="Shape 15"/>
          <p:cNvSpPr/>
          <p:nvPr/>
        </p:nvSpPr>
        <p:spPr>
          <a:xfrm>
            <a:off x="548640" y="3986784"/>
            <a:ext cx="7635240" cy="640080"/>
          </a:xfrm>
          <a:prstGeom prst="roundRect">
            <a:avLst>
              <a:gd name="adj" fmla="val 12857"/>
            </a:avLst>
          </a:prstGeom>
          <a:solidFill>
            <a:srgbClr val="FFFFFF"/>
          </a:solidFill>
          <a:ln w="9525">
            <a:solidFill>
              <a:srgbClr val="D7E2EC"/>
            </a:solidFill>
            <a:prstDash val="solid"/>
          </a:ln>
        </p:spPr>
      </p:sp>
      <p:sp>
        <p:nvSpPr>
          <p:cNvPr id="18" name="Shape 16"/>
          <p:cNvSpPr/>
          <p:nvPr/>
        </p:nvSpPr>
        <p:spPr>
          <a:xfrm>
            <a:off x="768096" y="4142232"/>
            <a:ext cx="329184" cy="329184"/>
          </a:xfrm>
          <a:prstGeom prst="roundRect">
            <a:avLst>
              <a:gd name="adj" fmla="val 61111"/>
            </a:avLst>
          </a:prstGeom>
          <a:solidFill>
            <a:srgbClr val="1F9E86"/>
          </a:solidFill>
          <a:ln w="12700">
            <a:solidFill>
              <a:srgbClr val="1F9E86"/>
            </a:solidFill>
            <a:prstDash val="solid"/>
          </a:ln>
        </p:spPr>
      </p:sp>
      <p:sp>
        <p:nvSpPr>
          <p:cNvPr id="19" name="Text 17"/>
          <p:cNvSpPr/>
          <p:nvPr/>
        </p:nvSpPr>
        <p:spPr>
          <a:xfrm>
            <a:off x="768096" y="41422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225296" y="3986784"/>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Nối lại đúng vị trí sau gián đoạn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Ghi mốc thời gian truy vấn gần nhất để không bỏ sót cảnh báo phát sinh khi mất kết nối.</a:t>
            </a:r>
            <a:endParaRPr lang="en-US" sz="1150" dirty="0"/>
          </a:p>
        </p:txBody>
      </p:sp>
      <p:sp>
        <p:nvSpPr>
          <p:cNvPr id="21" name="Shape 19"/>
          <p:cNvSpPr/>
          <p:nvPr/>
        </p:nvSpPr>
        <p:spPr>
          <a:xfrm>
            <a:off x="548640" y="4736592"/>
            <a:ext cx="7635240" cy="640080"/>
          </a:xfrm>
          <a:prstGeom prst="roundRect">
            <a:avLst>
              <a:gd name="adj" fmla="val 12857"/>
            </a:avLst>
          </a:prstGeom>
          <a:solidFill>
            <a:srgbClr val="F2F6FA"/>
          </a:solidFill>
          <a:ln w="9525">
            <a:solidFill>
              <a:srgbClr val="D7E2EC"/>
            </a:solidFill>
            <a:prstDash val="solid"/>
          </a:ln>
        </p:spPr>
      </p:sp>
      <p:sp>
        <p:nvSpPr>
          <p:cNvPr id="22" name="Shape 20"/>
          <p:cNvSpPr/>
          <p:nvPr/>
        </p:nvSpPr>
        <p:spPr>
          <a:xfrm>
            <a:off x="768096" y="4892040"/>
            <a:ext cx="329184" cy="329184"/>
          </a:xfrm>
          <a:prstGeom prst="roundRect">
            <a:avLst>
              <a:gd name="adj" fmla="val 61111"/>
            </a:avLst>
          </a:prstGeom>
          <a:solidFill>
            <a:srgbClr val="1F9E86"/>
          </a:solidFill>
          <a:ln w="12700">
            <a:solidFill>
              <a:srgbClr val="1F9E86"/>
            </a:solidFill>
            <a:prstDash val="solid"/>
          </a:ln>
        </p:spPr>
      </p:sp>
      <p:sp>
        <p:nvSpPr>
          <p:cNvPr id="23" name="Text 21"/>
          <p:cNvSpPr/>
          <p:nvPr/>
        </p:nvSpPr>
        <p:spPr>
          <a:xfrm>
            <a:off x="768096" y="48920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225296" y="4736592"/>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Trích 10 trường theo khai báo cấu hình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Định danh luật, mức độ, thực thể liên quan, thời gian và tri thức MITRE đính kèm.</a:t>
            </a:r>
            <a:endParaRPr lang="en-US" sz="1150" dirty="0"/>
          </a:p>
        </p:txBody>
      </p:sp>
      <p:sp>
        <p:nvSpPr>
          <p:cNvPr id="25" name="Shape 23"/>
          <p:cNvSpPr/>
          <p:nvPr/>
        </p:nvSpPr>
        <p:spPr>
          <a:xfrm>
            <a:off x="548640" y="5486400"/>
            <a:ext cx="7635240" cy="640080"/>
          </a:xfrm>
          <a:prstGeom prst="roundRect">
            <a:avLst>
              <a:gd name="adj" fmla="val 12857"/>
            </a:avLst>
          </a:prstGeom>
          <a:solidFill>
            <a:srgbClr val="FFFFFF"/>
          </a:solidFill>
          <a:ln w="9525">
            <a:solidFill>
              <a:srgbClr val="D7E2EC"/>
            </a:solidFill>
            <a:prstDash val="solid"/>
          </a:ln>
        </p:spPr>
      </p:sp>
      <p:sp>
        <p:nvSpPr>
          <p:cNvPr id="26" name="Shape 24"/>
          <p:cNvSpPr/>
          <p:nvPr/>
        </p:nvSpPr>
        <p:spPr>
          <a:xfrm>
            <a:off x="768096" y="5641848"/>
            <a:ext cx="329184" cy="329184"/>
          </a:xfrm>
          <a:prstGeom prst="roundRect">
            <a:avLst>
              <a:gd name="adj" fmla="val 61111"/>
            </a:avLst>
          </a:prstGeom>
          <a:solidFill>
            <a:srgbClr val="1F9E86"/>
          </a:solidFill>
          <a:ln w="12700">
            <a:solidFill>
              <a:srgbClr val="1F9E86"/>
            </a:solidFill>
            <a:prstDash val="solid"/>
          </a:ln>
        </p:spPr>
      </p:sp>
      <p:sp>
        <p:nvSpPr>
          <p:cNvPr id="27" name="Text 25"/>
          <p:cNvSpPr/>
          <p:nvPr/>
        </p:nvSpPr>
        <p:spPr>
          <a:xfrm>
            <a:off x="768096" y="5641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1225296" y="5486400"/>
            <a:ext cx="6766560" cy="640080"/>
          </a:xfrm>
          <a:prstGeom prst="rect">
            <a:avLst/>
          </a:prstGeom>
          <a:noFill/>
          <a:ln/>
        </p:spPr>
        <p:txBody>
          <a:bodyPr wrap="square" lIns="0" tIns="0" rIns="0" bIns="0" rtlCol="0" anchor="ctr"/>
          <a:lstStyle/>
          <a:p>
            <a:pPr indent="0" marL="0">
              <a:lnSpc>
                <a:spcPct val="100000"/>
              </a:lnSpc>
              <a:buNone/>
            </a:pPr>
            <a:r>
              <a:rPr lang="en-US" sz="1150" b="1" dirty="0">
                <a:solidFill>
                  <a:srgbClr val="0D1B2A"/>
                </a:solidFill>
                <a:latin typeface="Calibri" pitchFamily="34" charset="0"/>
                <a:ea typeface="Calibri" pitchFamily="34" charset="-122"/>
                <a:cs typeface="Calibri" pitchFamily="34" charset="-120"/>
              </a:rPr>
              <a:t>Làm phẳng thành văn bản ngắn   </a:t>
            </a:r>
            <a:pPr indent="0" marL="0">
              <a:lnSpc>
                <a:spcPct val="100000"/>
              </a:lnSpc>
              <a:buNone/>
            </a:pPr>
            <a:r>
              <a:rPr lang="en-US" sz="950" dirty="0">
                <a:solidFill>
                  <a:srgbClr val="667E93"/>
                </a:solidFill>
                <a:latin typeface="Calibri" pitchFamily="34" charset="0"/>
                <a:ea typeface="Calibri" pitchFamily="34" charset="-122"/>
                <a:cs typeface="Calibri" pitchFamily="34" charset="-120"/>
              </a:rPr>
              <a:t>Loại bỏ trường vận hành nội bộ của Wazuh — không có giá trị phân tích, chỉ làm dài ngữ cảnh.</a:t>
            </a:r>
            <a:endParaRPr lang="en-US" sz="1150" dirty="0"/>
          </a:p>
        </p:txBody>
      </p:sp>
      <p:sp>
        <p:nvSpPr>
          <p:cNvPr id="29" name="Shape 27"/>
          <p:cNvSpPr/>
          <p:nvPr/>
        </p:nvSpPr>
        <p:spPr>
          <a:xfrm>
            <a:off x="8458200" y="1737360"/>
            <a:ext cx="3154680" cy="4407408"/>
          </a:xfrm>
          <a:prstGeom prst="roundRect">
            <a:avLst>
              <a:gd name="adj" fmla="val 2609"/>
            </a:avLst>
          </a:prstGeom>
          <a:solidFill>
            <a:srgbClr val="0D1B2A"/>
          </a:solidFill>
          <a:ln w="9525">
            <a:solidFill>
              <a:srgbClr val="0D1B2A"/>
            </a:solidFill>
            <a:prstDash val="solid"/>
          </a:ln>
        </p:spPr>
      </p:sp>
      <p:sp>
        <p:nvSpPr>
          <p:cNvPr id="30" name="Text 28"/>
          <p:cNvSpPr/>
          <p:nvPr/>
        </p:nvSpPr>
        <p:spPr>
          <a:xfrm>
            <a:off x="8695944" y="1883664"/>
            <a:ext cx="2697480" cy="237744"/>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MÃ NGUỒN DẪN CHIẾU</a:t>
            </a:r>
            <a:endParaRPr lang="en-US" sz="850" dirty="0"/>
          </a:p>
        </p:txBody>
      </p:sp>
      <p:sp>
        <p:nvSpPr>
          <p:cNvPr id="31" name="Shape 29"/>
          <p:cNvSpPr/>
          <p:nvPr/>
        </p:nvSpPr>
        <p:spPr>
          <a:xfrm>
            <a:off x="8695944" y="2231136"/>
            <a:ext cx="2679192" cy="329184"/>
          </a:xfrm>
          <a:prstGeom prst="roundRect">
            <a:avLst>
              <a:gd name="adj" fmla="val 22222"/>
            </a:avLst>
          </a:prstGeom>
          <a:solidFill>
            <a:srgbClr val="16293D"/>
          </a:solidFill>
          <a:ln w="9525">
            <a:solidFill>
              <a:srgbClr val="2B4A66"/>
            </a:solidFill>
            <a:prstDash val="solid"/>
          </a:ln>
        </p:spPr>
      </p:sp>
      <p:sp>
        <p:nvSpPr>
          <p:cNvPr id="32" name="Text 30"/>
          <p:cNvSpPr/>
          <p:nvPr/>
        </p:nvSpPr>
        <p:spPr>
          <a:xfrm>
            <a:off x="8823960" y="2231136"/>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ai_module/reader.py</a:t>
            </a:r>
            <a:endParaRPr lang="en-US" sz="900" dirty="0"/>
          </a:p>
        </p:txBody>
      </p:sp>
      <p:sp>
        <p:nvSpPr>
          <p:cNvPr id="33" name="Shape 31"/>
          <p:cNvSpPr/>
          <p:nvPr/>
        </p:nvSpPr>
        <p:spPr>
          <a:xfrm>
            <a:off x="8695944" y="2651760"/>
            <a:ext cx="2679192" cy="329184"/>
          </a:xfrm>
          <a:prstGeom prst="roundRect">
            <a:avLst>
              <a:gd name="adj" fmla="val 22222"/>
            </a:avLst>
          </a:prstGeom>
          <a:solidFill>
            <a:srgbClr val="16293D"/>
          </a:solidFill>
          <a:ln w="9525">
            <a:solidFill>
              <a:srgbClr val="2B4A66"/>
            </a:solidFill>
            <a:prstDash val="solid"/>
          </a:ln>
        </p:spPr>
      </p:sp>
      <p:sp>
        <p:nvSpPr>
          <p:cNvPr id="34" name="Text 32"/>
          <p:cNvSpPr/>
          <p:nvPr/>
        </p:nvSpPr>
        <p:spPr>
          <a:xfrm>
            <a:off x="8823960" y="2651760"/>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ai_module/extractor.py</a:t>
            </a:r>
            <a:endParaRPr lang="en-US" sz="900" dirty="0"/>
          </a:p>
        </p:txBody>
      </p:sp>
      <p:sp>
        <p:nvSpPr>
          <p:cNvPr id="35" name="Shape 33"/>
          <p:cNvSpPr/>
          <p:nvPr/>
        </p:nvSpPr>
        <p:spPr>
          <a:xfrm>
            <a:off x="8695944" y="3072384"/>
            <a:ext cx="2679192" cy="329184"/>
          </a:xfrm>
          <a:prstGeom prst="roundRect">
            <a:avLst>
              <a:gd name="adj" fmla="val 22222"/>
            </a:avLst>
          </a:prstGeom>
          <a:solidFill>
            <a:srgbClr val="16293D"/>
          </a:solidFill>
          <a:ln w="9525">
            <a:solidFill>
              <a:srgbClr val="2B4A66"/>
            </a:solidFill>
            <a:prstDash val="solid"/>
          </a:ln>
        </p:spPr>
      </p:sp>
      <p:sp>
        <p:nvSpPr>
          <p:cNvPr id="36" name="Text 34"/>
          <p:cNvSpPr/>
          <p:nvPr/>
        </p:nvSpPr>
        <p:spPr>
          <a:xfrm>
            <a:off x="8823960" y="3072384"/>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ai_module/analysis_service.py</a:t>
            </a:r>
            <a:endParaRPr lang="en-US" sz="900" dirty="0"/>
          </a:p>
        </p:txBody>
      </p:sp>
      <p:sp>
        <p:nvSpPr>
          <p:cNvPr id="37" name="Text 35"/>
          <p:cNvSpPr/>
          <p:nvPr/>
        </p:nvSpPr>
        <p:spPr>
          <a:xfrm>
            <a:off x="8695944" y="3566160"/>
            <a:ext cx="2679192" cy="2523744"/>
          </a:xfrm>
          <a:prstGeom prst="rect">
            <a:avLst/>
          </a:prstGeom>
          <a:noFill/>
          <a:ln/>
        </p:spPr>
        <p:txBody>
          <a:bodyPr wrap="square" lIns="0" tIns="0" rIns="0" bIns="0" rtlCol="0" anchor="t"/>
          <a:lstStyle/>
          <a:p>
            <a:pPr indent="0" marL="0">
              <a:lnSpc>
                <a:spcPct val="105000"/>
              </a:lnSpc>
              <a:buNone/>
            </a:pPr>
            <a:r>
              <a:rPr lang="en-US" sz="950" i="1" dirty="0">
                <a:solidFill>
                  <a:srgbClr val="8FB0C8"/>
                </a:solidFill>
                <a:latin typeface="Calibri" pitchFamily="34" charset="0"/>
                <a:ea typeface="Calibri" pitchFamily="34" charset="-122"/>
                <a:cs typeface="Calibri" pitchFamily="34" charset="-120"/>
              </a:rPr>
              <a:t>Tiêu chí chọn trường: một trường chỉ được đưa vào nếu nó phục vụ trực tiếp một trong bốn nhiệm vụ diễn giải — tóm tắt, nguyên nhân, mức nghiêm trọng, bước kiểm tra.</a:t>
            </a:r>
            <a:endParaRPr lang="en-US" sz="950" dirty="0"/>
          </a:p>
        </p:txBody>
      </p:sp>
      <p:sp>
        <p:nvSpPr>
          <p:cNvPr id="38" name="Text 36"/>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Đinh Tuấn Dương — mô-đun đọc và trích xuất</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Nguyễn Trung Nguyên — xác minh trên hệ thống Wazuh thật</a:t>
            </a:r>
            <a:endParaRPr lang="en-US" sz="900" dirty="0"/>
          </a:p>
        </p:txBody>
      </p:sp>
      <p:sp>
        <p:nvSpPr>
          <p:cNvPr id="39" name="Text 3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78434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78434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2 · ĐỘ TIN CẬY CỦA MÔ HÌNH</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Mô hình có thể sinh nội dung hợp lý nhưng không có căn cứ</a:t>
            </a:r>
            <a:endParaRPr lang="en-US" sz="2600" dirty="0"/>
          </a:p>
        </p:txBody>
      </p:sp>
      <p:sp>
        <p:nvSpPr>
          <p:cNvPr id="5" name="Shape 3"/>
          <p:cNvSpPr/>
          <p:nvPr/>
        </p:nvSpPr>
        <p:spPr>
          <a:xfrm>
            <a:off x="548640" y="1755648"/>
            <a:ext cx="3566160" cy="2834640"/>
          </a:xfrm>
          <a:prstGeom prst="roundRect">
            <a:avLst>
              <a:gd name="adj" fmla="val 2903"/>
            </a:avLst>
          </a:prstGeom>
          <a:solidFill>
            <a:srgbClr val="FBF1DC"/>
          </a:solidFill>
          <a:ln w="9525">
            <a:solidFill>
              <a:srgbClr val="EBD9AE"/>
            </a:solidFill>
            <a:prstDash val="solid"/>
          </a:ln>
        </p:spPr>
      </p:sp>
      <p:sp>
        <p:nvSpPr>
          <p:cNvPr id="6" name="Shape 4"/>
          <p:cNvSpPr/>
          <p:nvPr/>
        </p:nvSpPr>
        <p:spPr>
          <a:xfrm>
            <a:off x="804672" y="1993392"/>
            <a:ext cx="347472" cy="347472"/>
          </a:xfrm>
          <a:prstGeom prst="roundRect">
            <a:avLst>
              <a:gd name="adj" fmla="val 57895"/>
            </a:avLst>
          </a:prstGeom>
          <a:solidFill>
            <a:srgbClr val="B57A16"/>
          </a:solidFill>
          <a:ln w="12700">
            <a:solidFill>
              <a:srgbClr val="B57A16"/>
            </a:solidFill>
            <a:prstDash val="solid"/>
          </a:ln>
        </p:spPr>
      </p:sp>
      <p:sp>
        <p:nvSpPr>
          <p:cNvPr id="7" name="Text 5"/>
          <p:cNvSpPr/>
          <p:nvPr/>
        </p:nvSpPr>
        <p:spPr>
          <a:xfrm>
            <a:off x="80467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0467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Bịa tên hoặc mã kỹ thuật MITRE</a:t>
            </a:r>
            <a:endParaRPr lang="en-US" sz="1300" dirty="0"/>
          </a:p>
        </p:txBody>
      </p:sp>
      <p:sp>
        <p:nvSpPr>
          <p:cNvPr id="9" name="Text 7"/>
          <p:cNvSpPr/>
          <p:nvPr/>
        </p:nvSpPr>
        <p:spPr>
          <a:xfrm>
            <a:off x="80467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6/20 case chấm tay (30%). Ví dụ: T1053.002 bị gán sai tên ở case benign-503-01; T1070.002 sai tên ở case fim-554-02.</a:t>
            </a:r>
            <a:endParaRPr lang="en-US" sz="1050" dirty="0"/>
          </a:p>
        </p:txBody>
      </p:sp>
      <p:sp>
        <p:nvSpPr>
          <p:cNvPr id="10" name="Shape 8"/>
          <p:cNvSpPr/>
          <p:nvPr/>
        </p:nvSpPr>
        <p:spPr>
          <a:xfrm>
            <a:off x="4297680" y="1755648"/>
            <a:ext cx="3566160" cy="2834640"/>
          </a:xfrm>
          <a:prstGeom prst="roundRect">
            <a:avLst>
              <a:gd name="adj" fmla="val 2903"/>
            </a:avLst>
          </a:prstGeom>
          <a:solidFill>
            <a:srgbClr val="FBF1DC"/>
          </a:solidFill>
          <a:ln w="9525">
            <a:solidFill>
              <a:srgbClr val="EBD9AE"/>
            </a:solidFill>
            <a:prstDash val="solid"/>
          </a:ln>
        </p:spPr>
      </p:sp>
      <p:sp>
        <p:nvSpPr>
          <p:cNvPr id="11" name="Shape 9"/>
          <p:cNvSpPr/>
          <p:nvPr/>
        </p:nvSpPr>
        <p:spPr>
          <a:xfrm>
            <a:off x="4553712" y="1993392"/>
            <a:ext cx="347472" cy="347472"/>
          </a:xfrm>
          <a:prstGeom prst="roundRect">
            <a:avLst>
              <a:gd name="adj" fmla="val 57895"/>
            </a:avLst>
          </a:prstGeom>
          <a:solidFill>
            <a:srgbClr val="B57A16"/>
          </a:solidFill>
          <a:ln w="12700">
            <a:solidFill>
              <a:srgbClr val="B57A16"/>
            </a:solidFill>
            <a:prstDash val="solid"/>
          </a:ln>
        </p:spPr>
      </p:sp>
      <p:sp>
        <p:nvSpPr>
          <p:cNvPr id="12" name="Text 10"/>
          <p:cNvSpPr/>
          <p:nvPr/>
        </p:nvSpPr>
        <p:spPr>
          <a:xfrm>
            <a:off x="455371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5371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Gán mã tấn công cho sự kiện lành tính</a:t>
            </a:r>
            <a:endParaRPr lang="en-US" sz="1300" dirty="0"/>
          </a:p>
        </p:txBody>
      </p:sp>
      <p:sp>
        <p:nvSpPr>
          <p:cNvPr id="14" name="Text 12"/>
          <p:cNvSpPr/>
          <p:nvPr/>
        </p:nvSpPr>
        <p:spPr>
          <a:xfrm>
            <a:off x="455371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4/20 case (20%). Ví dụ: T1190 bị gán cho một thông báo về lỗ hổng đã được vá ở case benign-23502-01 và -02.</a:t>
            </a:r>
            <a:endParaRPr lang="en-US" sz="1050" dirty="0"/>
          </a:p>
        </p:txBody>
      </p:sp>
      <p:sp>
        <p:nvSpPr>
          <p:cNvPr id="15" name="Shape 13"/>
          <p:cNvSpPr/>
          <p:nvPr/>
        </p:nvSpPr>
        <p:spPr>
          <a:xfrm>
            <a:off x="8046720" y="1755648"/>
            <a:ext cx="3566160" cy="2834640"/>
          </a:xfrm>
          <a:prstGeom prst="roundRect">
            <a:avLst>
              <a:gd name="adj" fmla="val 2903"/>
            </a:avLst>
          </a:prstGeom>
          <a:solidFill>
            <a:srgbClr val="FBF1DC"/>
          </a:solidFill>
          <a:ln w="9525">
            <a:solidFill>
              <a:srgbClr val="EBD9AE"/>
            </a:solidFill>
            <a:prstDash val="solid"/>
          </a:ln>
        </p:spPr>
      </p:sp>
      <p:sp>
        <p:nvSpPr>
          <p:cNvPr id="16" name="Shape 14"/>
          <p:cNvSpPr/>
          <p:nvPr/>
        </p:nvSpPr>
        <p:spPr>
          <a:xfrm>
            <a:off x="8302752" y="1993392"/>
            <a:ext cx="347472" cy="347472"/>
          </a:xfrm>
          <a:prstGeom prst="roundRect">
            <a:avLst>
              <a:gd name="adj" fmla="val 57895"/>
            </a:avLst>
          </a:prstGeom>
          <a:solidFill>
            <a:srgbClr val="B57A16"/>
          </a:solidFill>
          <a:ln w="12700">
            <a:solidFill>
              <a:srgbClr val="B57A16"/>
            </a:solidFill>
            <a:prstDash val="solid"/>
          </a:ln>
        </p:spPr>
      </p:sp>
      <p:sp>
        <p:nvSpPr>
          <p:cNvPr id="17" name="Text 15"/>
          <p:cNvSpPr/>
          <p:nvPr/>
        </p:nvSpPr>
        <p:spPr>
          <a:xfrm>
            <a:off x="8302752" y="1993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02752" y="2450592"/>
            <a:ext cx="3054096" cy="694944"/>
          </a:xfrm>
          <a:prstGeom prst="rect">
            <a:avLst/>
          </a:prstGeom>
          <a:noFill/>
          <a:ln/>
        </p:spPr>
        <p:txBody>
          <a:bodyPr wrap="square" lIns="0" tIns="0" rIns="0" bIns="0" rtlCol="0" anchor="t"/>
          <a:lstStyle/>
          <a:p>
            <a:pPr indent="0" marL="0">
              <a:lnSpc>
                <a:spcPct val="95000"/>
              </a:lnSpc>
              <a:buNone/>
            </a:pPr>
            <a:r>
              <a:rPr lang="en-US" sz="1300" b="1" dirty="0">
                <a:solidFill>
                  <a:srgbClr val="0D1B2A"/>
                </a:solidFill>
                <a:latin typeface="Calibri" pitchFamily="34" charset="0"/>
                <a:ea typeface="Calibri" pitchFamily="34" charset="-122"/>
                <a:cs typeface="Calibri" pitchFamily="34" charset="-120"/>
              </a:rPr>
              <a:t>Suy diễn vượt quá dữ liệu quan sát được</a:t>
            </a:r>
            <a:endParaRPr lang="en-US" sz="1300" dirty="0"/>
          </a:p>
        </p:txBody>
      </p:sp>
      <p:sp>
        <p:nvSpPr>
          <p:cNvPr id="19" name="Text 17"/>
          <p:cNvSpPr/>
          <p:nvPr/>
        </p:nvSpPr>
        <p:spPr>
          <a:xfrm>
            <a:off x="8302752" y="3163824"/>
            <a:ext cx="3054096" cy="1280160"/>
          </a:xfrm>
          <a:prstGeom prst="rect">
            <a:avLst/>
          </a:prstGeom>
          <a:noFill/>
          <a:ln/>
        </p:spPr>
        <p:txBody>
          <a:bodyPr wrap="square" lIns="0" tIns="0" rIns="0" bIns="0" rtlCol="0" anchor="t"/>
          <a:lstStyle/>
          <a:p>
            <a:pPr indent="0" marL="0">
              <a:lnSpc>
                <a:spcPct val="106000"/>
              </a:lnSpc>
              <a:buNone/>
            </a:pPr>
            <a:r>
              <a:rPr lang="en-US" sz="1050" dirty="0">
                <a:solidFill>
                  <a:srgbClr val="22303F"/>
                </a:solidFill>
                <a:latin typeface="Calibri" pitchFamily="34" charset="0"/>
                <a:ea typeface="Calibri" pitchFamily="34" charset="-122"/>
                <a:cs typeface="Calibri" pitchFamily="34" charset="-120"/>
              </a:rPr>
              <a:t>3/20 case (15%). Ví dụ: kết luận "đang bị dò mật khẩu" chỉ từ một lần đăng nhập thất bại ở case ssh-5760-03.</a:t>
            </a:r>
            <a:endParaRPr lang="en-US" sz="1050" dirty="0"/>
          </a:p>
        </p:txBody>
      </p:sp>
      <p:sp>
        <p:nvSpPr>
          <p:cNvPr id="20" name="Shape 18"/>
          <p:cNvSpPr/>
          <p:nvPr/>
        </p:nvSpPr>
        <p:spPr>
          <a:xfrm>
            <a:off x="548640" y="4791456"/>
            <a:ext cx="11064240" cy="932688"/>
          </a:xfrm>
          <a:prstGeom prst="roundRect">
            <a:avLst>
              <a:gd name="adj" fmla="val 7843"/>
            </a:avLst>
          </a:prstGeom>
          <a:solidFill>
            <a:srgbClr val="FAE3DF"/>
          </a:solidFill>
          <a:ln w="9525">
            <a:solidFill>
              <a:srgbClr val="EFC8C1"/>
            </a:solidFill>
            <a:prstDash val="solid"/>
          </a:ln>
        </p:spPr>
      </p:sp>
      <p:sp>
        <p:nvSpPr>
          <p:cNvPr id="21" name="Text 19"/>
          <p:cNvSpPr/>
          <p:nvPr/>
        </p:nvSpPr>
        <p:spPr>
          <a:xfrm>
            <a:off x="804672" y="4791456"/>
            <a:ext cx="10552176" cy="932688"/>
          </a:xfrm>
          <a:prstGeom prst="rect">
            <a:avLst/>
          </a:prstGeom>
          <a:noFill/>
          <a:ln/>
        </p:spPr>
        <p:txBody>
          <a:bodyPr wrap="square" lIns="0" tIns="0" rIns="0" bIns="0" rtlCol="0" anchor="ctr"/>
          <a:lstStyle/>
          <a:p>
            <a:pPr algn="l" indent="0" marL="0">
              <a:buNone/>
            </a:pPr>
            <a:r>
              <a:rPr lang="en-US" sz="1250" b="1" dirty="0">
                <a:solidFill>
                  <a:srgbClr val="BE4B3B"/>
                </a:solidFill>
                <a:latin typeface="Calibri" pitchFamily="34" charset="0"/>
                <a:ea typeface="Calibri" pitchFamily="34" charset="-122"/>
                <a:cs typeface="Calibri" pitchFamily="34" charset="-120"/>
              </a:rPr>
              <a:t>Chỉ chạy mô hình cục bộ là chưa đủ. Cần tri thức tham chiếu có nhãn nguồn để đối chiếu ngược,</a:t>
            </a:r>
            <a:endParaRPr lang="en-US" sz="1250" dirty="0"/>
          </a:p>
          <a:p>
            <a:pPr algn="l" indent="0" marL="0">
              <a:buNone/>
            </a:pPr>
            <a:r>
              <a:rPr lang="en-US" sz="1250" b="1" dirty="0">
                <a:solidFill>
                  <a:srgbClr val="BE4B3B"/>
                </a:solidFill>
                <a:latin typeface="Calibri" pitchFamily="34" charset="0"/>
                <a:ea typeface="Calibri" pitchFamily="34" charset="-122"/>
                <a:cs typeface="Calibri" pitchFamily="34" charset="-120"/>
              </a:rPr>
              <a:t>ràng buộc lược đồ kèm cơ chế dự phòng, và ghi vết toàn bộ quá trình bằng giá trị băm.</a:t>
            </a:r>
            <a:endParaRPr lang="en-US" sz="1250" dirty="0"/>
          </a:p>
        </p:txBody>
      </p:sp>
      <p:sp>
        <p:nvSpPr>
          <p:cNvPr id="22" name="Text 20"/>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Đinh Tuấn Dương — thiết kế prompt và ràng buộc đầu ra</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Nguyễn Trung Nguyên — chấm điểm và rà soát bảo mật</a:t>
            </a:r>
            <a:endParaRPr lang="en-US" sz="900" dirty="0"/>
          </a:p>
        </p:txBody>
      </p:sp>
      <p:sp>
        <p:nvSpPr>
          <p:cNvPr id="23" name="Text 21"/>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928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2 · GIẢI PHÁP</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Tri thức tham chiếu, ràng buộc lược đồ và ghi vết tạo thành ba lớp kiểm soát</a:t>
            </a:r>
            <a:endParaRPr lang="en-US" sz="2600" dirty="0"/>
          </a:p>
        </p:txBody>
      </p:sp>
      <p:sp>
        <p:nvSpPr>
          <p:cNvPr id="5" name="Shape 3"/>
          <p:cNvSpPr/>
          <p:nvPr/>
        </p:nvSpPr>
        <p:spPr>
          <a:xfrm>
            <a:off x="548640" y="1719072"/>
            <a:ext cx="3566160" cy="3017520"/>
          </a:xfrm>
          <a:prstGeom prst="roundRect">
            <a:avLst>
              <a:gd name="adj" fmla="val 2727"/>
            </a:avLst>
          </a:prstGeom>
          <a:solidFill>
            <a:srgbClr val="E1EDF6"/>
          </a:solidFill>
          <a:ln w="9525">
            <a:solidFill>
              <a:srgbClr val="BFD8EA"/>
            </a:solidFill>
            <a:prstDash val="solid"/>
          </a:ln>
        </p:spPr>
      </p:sp>
      <p:sp>
        <p:nvSpPr>
          <p:cNvPr id="6" name="Shape 4"/>
          <p:cNvSpPr/>
          <p:nvPr/>
        </p:nvSpPr>
        <p:spPr>
          <a:xfrm>
            <a:off x="804672" y="1938528"/>
            <a:ext cx="347472" cy="347472"/>
          </a:xfrm>
          <a:prstGeom prst="roundRect">
            <a:avLst>
              <a:gd name="adj" fmla="val 57895"/>
            </a:avLst>
          </a:prstGeom>
          <a:solidFill>
            <a:srgbClr val="2C6E9B"/>
          </a:solidFill>
          <a:ln w="12700">
            <a:solidFill>
              <a:srgbClr val="2C6E9B"/>
            </a:solidFill>
            <a:prstDash val="solid"/>
          </a:ln>
        </p:spPr>
      </p:sp>
      <p:sp>
        <p:nvSpPr>
          <p:cNvPr id="7" name="Text 5"/>
          <p:cNvSpPr/>
          <p:nvPr/>
        </p:nvSpPr>
        <p:spPr>
          <a:xfrm>
            <a:off x="804672" y="1938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43584" y="1938528"/>
            <a:ext cx="2743200" cy="347472"/>
          </a:xfrm>
          <a:prstGeom prst="rect">
            <a:avLst/>
          </a:prstGeom>
          <a:noFill/>
          <a:ln/>
        </p:spPr>
        <p:txBody>
          <a:bodyPr wrap="square" lIns="0" tIns="0" rIns="0" bIns="0" rtlCol="0" anchor="ctr"/>
          <a:lstStyle/>
          <a:p>
            <a:pPr indent="0" marL="0">
              <a:buNone/>
            </a:pPr>
            <a:r>
              <a:rPr lang="en-US" sz="1450" b="1" dirty="0">
                <a:solidFill>
                  <a:srgbClr val="2C6E9B"/>
                </a:solidFill>
                <a:latin typeface="Calibri" pitchFamily="34" charset="0"/>
                <a:ea typeface="Calibri" pitchFamily="34" charset="-122"/>
                <a:cs typeface="Calibri" pitchFamily="34" charset="-120"/>
              </a:rPr>
              <a:t>Tri thức tham chiếu</a:t>
            </a:r>
            <a:endParaRPr lang="en-US" sz="1450" dirty="0"/>
          </a:p>
        </p:txBody>
      </p:sp>
      <p:sp>
        <p:nvSpPr>
          <p:cNvPr id="9" name="Shape 7"/>
          <p:cNvSpPr/>
          <p:nvPr/>
        </p:nvSpPr>
        <p:spPr>
          <a:xfrm>
            <a:off x="822960" y="2578608"/>
            <a:ext cx="128016" cy="128016"/>
          </a:xfrm>
          <a:prstGeom prst="roundRect">
            <a:avLst>
              <a:gd name="adj" fmla="val 50000"/>
            </a:avLst>
          </a:prstGeom>
          <a:solidFill>
            <a:srgbClr val="2C6E9B"/>
          </a:solidFill>
          <a:ln w="12700">
            <a:solidFill>
              <a:srgbClr val="2C6E9B"/>
            </a:solidFill>
            <a:prstDash val="solid"/>
          </a:ln>
        </p:spPr>
      </p:sp>
      <p:sp>
        <p:nvSpPr>
          <p:cNvPr id="10" name="Text 8"/>
          <p:cNvSpPr/>
          <p:nvPr/>
        </p:nvSpPr>
        <p:spPr>
          <a:xfrm>
            <a:off x="1078992" y="2468880"/>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ChromaDB cục bộ, embedding bằng nomic-embed-text</a:t>
            </a:r>
            <a:endParaRPr lang="en-US" sz="1000" dirty="0"/>
          </a:p>
        </p:txBody>
      </p:sp>
      <p:sp>
        <p:nvSpPr>
          <p:cNvPr id="11" name="Shape 9"/>
          <p:cNvSpPr/>
          <p:nvPr/>
        </p:nvSpPr>
        <p:spPr>
          <a:xfrm>
            <a:off x="822960" y="3328416"/>
            <a:ext cx="128016" cy="128016"/>
          </a:xfrm>
          <a:prstGeom prst="roundRect">
            <a:avLst>
              <a:gd name="adj" fmla="val 50000"/>
            </a:avLst>
          </a:prstGeom>
          <a:solidFill>
            <a:srgbClr val="2C6E9B"/>
          </a:solidFill>
          <a:ln w="12700">
            <a:solidFill>
              <a:srgbClr val="2C6E9B"/>
            </a:solidFill>
            <a:prstDash val="solid"/>
          </a:ln>
        </p:spPr>
      </p:sp>
      <p:sp>
        <p:nvSpPr>
          <p:cNvPr id="12" name="Text 10"/>
          <p:cNvSpPr/>
          <p:nvPr/>
        </p:nvSpPr>
        <p:spPr>
          <a:xfrm>
            <a:off x="1078992" y="3218688"/>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Truy vấn theo mã luật, mô tả luật và mã kỹ thuật MITRE nếu có sẵn</a:t>
            </a:r>
            <a:endParaRPr lang="en-US" sz="1000" dirty="0"/>
          </a:p>
        </p:txBody>
      </p:sp>
      <p:sp>
        <p:nvSpPr>
          <p:cNvPr id="13" name="Shape 11"/>
          <p:cNvSpPr/>
          <p:nvPr/>
        </p:nvSpPr>
        <p:spPr>
          <a:xfrm>
            <a:off x="822960" y="4078224"/>
            <a:ext cx="128016" cy="128016"/>
          </a:xfrm>
          <a:prstGeom prst="roundRect">
            <a:avLst>
              <a:gd name="adj" fmla="val 50000"/>
            </a:avLst>
          </a:prstGeom>
          <a:solidFill>
            <a:srgbClr val="2C6E9B"/>
          </a:solidFill>
          <a:ln w="12700">
            <a:solidFill>
              <a:srgbClr val="2C6E9B"/>
            </a:solidFill>
            <a:prstDash val="solid"/>
          </a:ln>
        </p:spPr>
      </p:sp>
      <p:sp>
        <p:nvSpPr>
          <p:cNvPr id="14" name="Text 12"/>
          <p:cNvSpPr/>
          <p:nvPr/>
        </p:nvSpPr>
        <p:spPr>
          <a:xfrm>
            <a:off x="1078992" y="3968496"/>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Mỗi đoạn kèm nhãn nguồn tường minh để đối chiếu ngược khi mô hình đưa nhận định</a:t>
            </a:r>
            <a:endParaRPr lang="en-US" sz="1000" dirty="0"/>
          </a:p>
        </p:txBody>
      </p:sp>
      <p:sp>
        <p:nvSpPr>
          <p:cNvPr id="15" name="Shape 13"/>
          <p:cNvSpPr/>
          <p:nvPr/>
        </p:nvSpPr>
        <p:spPr>
          <a:xfrm>
            <a:off x="4297680" y="1719072"/>
            <a:ext cx="3566160" cy="3017520"/>
          </a:xfrm>
          <a:prstGeom prst="roundRect">
            <a:avLst>
              <a:gd name="adj" fmla="val 2727"/>
            </a:avLst>
          </a:prstGeom>
          <a:solidFill>
            <a:srgbClr val="DCF0EB"/>
          </a:solidFill>
          <a:ln w="9525">
            <a:solidFill>
              <a:srgbClr val="BCE0D7"/>
            </a:solidFill>
            <a:prstDash val="solid"/>
          </a:ln>
        </p:spPr>
      </p:sp>
      <p:sp>
        <p:nvSpPr>
          <p:cNvPr id="16" name="Shape 14"/>
          <p:cNvSpPr/>
          <p:nvPr/>
        </p:nvSpPr>
        <p:spPr>
          <a:xfrm>
            <a:off x="4553712" y="1938528"/>
            <a:ext cx="347472" cy="347472"/>
          </a:xfrm>
          <a:prstGeom prst="roundRect">
            <a:avLst>
              <a:gd name="adj" fmla="val 57895"/>
            </a:avLst>
          </a:prstGeom>
          <a:solidFill>
            <a:srgbClr val="1F9E86"/>
          </a:solidFill>
          <a:ln w="12700">
            <a:solidFill>
              <a:srgbClr val="1F9E86"/>
            </a:solidFill>
            <a:prstDash val="solid"/>
          </a:ln>
        </p:spPr>
      </p:sp>
      <p:sp>
        <p:nvSpPr>
          <p:cNvPr id="17" name="Text 15"/>
          <p:cNvSpPr/>
          <p:nvPr/>
        </p:nvSpPr>
        <p:spPr>
          <a:xfrm>
            <a:off x="4553712" y="1938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4992624" y="1938528"/>
            <a:ext cx="2743200" cy="347472"/>
          </a:xfrm>
          <a:prstGeom prst="rect">
            <a:avLst/>
          </a:prstGeom>
          <a:noFill/>
          <a:ln/>
        </p:spPr>
        <p:txBody>
          <a:bodyPr wrap="square" lIns="0" tIns="0" rIns="0" bIns="0" rtlCol="0" anchor="ctr"/>
          <a:lstStyle/>
          <a:p>
            <a:pPr indent="0" marL="0">
              <a:buNone/>
            </a:pPr>
            <a:r>
              <a:rPr lang="en-US" sz="1450" b="1" dirty="0">
                <a:solidFill>
                  <a:srgbClr val="1F9E86"/>
                </a:solidFill>
                <a:latin typeface="Calibri" pitchFamily="34" charset="0"/>
                <a:ea typeface="Calibri" pitchFamily="34" charset="-122"/>
                <a:cs typeface="Calibri" pitchFamily="34" charset="-120"/>
              </a:rPr>
              <a:t>Ràng buộc lược đồ</a:t>
            </a:r>
            <a:endParaRPr lang="en-US" sz="1450" dirty="0"/>
          </a:p>
        </p:txBody>
      </p:sp>
      <p:sp>
        <p:nvSpPr>
          <p:cNvPr id="19" name="Shape 17"/>
          <p:cNvSpPr/>
          <p:nvPr/>
        </p:nvSpPr>
        <p:spPr>
          <a:xfrm>
            <a:off x="4572000" y="2578608"/>
            <a:ext cx="128016" cy="128016"/>
          </a:xfrm>
          <a:prstGeom prst="roundRect">
            <a:avLst>
              <a:gd name="adj" fmla="val 50000"/>
            </a:avLst>
          </a:prstGeom>
          <a:solidFill>
            <a:srgbClr val="1F9E86"/>
          </a:solidFill>
          <a:ln w="12700">
            <a:solidFill>
              <a:srgbClr val="1F9E86"/>
            </a:solidFill>
            <a:prstDash val="solid"/>
          </a:ln>
        </p:spPr>
      </p:sp>
      <p:sp>
        <p:nvSpPr>
          <p:cNvPr id="20" name="Text 18"/>
          <p:cNvSpPr/>
          <p:nvPr/>
        </p:nvSpPr>
        <p:spPr>
          <a:xfrm>
            <a:off x="4828032" y="2468880"/>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Chỉ dẫn hệ thống được phiên bản hóa: soc-contract-v1</a:t>
            </a:r>
            <a:endParaRPr lang="en-US" sz="1000" dirty="0"/>
          </a:p>
        </p:txBody>
      </p:sp>
      <p:sp>
        <p:nvSpPr>
          <p:cNvPr id="21" name="Shape 19"/>
          <p:cNvSpPr/>
          <p:nvPr/>
        </p:nvSpPr>
        <p:spPr>
          <a:xfrm>
            <a:off x="4572000" y="3328416"/>
            <a:ext cx="128016" cy="128016"/>
          </a:xfrm>
          <a:prstGeom prst="roundRect">
            <a:avLst>
              <a:gd name="adj" fmla="val 50000"/>
            </a:avLst>
          </a:prstGeom>
          <a:solidFill>
            <a:srgbClr val="1F9E86"/>
          </a:solidFill>
          <a:ln w="12700">
            <a:solidFill>
              <a:srgbClr val="1F9E86"/>
            </a:solidFill>
            <a:prstDash val="solid"/>
          </a:ln>
        </p:spPr>
      </p:sp>
      <p:sp>
        <p:nvSpPr>
          <p:cNvPr id="22" name="Text 20"/>
          <p:cNvSpPr/>
          <p:nvPr/>
        </p:nvSpPr>
        <p:spPr>
          <a:xfrm>
            <a:off x="4828032" y="3218688"/>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Tham số format của Ollama nhận trực tiếp JSON Schema đầy đủ</a:t>
            </a:r>
            <a:endParaRPr lang="en-US" sz="1000" dirty="0"/>
          </a:p>
        </p:txBody>
      </p:sp>
      <p:sp>
        <p:nvSpPr>
          <p:cNvPr id="23" name="Shape 21"/>
          <p:cNvSpPr/>
          <p:nvPr/>
        </p:nvSpPr>
        <p:spPr>
          <a:xfrm>
            <a:off x="4572000" y="4078224"/>
            <a:ext cx="128016" cy="128016"/>
          </a:xfrm>
          <a:prstGeom prst="roundRect">
            <a:avLst>
              <a:gd name="adj" fmla="val 50000"/>
            </a:avLst>
          </a:prstGeom>
          <a:solidFill>
            <a:srgbClr val="1F9E86"/>
          </a:solidFill>
          <a:ln w="12700">
            <a:solidFill>
              <a:srgbClr val="1F9E86"/>
            </a:solidFill>
            <a:prstDash val="solid"/>
          </a:ln>
        </p:spPr>
      </p:sp>
      <p:sp>
        <p:nvSpPr>
          <p:cNvPr id="24" name="Text 22"/>
          <p:cNvSpPr/>
          <p:nvPr/>
        </p:nvSpPr>
        <p:spPr>
          <a:xfrm>
            <a:off x="4828032" y="3968496"/>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Nhiệt độ 0 và seed cố định để kết quả tái lập được giữa các lần chạy</a:t>
            </a:r>
            <a:endParaRPr lang="en-US" sz="1000" dirty="0"/>
          </a:p>
        </p:txBody>
      </p:sp>
      <p:sp>
        <p:nvSpPr>
          <p:cNvPr id="25" name="Shape 23"/>
          <p:cNvSpPr/>
          <p:nvPr/>
        </p:nvSpPr>
        <p:spPr>
          <a:xfrm>
            <a:off x="8046720" y="1719072"/>
            <a:ext cx="3566160" cy="3017520"/>
          </a:xfrm>
          <a:prstGeom prst="roundRect">
            <a:avLst>
              <a:gd name="adj" fmla="val 2727"/>
            </a:avLst>
          </a:prstGeom>
          <a:solidFill>
            <a:srgbClr val="FBF1DC"/>
          </a:solidFill>
          <a:ln w="9525">
            <a:solidFill>
              <a:srgbClr val="EBD9AE"/>
            </a:solidFill>
            <a:prstDash val="solid"/>
          </a:ln>
        </p:spPr>
      </p:sp>
      <p:sp>
        <p:nvSpPr>
          <p:cNvPr id="26" name="Shape 24"/>
          <p:cNvSpPr/>
          <p:nvPr/>
        </p:nvSpPr>
        <p:spPr>
          <a:xfrm>
            <a:off x="8302752" y="1938528"/>
            <a:ext cx="347472" cy="347472"/>
          </a:xfrm>
          <a:prstGeom prst="roundRect">
            <a:avLst>
              <a:gd name="adj" fmla="val 57895"/>
            </a:avLst>
          </a:prstGeom>
          <a:solidFill>
            <a:srgbClr val="B57A16"/>
          </a:solidFill>
          <a:ln w="12700">
            <a:solidFill>
              <a:srgbClr val="B57A16"/>
            </a:solidFill>
            <a:prstDash val="solid"/>
          </a:ln>
        </p:spPr>
      </p:sp>
      <p:sp>
        <p:nvSpPr>
          <p:cNvPr id="27" name="Text 25"/>
          <p:cNvSpPr/>
          <p:nvPr/>
        </p:nvSpPr>
        <p:spPr>
          <a:xfrm>
            <a:off x="8302752" y="1938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p:nvPr/>
        </p:nvSpPr>
        <p:spPr>
          <a:xfrm>
            <a:off x="8741664" y="1938528"/>
            <a:ext cx="2743200" cy="347472"/>
          </a:xfrm>
          <a:prstGeom prst="rect">
            <a:avLst/>
          </a:prstGeom>
          <a:noFill/>
          <a:ln/>
        </p:spPr>
        <p:txBody>
          <a:bodyPr wrap="square" lIns="0" tIns="0" rIns="0" bIns="0" rtlCol="0" anchor="ctr"/>
          <a:lstStyle/>
          <a:p>
            <a:pPr indent="0" marL="0">
              <a:buNone/>
            </a:pPr>
            <a:r>
              <a:rPr lang="en-US" sz="1450" b="1" dirty="0">
                <a:solidFill>
                  <a:srgbClr val="B57A16"/>
                </a:solidFill>
                <a:latin typeface="Calibri" pitchFamily="34" charset="0"/>
                <a:ea typeface="Calibri" pitchFamily="34" charset="-122"/>
                <a:cs typeface="Calibri" pitchFamily="34" charset="-120"/>
              </a:rPr>
              <a:t>Xác thực và ghi vết</a:t>
            </a:r>
            <a:endParaRPr lang="en-US" sz="1450" dirty="0"/>
          </a:p>
        </p:txBody>
      </p:sp>
      <p:sp>
        <p:nvSpPr>
          <p:cNvPr id="29" name="Shape 27"/>
          <p:cNvSpPr/>
          <p:nvPr/>
        </p:nvSpPr>
        <p:spPr>
          <a:xfrm>
            <a:off x="8321040" y="2578608"/>
            <a:ext cx="128016" cy="128016"/>
          </a:xfrm>
          <a:prstGeom prst="roundRect">
            <a:avLst>
              <a:gd name="adj" fmla="val 50000"/>
            </a:avLst>
          </a:prstGeom>
          <a:solidFill>
            <a:srgbClr val="B57A16"/>
          </a:solidFill>
          <a:ln w="12700">
            <a:solidFill>
              <a:srgbClr val="B57A16"/>
            </a:solidFill>
            <a:prstDash val="solid"/>
          </a:ln>
        </p:spPr>
      </p:sp>
      <p:sp>
        <p:nvSpPr>
          <p:cNvPr id="30" name="Text 28"/>
          <p:cNvSpPr/>
          <p:nvPr/>
        </p:nvSpPr>
        <p:spPr>
          <a:xfrm>
            <a:off x="8577072" y="2468880"/>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Chuỗi kiểm tra 10 bước: JSON → object → khóa → kiểu → giá trị enum</a:t>
            </a:r>
            <a:endParaRPr lang="en-US" sz="1000" dirty="0"/>
          </a:p>
        </p:txBody>
      </p:sp>
      <p:sp>
        <p:nvSpPr>
          <p:cNvPr id="31" name="Shape 29"/>
          <p:cNvSpPr/>
          <p:nvPr/>
        </p:nvSpPr>
        <p:spPr>
          <a:xfrm>
            <a:off x="8321040" y="3328416"/>
            <a:ext cx="128016" cy="128016"/>
          </a:xfrm>
          <a:prstGeom prst="roundRect">
            <a:avLst>
              <a:gd name="adj" fmla="val 50000"/>
            </a:avLst>
          </a:prstGeom>
          <a:solidFill>
            <a:srgbClr val="B57A16"/>
          </a:solidFill>
          <a:ln w="12700">
            <a:solidFill>
              <a:srgbClr val="B57A16"/>
            </a:solidFill>
            <a:prstDash val="solid"/>
          </a:ln>
        </p:spPr>
      </p:sp>
      <p:sp>
        <p:nvSpPr>
          <p:cNvPr id="32" name="Text 30"/>
          <p:cNvSpPr/>
          <p:nvPr/>
        </p:nvSpPr>
        <p:spPr>
          <a:xfrm>
            <a:off x="8577072" y="3218688"/>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Thất bại ở bất kỳ bước nào đều trả kết quả dự phòng kèm lý do</a:t>
            </a:r>
            <a:endParaRPr lang="en-US" sz="1000" dirty="0"/>
          </a:p>
        </p:txBody>
      </p:sp>
      <p:sp>
        <p:nvSpPr>
          <p:cNvPr id="33" name="Shape 31"/>
          <p:cNvSpPr/>
          <p:nvPr/>
        </p:nvSpPr>
        <p:spPr>
          <a:xfrm>
            <a:off x="8321040" y="4078224"/>
            <a:ext cx="128016" cy="128016"/>
          </a:xfrm>
          <a:prstGeom prst="roundRect">
            <a:avLst>
              <a:gd name="adj" fmla="val 50000"/>
            </a:avLst>
          </a:prstGeom>
          <a:solidFill>
            <a:srgbClr val="B57A16"/>
          </a:solidFill>
          <a:ln w="12700">
            <a:solidFill>
              <a:srgbClr val="B57A16"/>
            </a:solidFill>
            <a:prstDash val="solid"/>
          </a:ln>
        </p:spPr>
      </p:sp>
      <p:sp>
        <p:nvSpPr>
          <p:cNvPr id="34" name="Text 32"/>
          <p:cNvSpPr/>
          <p:nvPr/>
        </p:nvSpPr>
        <p:spPr>
          <a:xfrm>
            <a:off x="8577072" y="3968496"/>
            <a:ext cx="2761488" cy="676656"/>
          </a:xfrm>
          <a:prstGeom prst="rect">
            <a:avLst/>
          </a:prstGeom>
          <a:noFill/>
          <a:ln/>
        </p:spPr>
        <p:txBody>
          <a:bodyPr wrap="square" lIns="0" tIns="0" rIns="0" bIns="0" rtlCol="0" anchor="t"/>
          <a:lstStyle/>
          <a:p>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Lưu 5 giá trị băm SHA-256 và phiên bản chỉ dẫn, không lưu văn bản gốc</a:t>
            </a:r>
            <a:endParaRPr lang="en-US" sz="1000" dirty="0"/>
          </a:p>
        </p:txBody>
      </p:sp>
      <p:sp>
        <p:nvSpPr>
          <p:cNvPr id="35" name="Shape 33"/>
          <p:cNvSpPr/>
          <p:nvPr/>
        </p:nvSpPr>
        <p:spPr>
          <a:xfrm>
            <a:off x="548640" y="4882896"/>
            <a:ext cx="6903720" cy="1243584"/>
          </a:xfrm>
          <a:prstGeom prst="roundRect">
            <a:avLst>
              <a:gd name="adj" fmla="val 6618"/>
            </a:avLst>
          </a:prstGeom>
          <a:solidFill>
            <a:srgbClr val="F2F6FA"/>
          </a:solidFill>
          <a:ln w="9525">
            <a:solidFill>
              <a:srgbClr val="D7E2EC"/>
            </a:solidFill>
            <a:prstDash val="solid"/>
          </a:ln>
        </p:spPr>
      </p:sp>
      <p:sp>
        <p:nvSpPr>
          <p:cNvPr id="36" name="Text 34"/>
          <p:cNvSpPr/>
          <p:nvPr/>
        </p:nvSpPr>
        <p:spPr>
          <a:xfrm>
            <a:off x="786384" y="4992624"/>
            <a:ext cx="457200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THÔNG SỐ KHO TRI THỨC ĐÃ XÂY DỰNG</a:t>
            </a:r>
            <a:endParaRPr lang="en-US" sz="850" dirty="0"/>
          </a:p>
        </p:txBody>
      </p:sp>
      <p:sp>
        <p:nvSpPr>
          <p:cNvPr id="37" name="Text 35"/>
          <p:cNvSpPr/>
          <p:nvPr/>
        </p:nvSpPr>
        <p:spPr>
          <a:xfrm>
            <a:off x="822960" y="5248656"/>
            <a:ext cx="1554480" cy="384048"/>
          </a:xfrm>
          <a:prstGeom prst="rect">
            <a:avLst/>
          </a:prstGeom>
          <a:noFill/>
          <a:ln/>
        </p:spPr>
        <p:txBody>
          <a:bodyPr wrap="square" lIns="0" tIns="0" rIns="0" bIns="0" rtlCol="0" anchor="ctr"/>
          <a:lstStyle/>
          <a:p>
            <a:pPr indent="0" marL="0">
              <a:buNone/>
            </a:pPr>
            <a:r>
              <a:rPr lang="en-US" sz="2100" b="1" dirty="0">
                <a:solidFill>
                  <a:srgbClr val="0E6B5A"/>
                </a:solidFill>
                <a:latin typeface="Calibri" pitchFamily="34" charset="0"/>
                <a:ea typeface="Calibri" pitchFamily="34" charset="-122"/>
                <a:cs typeface="Calibri" pitchFamily="34" charset="-120"/>
              </a:rPr>
              <a:t>19</a:t>
            </a:r>
            <a:endParaRPr lang="en-US" sz="2100" dirty="0"/>
          </a:p>
        </p:txBody>
      </p:sp>
      <p:sp>
        <p:nvSpPr>
          <p:cNvPr id="38" name="Text 36"/>
          <p:cNvSpPr/>
          <p:nvPr/>
        </p:nvSpPr>
        <p:spPr>
          <a:xfrm>
            <a:off x="822960" y="5632704"/>
            <a:ext cx="1572768" cy="329184"/>
          </a:xfrm>
          <a:prstGeom prst="rect">
            <a:avLst/>
          </a:prstGeom>
          <a:noFill/>
          <a:ln/>
        </p:spPr>
        <p:txBody>
          <a:bodyPr wrap="square" lIns="0" tIns="0" rIns="0" bIns="0" rtlCol="0" anchor="t"/>
          <a:lstStyle/>
          <a:p>
            <a:pPr indent="0" marL="0">
              <a:lnSpc>
                <a:spcPct val="95000"/>
              </a:lnSpc>
              <a:buNone/>
            </a:pPr>
            <a:r>
              <a:rPr lang="en-US" sz="900" dirty="0">
                <a:solidFill>
                  <a:srgbClr val="667E93"/>
                </a:solidFill>
                <a:latin typeface="Calibri" pitchFamily="34" charset="0"/>
                <a:ea typeface="Calibri" pitchFamily="34" charset="-122"/>
                <a:cs typeface="Calibri" pitchFamily="34" charset="-120"/>
              </a:rPr>
              <a:t>đoạn đã đánh chỉ mục</a:t>
            </a:r>
            <a:endParaRPr lang="en-US" sz="900" dirty="0"/>
          </a:p>
        </p:txBody>
      </p:sp>
      <p:sp>
        <p:nvSpPr>
          <p:cNvPr id="39" name="Text 37"/>
          <p:cNvSpPr/>
          <p:nvPr/>
        </p:nvSpPr>
        <p:spPr>
          <a:xfrm>
            <a:off x="2496312" y="5248656"/>
            <a:ext cx="1554480" cy="384048"/>
          </a:xfrm>
          <a:prstGeom prst="rect">
            <a:avLst/>
          </a:prstGeom>
          <a:noFill/>
          <a:ln/>
        </p:spPr>
        <p:txBody>
          <a:bodyPr wrap="square" lIns="0" tIns="0" rIns="0" bIns="0" rtlCol="0" anchor="ctr"/>
          <a:lstStyle/>
          <a:p>
            <a:pPr indent="0" marL="0">
              <a:buNone/>
            </a:pPr>
            <a:r>
              <a:rPr lang="en-US" sz="2100" b="1" dirty="0">
                <a:solidFill>
                  <a:srgbClr val="0E6B5A"/>
                </a:solidFill>
                <a:latin typeface="Calibri" pitchFamily="34" charset="0"/>
                <a:ea typeface="Calibri" pitchFamily="34" charset="-122"/>
                <a:cs typeface="Calibri" pitchFamily="34" charset="-120"/>
              </a:rPr>
              <a:t>3</a:t>
            </a:r>
            <a:endParaRPr lang="en-US" sz="2100" dirty="0"/>
          </a:p>
        </p:txBody>
      </p:sp>
      <p:sp>
        <p:nvSpPr>
          <p:cNvPr id="40" name="Text 38"/>
          <p:cNvSpPr/>
          <p:nvPr/>
        </p:nvSpPr>
        <p:spPr>
          <a:xfrm>
            <a:off x="2496312" y="5632704"/>
            <a:ext cx="1572768" cy="329184"/>
          </a:xfrm>
          <a:prstGeom prst="rect">
            <a:avLst/>
          </a:prstGeom>
          <a:noFill/>
          <a:ln/>
        </p:spPr>
        <p:txBody>
          <a:bodyPr wrap="square" lIns="0" tIns="0" rIns="0" bIns="0" rtlCol="0" anchor="t"/>
          <a:lstStyle/>
          <a:p>
            <a:pPr indent="0" marL="0">
              <a:lnSpc>
                <a:spcPct val="95000"/>
              </a:lnSpc>
              <a:buNone/>
            </a:pPr>
            <a:r>
              <a:rPr lang="en-US" sz="900" dirty="0">
                <a:solidFill>
                  <a:srgbClr val="667E93"/>
                </a:solidFill>
                <a:latin typeface="Calibri" pitchFamily="34" charset="0"/>
                <a:ea typeface="Calibri" pitchFamily="34" charset="-122"/>
                <a:cs typeface="Calibri" pitchFamily="34" charset="-120"/>
              </a:rPr>
              <a:t>đoạn truy xuất mỗi lần</a:t>
            </a:r>
            <a:endParaRPr lang="en-US" sz="900" dirty="0"/>
          </a:p>
        </p:txBody>
      </p:sp>
      <p:sp>
        <p:nvSpPr>
          <p:cNvPr id="41" name="Text 39"/>
          <p:cNvSpPr/>
          <p:nvPr/>
        </p:nvSpPr>
        <p:spPr>
          <a:xfrm>
            <a:off x="4169664" y="5248656"/>
            <a:ext cx="1554480" cy="384048"/>
          </a:xfrm>
          <a:prstGeom prst="rect">
            <a:avLst/>
          </a:prstGeom>
          <a:noFill/>
          <a:ln/>
        </p:spPr>
        <p:txBody>
          <a:bodyPr wrap="square" lIns="0" tIns="0" rIns="0" bIns="0" rtlCol="0" anchor="ctr"/>
          <a:lstStyle/>
          <a:p>
            <a:pPr indent="0" marL="0">
              <a:buNone/>
            </a:pPr>
            <a:r>
              <a:rPr lang="en-US" sz="2100" b="1" dirty="0">
                <a:solidFill>
                  <a:srgbClr val="0E6B5A"/>
                </a:solidFill>
                <a:latin typeface="Calibri" pitchFamily="34" charset="0"/>
                <a:ea typeface="Calibri" pitchFamily="34" charset="-122"/>
                <a:cs typeface="Calibri" pitchFamily="34" charset="-120"/>
              </a:rPr>
              <a:t>1,0</a:t>
            </a:r>
            <a:endParaRPr lang="en-US" sz="2100" dirty="0"/>
          </a:p>
        </p:txBody>
      </p:sp>
      <p:sp>
        <p:nvSpPr>
          <p:cNvPr id="42" name="Text 40"/>
          <p:cNvSpPr/>
          <p:nvPr/>
        </p:nvSpPr>
        <p:spPr>
          <a:xfrm>
            <a:off x="4169664" y="5632704"/>
            <a:ext cx="1572768" cy="329184"/>
          </a:xfrm>
          <a:prstGeom prst="rect">
            <a:avLst/>
          </a:prstGeom>
          <a:noFill/>
          <a:ln/>
        </p:spPr>
        <p:txBody>
          <a:bodyPr wrap="square" lIns="0" tIns="0" rIns="0" bIns="0" rtlCol="0" anchor="t"/>
          <a:lstStyle/>
          <a:p>
            <a:pPr indent="0" marL="0">
              <a:lnSpc>
                <a:spcPct val="95000"/>
              </a:lnSpc>
              <a:buNone/>
            </a:pPr>
            <a:r>
              <a:rPr lang="en-US" sz="900" dirty="0">
                <a:solidFill>
                  <a:srgbClr val="667E93"/>
                </a:solidFill>
                <a:latin typeface="Calibri" pitchFamily="34" charset="0"/>
                <a:ea typeface="Calibri" pitchFamily="34" charset="-122"/>
                <a:cs typeface="Calibri" pitchFamily="34" charset="-120"/>
              </a:rPr>
              <a:t>ngưỡng khoảng cách</a:t>
            </a:r>
            <a:endParaRPr lang="en-US" sz="900" dirty="0"/>
          </a:p>
        </p:txBody>
      </p:sp>
      <p:sp>
        <p:nvSpPr>
          <p:cNvPr id="43" name="Text 41"/>
          <p:cNvSpPr/>
          <p:nvPr/>
        </p:nvSpPr>
        <p:spPr>
          <a:xfrm>
            <a:off x="5843016" y="5248656"/>
            <a:ext cx="1554480" cy="384048"/>
          </a:xfrm>
          <a:prstGeom prst="rect">
            <a:avLst/>
          </a:prstGeom>
          <a:noFill/>
          <a:ln/>
        </p:spPr>
        <p:txBody>
          <a:bodyPr wrap="square" lIns="0" tIns="0" rIns="0" bIns="0" rtlCol="0" anchor="ctr"/>
          <a:lstStyle/>
          <a:p>
            <a:pPr indent="0" marL="0">
              <a:buNone/>
            </a:pPr>
            <a:r>
              <a:rPr lang="en-US" sz="2100" b="1" dirty="0">
                <a:solidFill>
                  <a:srgbClr val="0E6B5A"/>
                </a:solidFill>
                <a:latin typeface="Calibri" pitchFamily="34" charset="0"/>
                <a:ea typeface="Calibri" pitchFamily="34" charset="-122"/>
                <a:cs typeface="Calibri" pitchFamily="34" charset="-120"/>
              </a:rPr>
              <a:t>2,95 s</a:t>
            </a:r>
            <a:endParaRPr lang="en-US" sz="2100" dirty="0"/>
          </a:p>
        </p:txBody>
      </p:sp>
      <p:sp>
        <p:nvSpPr>
          <p:cNvPr id="44" name="Text 42"/>
          <p:cNvSpPr/>
          <p:nvPr/>
        </p:nvSpPr>
        <p:spPr>
          <a:xfrm>
            <a:off x="5843016" y="5632704"/>
            <a:ext cx="1572768" cy="329184"/>
          </a:xfrm>
          <a:prstGeom prst="rect">
            <a:avLst/>
          </a:prstGeom>
          <a:noFill/>
          <a:ln/>
        </p:spPr>
        <p:txBody>
          <a:bodyPr wrap="square" lIns="0" tIns="0" rIns="0" bIns="0" rtlCol="0" anchor="t"/>
          <a:lstStyle/>
          <a:p>
            <a:pPr indent="0" marL="0">
              <a:lnSpc>
                <a:spcPct val="95000"/>
              </a:lnSpc>
              <a:buNone/>
            </a:pPr>
            <a:r>
              <a:rPr lang="en-US" sz="900" dirty="0">
                <a:solidFill>
                  <a:srgbClr val="667E93"/>
                </a:solidFill>
                <a:latin typeface="Calibri" pitchFamily="34" charset="0"/>
                <a:ea typeface="Calibri" pitchFamily="34" charset="-122"/>
                <a:cs typeface="Calibri" pitchFamily="34" charset="-120"/>
              </a:rPr>
              <a:t>đánh chỉ mục toàn bộ</a:t>
            </a:r>
            <a:endParaRPr lang="en-US" sz="900" dirty="0"/>
          </a:p>
        </p:txBody>
      </p:sp>
      <p:sp>
        <p:nvSpPr>
          <p:cNvPr id="45" name="Shape 43"/>
          <p:cNvSpPr/>
          <p:nvPr/>
        </p:nvSpPr>
        <p:spPr>
          <a:xfrm>
            <a:off x="7726680" y="4882896"/>
            <a:ext cx="3886200" cy="1243584"/>
          </a:xfrm>
          <a:prstGeom prst="roundRect">
            <a:avLst>
              <a:gd name="adj" fmla="val 6618"/>
            </a:avLst>
          </a:prstGeom>
          <a:solidFill>
            <a:srgbClr val="0D1B2A"/>
          </a:solidFill>
          <a:ln w="9525">
            <a:solidFill>
              <a:srgbClr val="0D1B2A"/>
            </a:solidFill>
            <a:prstDash val="solid"/>
          </a:ln>
        </p:spPr>
      </p:sp>
      <p:sp>
        <p:nvSpPr>
          <p:cNvPr id="46" name="Text 44"/>
          <p:cNvSpPr/>
          <p:nvPr/>
        </p:nvSpPr>
        <p:spPr>
          <a:xfrm>
            <a:off x="7964424" y="4992624"/>
            <a:ext cx="3383280" cy="237744"/>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MÃ NGUỒN DẪN CHIẾU</a:t>
            </a:r>
            <a:endParaRPr lang="en-US" sz="850" dirty="0"/>
          </a:p>
        </p:txBody>
      </p:sp>
      <p:sp>
        <p:nvSpPr>
          <p:cNvPr id="47" name="Text 45"/>
          <p:cNvSpPr/>
          <p:nvPr/>
        </p:nvSpPr>
        <p:spPr>
          <a:xfrm>
            <a:off x="7964424" y="5266944"/>
            <a:ext cx="3429000" cy="804672"/>
          </a:xfrm>
          <a:prstGeom prst="rect">
            <a:avLst/>
          </a:prstGeom>
          <a:noFill/>
          <a:ln/>
        </p:spPr>
        <p:txBody>
          <a:bodyPr wrap="square" lIns="0" tIns="0" rIns="0" bIns="0" rtlCol="0" anchor="t"/>
          <a:lstStyle/>
          <a:p>
            <a:pPr indent="0" marL="0">
              <a:lnSpc>
                <a:spcPct val="116000"/>
              </a:lnSpc>
              <a:buNone/>
            </a:pPr>
            <a:r>
              <a:rPr lang="en-US" sz="950" dirty="0">
                <a:solidFill>
                  <a:srgbClr val="A8C6DD"/>
                </a:solidFill>
                <a:latin typeface="Courier New" pitchFamily="34" charset="0"/>
                <a:ea typeface="Courier New" pitchFamily="34" charset="-122"/>
                <a:cs typeface="Courier New" pitchFamily="34" charset="-120"/>
              </a:rPr>
              <a:t>ai_module/rag.py</a:t>
            </a:r>
            <a:endParaRPr lang="en-US" sz="950" dirty="0"/>
          </a:p>
          <a:p>
            <a:pPr indent="0" marL="0">
              <a:lnSpc>
                <a:spcPct val="116000"/>
              </a:lnSpc>
              <a:buNone/>
            </a:pPr>
            <a:r>
              <a:rPr lang="en-US" sz="950" dirty="0">
                <a:solidFill>
                  <a:srgbClr val="A8C6DD"/>
                </a:solidFill>
                <a:latin typeface="Courier New" pitchFamily="34" charset="0"/>
                <a:ea typeface="Courier New" pitchFamily="34" charset="-122"/>
                <a:cs typeface="Courier New" pitchFamily="34" charset="-120"/>
              </a:rPr>
              <a:t>ai_module/llm.py</a:t>
            </a:r>
            <a:endParaRPr lang="en-US" sz="950" dirty="0"/>
          </a:p>
          <a:p>
            <a:pPr indent="0" marL="0">
              <a:lnSpc>
                <a:spcPct val="116000"/>
              </a:lnSpc>
              <a:buNone/>
            </a:pPr>
            <a:r>
              <a:rPr lang="en-US" sz="950" dirty="0">
                <a:solidFill>
                  <a:srgbClr val="A8C6DD"/>
                </a:solidFill>
                <a:latin typeface="Courier New" pitchFamily="34" charset="0"/>
                <a:ea typeface="Courier New" pitchFamily="34" charset="-122"/>
                <a:cs typeface="Courier New" pitchFamily="34" charset="-120"/>
              </a:rPr>
              <a:t>ai_module/create_rag_data.py</a:t>
            </a:r>
            <a:endParaRPr lang="en-US" sz="950" dirty="0"/>
          </a:p>
        </p:txBody>
      </p:sp>
      <p:sp>
        <p:nvSpPr>
          <p:cNvPr id="48" name="Text 46"/>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Đinh Tuấn Dương — truy xuất tri thức, prompt, xác thực đầu ra</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Nguyễn Trung Nguyên — kiểm thử tự động</a:t>
            </a:r>
            <a:endParaRPr lang="en-US" sz="900" dirty="0"/>
          </a:p>
        </p:txBody>
      </p:sp>
      <p:sp>
        <p:nvSpPr>
          <p:cNvPr id="49" name="Text 4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51002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51002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3 · QUY TRÌNH VẬN HÀNH</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Một lệnh dòng lệnh chứng minh được khả thi nhưng chưa dùng lặp lại được</a:t>
            </a:r>
            <a:endParaRPr lang="en-US" sz="2600" dirty="0"/>
          </a:p>
        </p:txBody>
      </p:sp>
      <p:sp>
        <p:nvSpPr>
          <p:cNvPr id="5" name="Shape 3"/>
          <p:cNvSpPr/>
          <p:nvPr/>
        </p:nvSpPr>
        <p:spPr>
          <a:xfrm>
            <a:off x="548640" y="1783080"/>
            <a:ext cx="3566160" cy="1920240"/>
          </a:xfrm>
          <a:prstGeom prst="roundRect">
            <a:avLst>
              <a:gd name="adj" fmla="val 4286"/>
            </a:avLst>
          </a:prstGeom>
          <a:solidFill>
            <a:srgbClr val="F2F6FA"/>
          </a:solidFill>
          <a:ln w="9525">
            <a:solidFill>
              <a:srgbClr val="D7E2EC"/>
            </a:solidFill>
            <a:prstDash val="solid"/>
          </a:ln>
        </p:spPr>
      </p:sp>
      <p:sp>
        <p:nvSpPr>
          <p:cNvPr id="6" name="Shape 4"/>
          <p:cNvSpPr/>
          <p:nvPr/>
        </p:nvSpPr>
        <p:spPr>
          <a:xfrm>
            <a:off x="804672" y="2011680"/>
            <a:ext cx="329184" cy="329184"/>
          </a:xfrm>
          <a:prstGeom prst="roundRect">
            <a:avLst>
              <a:gd name="adj" fmla="val 61111"/>
            </a:avLst>
          </a:prstGeom>
          <a:solidFill>
            <a:srgbClr val="2C6E9B"/>
          </a:solidFill>
          <a:ln w="12700">
            <a:solidFill>
              <a:srgbClr val="2C6E9B"/>
            </a:solidFill>
            <a:prstDash val="solid"/>
          </a:ln>
        </p:spPr>
      </p:sp>
      <p:sp>
        <p:nvSpPr>
          <p:cNvPr id="7" name="Text 5"/>
          <p:cNvSpPr/>
          <p:nvPr/>
        </p:nvSpPr>
        <p:spPr>
          <a:xfrm>
            <a:off x="804672" y="2011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804672" y="2432304"/>
            <a:ext cx="3054096" cy="585216"/>
          </a:xfrm>
          <a:prstGeom prst="rect">
            <a:avLst/>
          </a:prstGeom>
          <a:noFill/>
          <a:ln/>
        </p:spPr>
        <p:txBody>
          <a:bodyPr wrap="square" lIns="0" tIns="0" rIns="0" bIns="0" rtlCol="0" anchor="t"/>
          <a:lstStyle/>
          <a:p>
            <a:pPr indent="0" marL="0">
              <a:lnSpc>
                <a:spcPct val="95000"/>
              </a:lnSpc>
              <a:buNone/>
            </a:pPr>
            <a:r>
              <a:rPr lang="en-US" sz="1250" b="1" dirty="0">
                <a:solidFill>
                  <a:srgbClr val="0D1B2A"/>
                </a:solidFill>
                <a:latin typeface="Calibri" pitchFamily="34" charset="0"/>
                <a:ea typeface="Calibri" pitchFamily="34" charset="-122"/>
                <a:cs typeface="Calibri" pitchFamily="34" charset="-120"/>
              </a:rPr>
              <a:t>Chọn cửa sổ, mô hình và ngôn ngữ</a:t>
            </a:r>
            <a:endParaRPr lang="en-US" sz="1250" dirty="0"/>
          </a:p>
        </p:txBody>
      </p:sp>
      <p:sp>
        <p:nvSpPr>
          <p:cNvPr id="9" name="Text 7"/>
          <p:cNvSpPr/>
          <p:nvPr/>
        </p:nvSpPr>
        <p:spPr>
          <a:xfrm>
            <a:off x="804672" y="3017520"/>
            <a:ext cx="3054096" cy="566928"/>
          </a:xfrm>
          <a:prstGeom prst="rect">
            <a:avLst/>
          </a:prstGeom>
          <a:noFill/>
          <a:ln/>
        </p:spPr>
        <p:txBody>
          <a:bodyPr wrap="square" lIns="0" tIns="0" rIns="0" bIns="0" rtlCol="0" anchor="t"/>
          <a:lstStyle/>
          <a:p>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Người phân tích phải đổi được tham số mà không sửa mã nguồn.</a:t>
            </a:r>
            <a:endParaRPr lang="en-US" sz="1000" dirty="0"/>
          </a:p>
        </p:txBody>
      </p:sp>
      <p:sp>
        <p:nvSpPr>
          <p:cNvPr id="10" name="Shape 8"/>
          <p:cNvSpPr/>
          <p:nvPr/>
        </p:nvSpPr>
        <p:spPr>
          <a:xfrm>
            <a:off x="4297680" y="1783080"/>
            <a:ext cx="3566160" cy="1920240"/>
          </a:xfrm>
          <a:prstGeom prst="roundRect">
            <a:avLst>
              <a:gd name="adj" fmla="val 4286"/>
            </a:avLst>
          </a:prstGeom>
          <a:solidFill>
            <a:srgbClr val="F2F6FA"/>
          </a:solidFill>
          <a:ln w="9525">
            <a:solidFill>
              <a:srgbClr val="D7E2EC"/>
            </a:solidFill>
            <a:prstDash val="solid"/>
          </a:ln>
        </p:spPr>
      </p:sp>
      <p:sp>
        <p:nvSpPr>
          <p:cNvPr id="11" name="Shape 9"/>
          <p:cNvSpPr/>
          <p:nvPr/>
        </p:nvSpPr>
        <p:spPr>
          <a:xfrm>
            <a:off x="4553712" y="2011680"/>
            <a:ext cx="329184" cy="329184"/>
          </a:xfrm>
          <a:prstGeom prst="roundRect">
            <a:avLst>
              <a:gd name="adj" fmla="val 61111"/>
            </a:avLst>
          </a:prstGeom>
          <a:solidFill>
            <a:srgbClr val="2C6E9B"/>
          </a:solidFill>
          <a:ln w="12700">
            <a:solidFill>
              <a:srgbClr val="2C6E9B"/>
            </a:solidFill>
            <a:prstDash val="solid"/>
          </a:ln>
        </p:spPr>
      </p:sp>
      <p:sp>
        <p:nvSpPr>
          <p:cNvPr id="12" name="Text 10"/>
          <p:cNvSpPr/>
          <p:nvPr/>
        </p:nvSpPr>
        <p:spPr>
          <a:xfrm>
            <a:off x="4553712" y="2011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553712" y="2432304"/>
            <a:ext cx="3054096" cy="585216"/>
          </a:xfrm>
          <a:prstGeom prst="rect">
            <a:avLst/>
          </a:prstGeom>
          <a:noFill/>
          <a:ln/>
        </p:spPr>
        <p:txBody>
          <a:bodyPr wrap="square" lIns="0" tIns="0" rIns="0" bIns="0" rtlCol="0" anchor="t"/>
          <a:lstStyle/>
          <a:p>
            <a:pPr indent="0" marL="0">
              <a:lnSpc>
                <a:spcPct val="95000"/>
              </a:lnSpc>
              <a:buNone/>
            </a:pPr>
            <a:r>
              <a:rPr lang="en-US" sz="1250" b="1" dirty="0">
                <a:solidFill>
                  <a:srgbClr val="0D1B2A"/>
                </a:solidFill>
                <a:latin typeface="Calibri" pitchFamily="34" charset="0"/>
                <a:ea typeface="Calibri" pitchFamily="34" charset="-122"/>
                <a:cs typeface="Calibri" pitchFamily="34" charset="-120"/>
              </a:rPr>
              <a:t>Theo dõi trạng thái xử lý thật</a:t>
            </a:r>
            <a:endParaRPr lang="en-US" sz="1250" dirty="0"/>
          </a:p>
        </p:txBody>
      </p:sp>
      <p:sp>
        <p:nvSpPr>
          <p:cNvPr id="14" name="Text 12"/>
          <p:cNvSpPr/>
          <p:nvPr/>
        </p:nvSpPr>
        <p:spPr>
          <a:xfrm>
            <a:off x="4553712" y="3017520"/>
            <a:ext cx="3054096" cy="566928"/>
          </a:xfrm>
          <a:prstGeom prst="rect">
            <a:avLst/>
          </a:prstGeom>
          <a:noFill/>
          <a:ln/>
        </p:spPr>
        <p:txBody>
          <a:bodyPr wrap="square" lIns="0" tIns="0" rIns="0" bIns="0" rtlCol="0" anchor="t"/>
          <a:lstStyle/>
          <a:p>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Biết job đang ở bước nào, không phải đoán qua nhật ký terminal.</a:t>
            </a:r>
            <a:endParaRPr lang="en-US" sz="1000" dirty="0"/>
          </a:p>
        </p:txBody>
      </p:sp>
      <p:sp>
        <p:nvSpPr>
          <p:cNvPr id="15" name="Shape 13"/>
          <p:cNvSpPr/>
          <p:nvPr/>
        </p:nvSpPr>
        <p:spPr>
          <a:xfrm>
            <a:off x="8046720" y="1783080"/>
            <a:ext cx="3566160" cy="1920240"/>
          </a:xfrm>
          <a:prstGeom prst="roundRect">
            <a:avLst>
              <a:gd name="adj" fmla="val 4286"/>
            </a:avLst>
          </a:prstGeom>
          <a:solidFill>
            <a:srgbClr val="F2F6FA"/>
          </a:solidFill>
          <a:ln w="9525">
            <a:solidFill>
              <a:srgbClr val="D7E2EC"/>
            </a:solidFill>
            <a:prstDash val="solid"/>
          </a:ln>
        </p:spPr>
      </p:sp>
      <p:sp>
        <p:nvSpPr>
          <p:cNvPr id="16" name="Shape 14"/>
          <p:cNvSpPr/>
          <p:nvPr/>
        </p:nvSpPr>
        <p:spPr>
          <a:xfrm>
            <a:off x="8302752" y="2011680"/>
            <a:ext cx="329184" cy="329184"/>
          </a:xfrm>
          <a:prstGeom prst="roundRect">
            <a:avLst>
              <a:gd name="adj" fmla="val 61111"/>
            </a:avLst>
          </a:prstGeom>
          <a:solidFill>
            <a:srgbClr val="2C6E9B"/>
          </a:solidFill>
          <a:ln w="12700">
            <a:solidFill>
              <a:srgbClr val="2C6E9B"/>
            </a:solidFill>
            <a:prstDash val="solid"/>
          </a:ln>
        </p:spPr>
      </p:sp>
      <p:sp>
        <p:nvSpPr>
          <p:cNvPr id="17" name="Text 15"/>
          <p:cNvSpPr/>
          <p:nvPr/>
        </p:nvSpPr>
        <p:spPr>
          <a:xfrm>
            <a:off x="8302752" y="2011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302752" y="2432304"/>
            <a:ext cx="3054096" cy="585216"/>
          </a:xfrm>
          <a:prstGeom prst="rect">
            <a:avLst/>
          </a:prstGeom>
          <a:noFill/>
          <a:ln/>
        </p:spPr>
        <p:txBody>
          <a:bodyPr wrap="square" lIns="0" tIns="0" rIns="0" bIns="0" rtlCol="0" anchor="t"/>
          <a:lstStyle/>
          <a:p>
            <a:pPr indent="0" marL="0">
              <a:lnSpc>
                <a:spcPct val="95000"/>
              </a:lnSpc>
              <a:buNone/>
            </a:pPr>
            <a:r>
              <a:rPr lang="en-US" sz="1250" b="1" dirty="0">
                <a:solidFill>
                  <a:srgbClr val="0D1B2A"/>
                </a:solidFill>
                <a:latin typeface="Calibri" pitchFamily="34" charset="0"/>
                <a:ea typeface="Calibri" pitchFamily="34" charset="-122"/>
                <a:cs typeface="Calibri" pitchFamily="34" charset="-120"/>
              </a:rPr>
              <a:t>Xem lại kết quả cũ</a:t>
            </a:r>
            <a:endParaRPr lang="en-US" sz="1250" dirty="0"/>
          </a:p>
        </p:txBody>
      </p:sp>
      <p:sp>
        <p:nvSpPr>
          <p:cNvPr id="19" name="Text 17"/>
          <p:cNvSpPr/>
          <p:nvPr/>
        </p:nvSpPr>
        <p:spPr>
          <a:xfrm>
            <a:off x="8302752" y="3017520"/>
            <a:ext cx="3054096" cy="566928"/>
          </a:xfrm>
          <a:prstGeom prst="rect">
            <a:avLst/>
          </a:prstGeom>
          <a:noFill/>
          <a:ln/>
        </p:spPr>
        <p:txBody>
          <a:bodyPr wrap="square" lIns="0" tIns="0" rIns="0" bIns="0" rtlCol="0" anchor="t"/>
          <a:lstStyle/>
          <a:p>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Kết quả phải còn sau khi tải lại trang và sau khi khởi động lại ứng dụng.</a:t>
            </a:r>
            <a:endParaRPr lang="en-US" sz="1000" dirty="0"/>
          </a:p>
        </p:txBody>
      </p:sp>
      <p:sp>
        <p:nvSpPr>
          <p:cNvPr id="20" name="Shape 18"/>
          <p:cNvSpPr/>
          <p:nvPr/>
        </p:nvSpPr>
        <p:spPr>
          <a:xfrm>
            <a:off x="2423160" y="3858768"/>
            <a:ext cx="3566160" cy="1920240"/>
          </a:xfrm>
          <a:prstGeom prst="roundRect">
            <a:avLst>
              <a:gd name="adj" fmla="val 4286"/>
            </a:avLst>
          </a:prstGeom>
          <a:solidFill>
            <a:srgbClr val="F2F6FA"/>
          </a:solidFill>
          <a:ln w="9525">
            <a:solidFill>
              <a:srgbClr val="D7E2EC"/>
            </a:solidFill>
            <a:prstDash val="solid"/>
          </a:ln>
        </p:spPr>
      </p:sp>
      <p:sp>
        <p:nvSpPr>
          <p:cNvPr id="21" name="Shape 19"/>
          <p:cNvSpPr/>
          <p:nvPr/>
        </p:nvSpPr>
        <p:spPr>
          <a:xfrm>
            <a:off x="2679192" y="4087368"/>
            <a:ext cx="329184" cy="329184"/>
          </a:xfrm>
          <a:prstGeom prst="roundRect">
            <a:avLst>
              <a:gd name="adj" fmla="val 61111"/>
            </a:avLst>
          </a:prstGeom>
          <a:solidFill>
            <a:srgbClr val="2C6E9B"/>
          </a:solidFill>
          <a:ln w="12700">
            <a:solidFill>
              <a:srgbClr val="2C6E9B"/>
            </a:solidFill>
            <a:prstDash val="solid"/>
          </a:ln>
        </p:spPr>
      </p:sp>
      <p:sp>
        <p:nvSpPr>
          <p:cNvPr id="22" name="Text 20"/>
          <p:cNvSpPr/>
          <p:nvPr/>
        </p:nvSpPr>
        <p:spPr>
          <a:xfrm>
            <a:off x="2679192" y="40873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2679192" y="4507992"/>
            <a:ext cx="3054096" cy="585216"/>
          </a:xfrm>
          <a:prstGeom prst="rect">
            <a:avLst/>
          </a:prstGeom>
          <a:noFill/>
          <a:ln/>
        </p:spPr>
        <p:txBody>
          <a:bodyPr wrap="square" lIns="0" tIns="0" rIns="0" bIns="0" rtlCol="0" anchor="t"/>
          <a:lstStyle/>
          <a:p>
            <a:pPr indent="0" marL="0">
              <a:lnSpc>
                <a:spcPct val="95000"/>
              </a:lnSpc>
              <a:buNone/>
            </a:pPr>
            <a:r>
              <a:rPr lang="en-US" sz="1250" b="1" dirty="0">
                <a:solidFill>
                  <a:srgbClr val="0D1B2A"/>
                </a:solidFill>
                <a:latin typeface="Calibri" pitchFamily="34" charset="0"/>
                <a:ea typeface="Calibri" pitchFamily="34" charset="-122"/>
                <a:cs typeface="Calibri" pitchFamily="34" charset="-120"/>
              </a:rPr>
              <a:t>Ghi nhận đánh giá của người</a:t>
            </a:r>
            <a:endParaRPr lang="en-US" sz="1250" dirty="0"/>
          </a:p>
        </p:txBody>
      </p:sp>
      <p:sp>
        <p:nvSpPr>
          <p:cNvPr id="24" name="Text 22"/>
          <p:cNvSpPr/>
          <p:nvPr/>
        </p:nvSpPr>
        <p:spPr>
          <a:xfrm>
            <a:off x="2679192" y="5093208"/>
            <a:ext cx="3054096" cy="566928"/>
          </a:xfrm>
          <a:prstGeom prst="rect">
            <a:avLst/>
          </a:prstGeom>
          <a:noFill/>
          <a:ln/>
        </p:spPr>
        <p:txBody>
          <a:bodyPr wrap="square" lIns="0" tIns="0" rIns="0" bIns="0" rtlCol="0" anchor="t"/>
          <a:lstStyle/>
          <a:p>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Điều chỉnh mức, gắn nhãn, ghi chú — lưu tách biệt với khuyến nghị của mô hình.</a:t>
            </a:r>
            <a:endParaRPr lang="en-US" sz="1000" dirty="0"/>
          </a:p>
        </p:txBody>
      </p:sp>
      <p:sp>
        <p:nvSpPr>
          <p:cNvPr id="25" name="Shape 23"/>
          <p:cNvSpPr/>
          <p:nvPr/>
        </p:nvSpPr>
        <p:spPr>
          <a:xfrm>
            <a:off x="6172200" y="3858768"/>
            <a:ext cx="3566160" cy="1920240"/>
          </a:xfrm>
          <a:prstGeom prst="roundRect">
            <a:avLst>
              <a:gd name="adj" fmla="val 4286"/>
            </a:avLst>
          </a:prstGeom>
          <a:solidFill>
            <a:srgbClr val="F2F6FA"/>
          </a:solidFill>
          <a:ln w="9525">
            <a:solidFill>
              <a:srgbClr val="D7E2EC"/>
            </a:solidFill>
            <a:prstDash val="solid"/>
          </a:ln>
        </p:spPr>
      </p:sp>
      <p:sp>
        <p:nvSpPr>
          <p:cNvPr id="26" name="Shape 24"/>
          <p:cNvSpPr/>
          <p:nvPr/>
        </p:nvSpPr>
        <p:spPr>
          <a:xfrm>
            <a:off x="6428232" y="4087368"/>
            <a:ext cx="329184" cy="329184"/>
          </a:xfrm>
          <a:prstGeom prst="roundRect">
            <a:avLst>
              <a:gd name="adj" fmla="val 61111"/>
            </a:avLst>
          </a:prstGeom>
          <a:solidFill>
            <a:srgbClr val="2C6E9B"/>
          </a:solidFill>
          <a:ln w="12700">
            <a:solidFill>
              <a:srgbClr val="2C6E9B"/>
            </a:solidFill>
            <a:prstDash val="solid"/>
          </a:ln>
        </p:spPr>
      </p:sp>
      <p:sp>
        <p:nvSpPr>
          <p:cNvPr id="27" name="Text 25"/>
          <p:cNvSpPr/>
          <p:nvPr/>
        </p:nvSpPr>
        <p:spPr>
          <a:xfrm>
            <a:off x="6428232" y="40873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6428232" y="4507992"/>
            <a:ext cx="3054096" cy="585216"/>
          </a:xfrm>
          <a:prstGeom prst="rect">
            <a:avLst/>
          </a:prstGeom>
          <a:noFill/>
          <a:ln/>
        </p:spPr>
        <p:txBody>
          <a:bodyPr wrap="square" lIns="0" tIns="0" rIns="0" bIns="0" rtlCol="0" anchor="t"/>
          <a:lstStyle/>
          <a:p>
            <a:pPr indent="0" marL="0">
              <a:lnSpc>
                <a:spcPct val="95000"/>
              </a:lnSpc>
              <a:buNone/>
            </a:pPr>
            <a:r>
              <a:rPr lang="en-US" sz="1250" b="1" dirty="0">
                <a:solidFill>
                  <a:srgbClr val="0D1B2A"/>
                </a:solidFill>
                <a:latin typeface="Calibri" pitchFamily="34" charset="0"/>
                <a:ea typeface="Calibri" pitchFamily="34" charset="-122"/>
                <a:cs typeface="Calibri" pitchFamily="34" charset="-120"/>
              </a:rPr>
              <a:t>Xử lý lặp lại theo lịch</a:t>
            </a:r>
            <a:endParaRPr lang="en-US" sz="1250" dirty="0"/>
          </a:p>
        </p:txBody>
      </p:sp>
      <p:sp>
        <p:nvSpPr>
          <p:cNvPr id="29" name="Text 27"/>
          <p:cNvSpPr/>
          <p:nvPr/>
        </p:nvSpPr>
        <p:spPr>
          <a:xfrm>
            <a:off x="6428232" y="5093208"/>
            <a:ext cx="3054096" cy="566928"/>
          </a:xfrm>
          <a:prstGeom prst="rect">
            <a:avLst/>
          </a:prstGeom>
          <a:noFill/>
          <a:ln/>
        </p:spPr>
        <p:txBody>
          <a:bodyPr wrap="square" lIns="0" tIns="0" rIns="0" bIns="0" rtlCol="0" anchor="t"/>
          <a:lstStyle/>
          <a:p>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Sau gián đoạn phải chạy tiếp từ đúng mốc, không bỏ sót và không xử lý trùng.</a:t>
            </a:r>
            <a:endParaRPr lang="en-US" sz="1000" dirty="0"/>
          </a:p>
        </p:txBody>
      </p:sp>
      <p:sp>
        <p:nvSpPr>
          <p:cNvPr id="30" name="Text 28"/>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Đinh Tuấn Dương — giao diện, lưu trữ, lịch chạy, kênh gửi</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Nguyễn Trung Nguyên — kiểm thử vận hành</a:t>
            </a:r>
            <a:endParaRPr lang="en-US" sz="900" dirty="0"/>
          </a:p>
        </p:txBody>
      </p:sp>
      <p:sp>
        <p:nvSpPr>
          <p:cNvPr id="31" name="Text 2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928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3 · GIẢI PHÁP</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API cục bộ, worker và SQLite hợp thành một quy trình có thể truy vết</a:t>
            </a:r>
            <a:endParaRPr lang="en-US" sz="2600" dirty="0"/>
          </a:p>
        </p:txBody>
      </p:sp>
      <p:sp>
        <p:nvSpPr>
          <p:cNvPr id="5" name="Shape 3"/>
          <p:cNvSpPr/>
          <p:nvPr/>
        </p:nvSpPr>
        <p:spPr>
          <a:xfrm>
            <a:off x="548640" y="1737360"/>
            <a:ext cx="3749040" cy="1316736"/>
          </a:xfrm>
          <a:prstGeom prst="roundRect">
            <a:avLst>
              <a:gd name="adj" fmla="val 6250"/>
            </a:avLst>
          </a:prstGeom>
          <a:solidFill>
            <a:srgbClr val="F2F6FA"/>
          </a:solidFill>
          <a:ln w="9525">
            <a:solidFill>
              <a:srgbClr val="D7E2EC"/>
            </a:solidFill>
            <a:prstDash val="solid"/>
          </a:ln>
        </p:spPr>
      </p:sp>
      <p:sp>
        <p:nvSpPr>
          <p:cNvPr id="6" name="Shape 4"/>
          <p:cNvSpPr/>
          <p:nvPr/>
        </p:nvSpPr>
        <p:spPr>
          <a:xfrm>
            <a:off x="786384" y="1956816"/>
            <a:ext cx="310896" cy="310896"/>
          </a:xfrm>
          <a:prstGeom prst="roundRect">
            <a:avLst>
              <a:gd name="adj" fmla="val 64706"/>
            </a:avLst>
          </a:prstGeom>
          <a:solidFill>
            <a:srgbClr val="2C6E9B"/>
          </a:solidFill>
          <a:ln w="12700">
            <a:solidFill>
              <a:srgbClr val="2C6E9B"/>
            </a:solidFill>
            <a:prstDash val="solid"/>
          </a:ln>
        </p:spPr>
      </p:sp>
      <p:sp>
        <p:nvSpPr>
          <p:cNvPr id="7" name="Text 5"/>
          <p:cNvSpPr/>
          <p:nvPr/>
        </p:nvSpPr>
        <p:spPr>
          <a:xfrm>
            <a:off x="786384" y="195681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207008" y="192024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Flask phục vụ trên loopback</a:t>
            </a:r>
            <a:endParaRPr lang="en-US" sz="1150" dirty="0"/>
          </a:p>
        </p:txBody>
      </p:sp>
      <p:sp>
        <p:nvSpPr>
          <p:cNvPr id="9" name="Text 7"/>
          <p:cNvSpPr/>
          <p:nvPr/>
        </p:nvSpPr>
        <p:spPr>
          <a:xfrm>
            <a:off x="786384" y="235915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Chỉ lắng nghe tại 127.0.0.1:8765, không proxy thông tin xác thực xuống trình duyệt.</a:t>
            </a:r>
            <a:endParaRPr lang="en-US" sz="950" dirty="0"/>
          </a:p>
        </p:txBody>
      </p:sp>
      <p:sp>
        <p:nvSpPr>
          <p:cNvPr id="10" name="Shape 8"/>
          <p:cNvSpPr/>
          <p:nvPr/>
        </p:nvSpPr>
        <p:spPr>
          <a:xfrm>
            <a:off x="4480560" y="1737360"/>
            <a:ext cx="3749040" cy="1316736"/>
          </a:xfrm>
          <a:prstGeom prst="roundRect">
            <a:avLst>
              <a:gd name="adj" fmla="val 6250"/>
            </a:avLst>
          </a:prstGeom>
          <a:solidFill>
            <a:srgbClr val="F2F6FA"/>
          </a:solidFill>
          <a:ln w="9525">
            <a:solidFill>
              <a:srgbClr val="D7E2EC"/>
            </a:solidFill>
            <a:prstDash val="solid"/>
          </a:ln>
        </p:spPr>
      </p:sp>
      <p:sp>
        <p:nvSpPr>
          <p:cNvPr id="11" name="Shape 9"/>
          <p:cNvSpPr/>
          <p:nvPr/>
        </p:nvSpPr>
        <p:spPr>
          <a:xfrm>
            <a:off x="4718304" y="1956816"/>
            <a:ext cx="310896" cy="310896"/>
          </a:xfrm>
          <a:prstGeom prst="roundRect">
            <a:avLst>
              <a:gd name="adj" fmla="val 64706"/>
            </a:avLst>
          </a:prstGeom>
          <a:solidFill>
            <a:srgbClr val="2C6E9B"/>
          </a:solidFill>
          <a:ln w="12700">
            <a:solidFill>
              <a:srgbClr val="2C6E9B"/>
            </a:solidFill>
            <a:prstDash val="solid"/>
          </a:ln>
        </p:spPr>
      </p:sp>
      <p:sp>
        <p:nvSpPr>
          <p:cNvPr id="12" name="Text 10"/>
          <p:cNvSpPr/>
          <p:nvPr/>
        </p:nvSpPr>
        <p:spPr>
          <a:xfrm>
            <a:off x="4718304" y="195681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3" name="Text 11"/>
          <p:cNvSpPr/>
          <p:nvPr/>
        </p:nvSpPr>
        <p:spPr>
          <a:xfrm>
            <a:off x="5138928" y="192024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Worker xử lý nền</a:t>
            </a:r>
            <a:endParaRPr lang="en-US" sz="1150" dirty="0"/>
          </a:p>
        </p:txBody>
      </p:sp>
      <p:sp>
        <p:nvSpPr>
          <p:cNvPr id="14" name="Text 12"/>
          <p:cNvSpPr/>
          <p:nvPr/>
        </p:nvSpPr>
        <p:spPr>
          <a:xfrm>
            <a:off x="4718304" y="235915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Theo dõi phase thật của pipeline, không chèn hiệu ứng chờ giả.</a:t>
            </a:r>
            <a:endParaRPr lang="en-US" sz="950" dirty="0"/>
          </a:p>
        </p:txBody>
      </p:sp>
      <p:sp>
        <p:nvSpPr>
          <p:cNvPr id="15" name="Shape 13"/>
          <p:cNvSpPr/>
          <p:nvPr/>
        </p:nvSpPr>
        <p:spPr>
          <a:xfrm>
            <a:off x="548640" y="3200400"/>
            <a:ext cx="3749040" cy="1316736"/>
          </a:xfrm>
          <a:prstGeom prst="roundRect">
            <a:avLst>
              <a:gd name="adj" fmla="val 6250"/>
            </a:avLst>
          </a:prstGeom>
          <a:solidFill>
            <a:srgbClr val="F2F6FA"/>
          </a:solidFill>
          <a:ln w="9525">
            <a:solidFill>
              <a:srgbClr val="D7E2EC"/>
            </a:solidFill>
            <a:prstDash val="solid"/>
          </a:ln>
        </p:spPr>
      </p:sp>
      <p:sp>
        <p:nvSpPr>
          <p:cNvPr id="16" name="Shape 14"/>
          <p:cNvSpPr/>
          <p:nvPr/>
        </p:nvSpPr>
        <p:spPr>
          <a:xfrm>
            <a:off x="786384" y="3419856"/>
            <a:ext cx="310896" cy="310896"/>
          </a:xfrm>
          <a:prstGeom prst="roundRect">
            <a:avLst>
              <a:gd name="adj" fmla="val 64706"/>
            </a:avLst>
          </a:prstGeom>
          <a:solidFill>
            <a:srgbClr val="2C6E9B"/>
          </a:solidFill>
          <a:ln w="12700">
            <a:solidFill>
              <a:srgbClr val="2C6E9B"/>
            </a:solidFill>
            <a:prstDash val="solid"/>
          </a:ln>
        </p:spPr>
      </p:sp>
      <p:sp>
        <p:nvSpPr>
          <p:cNvPr id="17" name="Text 15"/>
          <p:cNvSpPr/>
          <p:nvPr/>
        </p:nvSpPr>
        <p:spPr>
          <a:xfrm>
            <a:off x="786384" y="341985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8" name="Text 16"/>
          <p:cNvSpPr/>
          <p:nvPr/>
        </p:nvSpPr>
        <p:spPr>
          <a:xfrm>
            <a:off x="1207008" y="338328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SQLite lưu toàn bộ trạng thái</a:t>
            </a:r>
            <a:endParaRPr lang="en-US" sz="1150" dirty="0"/>
          </a:p>
        </p:txBody>
      </p:sp>
      <p:sp>
        <p:nvSpPr>
          <p:cNvPr id="19" name="Text 17"/>
          <p:cNvSpPr/>
          <p:nvPr/>
        </p:nvSpPr>
        <p:spPr>
          <a:xfrm>
            <a:off x="786384" y="382219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Job, kết quả, đánh giá và nhật ký kiểm toán, tách biệt với dữ liệu cảnh báo gốc.</a:t>
            </a:r>
            <a:endParaRPr lang="en-US" sz="950" dirty="0"/>
          </a:p>
        </p:txBody>
      </p:sp>
      <p:sp>
        <p:nvSpPr>
          <p:cNvPr id="20" name="Shape 18"/>
          <p:cNvSpPr/>
          <p:nvPr/>
        </p:nvSpPr>
        <p:spPr>
          <a:xfrm>
            <a:off x="4480560" y="3200400"/>
            <a:ext cx="3749040" cy="1316736"/>
          </a:xfrm>
          <a:prstGeom prst="roundRect">
            <a:avLst>
              <a:gd name="adj" fmla="val 6250"/>
            </a:avLst>
          </a:prstGeom>
          <a:solidFill>
            <a:srgbClr val="F2F6FA"/>
          </a:solidFill>
          <a:ln w="9525">
            <a:solidFill>
              <a:srgbClr val="D7E2EC"/>
            </a:solidFill>
            <a:prstDash val="solid"/>
          </a:ln>
        </p:spPr>
      </p:sp>
      <p:sp>
        <p:nvSpPr>
          <p:cNvPr id="21" name="Shape 19"/>
          <p:cNvSpPr/>
          <p:nvPr/>
        </p:nvSpPr>
        <p:spPr>
          <a:xfrm>
            <a:off x="4718304" y="3419856"/>
            <a:ext cx="310896" cy="310896"/>
          </a:xfrm>
          <a:prstGeom prst="roundRect">
            <a:avLst>
              <a:gd name="adj" fmla="val 64706"/>
            </a:avLst>
          </a:prstGeom>
          <a:solidFill>
            <a:srgbClr val="2C6E9B"/>
          </a:solidFill>
          <a:ln w="12700">
            <a:solidFill>
              <a:srgbClr val="2C6E9B"/>
            </a:solidFill>
            <a:prstDash val="solid"/>
          </a:ln>
        </p:spPr>
      </p:sp>
      <p:sp>
        <p:nvSpPr>
          <p:cNvPr id="22" name="Text 20"/>
          <p:cNvSpPr/>
          <p:nvPr/>
        </p:nvSpPr>
        <p:spPr>
          <a:xfrm>
            <a:off x="4718304" y="341985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3" name="Text 21"/>
          <p:cNvSpPr/>
          <p:nvPr/>
        </p:nvSpPr>
        <p:spPr>
          <a:xfrm>
            <a:off x="5138928" y="338328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Đánh giá chỉ-ghi-thêm</a:t>
            </a:r>
            <a:endParaRPr lang="en-US" sz="1150" dirty="0"/>
          </a:p>
        </p:txBody>
      </p:sp>
      <p:sp>
        <p:nvSpPr>
          <p:cNvPr id="24" name="Text 22"/>
          <p:cNvSpPr/>
          <p:nvPr/>
        </p:nvSpPr>
        <p:spPr>
          <a:xfrm>
            <a:off x="4718304" y="382219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Mỗi lần điều chỉnh tạo bản ghi mới thay vì ghi đè — truy vết được ai sửa gì, khi nào.</a:t>
            </a:r>
            <a:endParaRPr lang="en-US" sz="950" dirty="0"/>
          </a:p>
        </p:txBody>
      </p:sp>
      <p:sp>
        <p:nvSpPr>
          <p:cNvPr id="25" name="Shape 23"/>
          <p:cNvSpPr/>
          <p:nvPr/>
        </p:nvSpPr>
        <p:spPr>
          <a:xfrm>
            <a:off x="548640" y="4663440"/>
            <a:ext cx="3749040" cy="1316736"/>
          </a:xfrm>
          <a:prstGeom prst="roundRect">
            <a:avLst>
              <a:gd name="adj" fmla="val 6250"/>
            </a:avLst>
          </a:prstGeom>
          <a:solidFill>
            <a:srgbClr val="F2F6FA"/>
          </a:solidFill>
          <a:ln w="9525">
            <a:solidFill>
              <a:srgbClr val="D7E2EC"/>
            </a:solidFill>
            <a:prstDash val="solid"/>
          </a:ln>
        </p:spPr>
      </p:sp>
      <p:sp>
        <p:nvSpPr>
          <p:cNvPr id="26" name="Shape 24"/>
          <p:cNvSpPr/>
          <p:nvPr/>
        </p:nvSpPr>
        <p:spPr>
          <a:xfrm>
            <a:off x="786384" y="4882896"/>
            <a:ext cx="310896" cy="310896"/>
          </a:xfrm>
          <a:prstGeom prst="roundRect">
            <a:avLst>
              <a:gd name="adj" fmla="val 64706"/>
            </a:avLst>
          </a:prstGeom>
          <a:solidFill>
            <a:srgbClr val="2C6E9B"/>
          </a:solidFill>
          <a:ln w="12700">
            <a:solidFill>
              <a:srgbClr val="2C6E9B"/>
            </a:solidFill>
            <a:prstDash val="solid"/>
          </a:ln>
        </p:spPr>
      </p:sp>
      <p:sp>
        <p:nvSpPr>
          <p:cNvPr id="27" name="Text 25"/>
          <p:cNvSpPr/>
          <p:nvPr/>
        </p:nvSpPr>
        <p:spPr>
          <a:xfrm>
            <a:off x="786384" y="48828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8" name="Text 26"/>
          <p:cNvSpPr/>
          <p:nvPr/>
        </p:nvSpPr>
        <p:spPr>
          <a:xfrm>
            <a:off x="1207008" y="484632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Lịch chạy theo cửa sổ cố định</a:t>
            </a:r>
            <a:endParaRPr lang="en-US" sz="1150" dirty="0"/>
          </a:p>
        </p:txBody>
      </p:sp>
      <p:sp>
        <p:nvSpPr>
          <p:cNvPr id="29" name="Text 27"/>
          <p:cNvSpPr/>
          <p:nvPr/>
        </p:nvSpPr>
        <p:spPr>
          <a:xfrm>
            <a:off x="786384" y="528523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Có độ trễ nạp dữ liệu và giới hạn bù đắp, tránh dồn một lượng lớn cảnh báo cũ.</a:t>
            </a:r>
            <a:endParaRPr lang="en-US" sz="950" dirty="0"/>
          </a:p>
        </p:txBody>
      </p:sp>
      <p:sp>
        <p:nvSpPr>
          <p:cNvPr id="30" name="Shape 28"/>
          <p:cNvSpPr/>
          <p:nvPr/>
        </p:nvSpPr>
        <p:spPr>
          <a:xfrm>
            <a:off x="4480560" y="4663440"/>
            <a:ext cx="3749040" cy="1316736"/>
          </a:xfrm>
          <a:prstGeom prst="roundRect">
            <a:avLst>
              <a:gd name="adj" fmla="val 6250"/>
            </a:avLst>
          </a:prstGeom>
          <a:solidFill>
            <a:srgbClr val="F2F6FA"/>
          </a:solidFill>
          <a:ln w="9525">
            <a:solidFill>
              <a:srgbClr val="D7E2EC"/>
            </a:solidFill>
            <a:prstDash val="solid"/>
          </a:ln>
        </p:spPr>
      </p:sp>
      <p:sp>
        <p:nvSpPr>
          <p:cNvPr id="31" name="Shape 29"/>
          <p:cNvSpPr/>
          <p:nvPr/>
        </p:nvSpPr>
        <p:spPr>
          <a:xfrm>
            <a:off x="4718304" y="4882896"/>
            <a:ext cx="310896" cy="310896"/>
          </a:xfrm>
          <a:prstGeom prst="roundRect">
            <a:avLst>
              <a:gd name="adj" fmla="val 64706"/>
            </a:avLst>
          </a:prstGeom>
          <a:solidFill>
            <a:srgbClr val="2C6E9B"/>
          </a:solidFill>
          <a:ln w="12700">
            <a:solidFill>
              <a:srgbClr val="2C6E9B"/>
            </a:solidFill>
            <a:prstDash val="solid"/>
          </a:ln>
        </p:spPr>
      </p:sp>
      <p:sp>
        <p:nvSpPr>
          <p:cNvPr id="32" name="Text 30"/>
          <p:cNvSpPr/>
          <p:nvPr/>
        </p:nvSpPr>
        <p:spPr>
          <a:xfrm>
            <a:off x="4718304" y="48828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3" name="Text 31"/>
          <p:cNvSpPr/>
          <p:nvPr/>
        </p:nvSpPr>
        <p:spPr>
          <a:xfrm>
            <a:off x="5138928" y="4846320"/>
            <a:ext cx="2889504" cy="384048"/>
          </a:xfrm>
          <a:prstGeom prst="rect">
            <a:avLst/>
          </a:prstGeom>
          <a:noFill/>
          <a:ln/>
        </p:spPr>
        <p:txBody>
          <a:bodyPr wrap="square" lIns="0" tIns="0" rIns="0" bIns="0" rtlCol="0" anchor="ctr"/>
          <a:lstStyle/>
          <a:p>
            <a:pPr indent="0" marL="0">
              <a:lnSpc>
                <a:spcPct val="95000"/>
              </a:lnSpc>
              <a:buNone/>
            </a:pPr>
            <a:r>
              <a:rPr lang="en-US" sz="1150" b="1" dirty="0">
                <a:solidFill>
                  <a:srgbClr val="0D1B2A"/>
                </a:solidFill>
                <a:latin typeface="Calibri" pitchFamily="34" charset="0"/>
                <a:ea typeface="Calibri" pitchFamily="34" charset="-122"/>
                <a:cs typeface="Calibri" pitchFamily="34" charset="-120"/>
              </a:rPr>
              <a:t>Kênh gửi tùy chọn</a:t>
            </a:r>
            <a:endParaRPr lang="en-US" sz="1150" dirty="0"/>
          </a:p>
        </p:txBody>
      </p:sp>
      <p:sp>
        <p:nvSpPr>
          <p:cNvPr id="34" name="Text 32"/>
          <p:cNvSpPr/>
          <p:nvPr/>
        </p:nvSpPr>
        <p:spPr>
          <a:xfrm>
            <a:off x="4718304" y="5285232"/>
            <a:ext cx="3310128" cy="603504"/>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Telegram và Gmail chỉ nhận bản tóm tắt đã lọc; thông tin xác thực lưu cục bộ.</a:t>
            </a:r>
            <a:endParaRPr lang="en-US" sz="950" dirty="0"/>
          </a:p>
        </p:txBody>
      </p:sp>
      <p:sp>
        <p:nvSpPr>
          <p:cNvPr id="35" name="Shape 33"/>
          <p:cNvSpPr/>
          <p:nvPr/>
        </p:nvSpPr>
        <p:spPr>
          <a:xfrm>
            <a:off x="8458200" y="1737360"/>
            <a:ext cx="3154680" cy="4334256"/>
          </a:xfrm>
          <a:prstGeom prst="roundRect">
            <a:avLst>
              <a:gd name="adj" fmla="val 2609"/>
            </a:avLst>
          </a:prstGeom>
          <a:solidFill>
            <a:srgbClr val="0D1B2A"/>
          </a:solidFill>
          <a:ln w="9525">
            <a:solidFill>
              <a:srgbClr val="0D1B2A"/>
            </a:solidFill>
            <a:prstDash val="solid"/>
          </a:ln>
        </p:spPr>
      </p:sp>
      <p:sp>
        <p:nvSpPr>
          <p:cNvPr id="36" name="Text 34"/>
          <p:cNvSpPr/>
          <p:nvPr/>
        </p:nvSpPr>
        <p:spPr>
          <a:xfrm>
            <a:off x="8695944" y="1883664"/>
            <a:ext cx="2697480" cy="237744"/>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MÃ NGUỒN DẪN CHIẾU</a:t>
            </a:r>
            <a:endParaRPr lang="en-US" sz="850" dirty="0"/>
          </a:p>
        </p:txBody>
      </p:sp>
      <p:sp>
        <p:nvSpPr>
          <p:cNvPr id="37" name="Shape 35"/>
          <p:cNvSpPr/>
          <p:nvPr/>
        </p:nvSpPr>
        <p:spPr>
          <a:xfrm>
            <a:off x="8695944" y="2231136"/>
            <a:ext cx="2679192" cy="329184"/>
          </a:xfrm>
          <a:prstGeom prst="roundRect">
            <a:avLst>
              <a:gd name="adj" fmla="val 22222"/>
            </a:avLst>
          </a:prstGeom>
          <a:solidFill>
            <a:srgbClr val="16293D"/>
          </a:solidFill>
          <a:ln w="9525">
            <a:solidFill>
              <a:srgbClr val="2B4A66"/>
            </a:solidFill>
            <a:prstDash val="solid"/>
          </a:ln>
        </p:spPr>
      </p:sp>
      <p:sp>
        <p:nvSpPr>
          <p:cNvPr id="38" name="Text 36"/>
          <p:cNvSpPr/>
          <p:nvPr/>
        </p:nvSpPr>
        <p:spPr>
          <a:xfrm>
            <a:off x="8823960" y="2231136"/>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ai_module/dashboard.py</a:t>
            </a:r>
            <a:endParaRPr lang="en-US" sz="900" dirty="0"/>
          </a:p>
        </p:txBody>
      </p:sp>
      <p:sp>
        <p:nvSpPr>
          <p:cNvPr id="39" name="Shape 37"/>
          <p:cNvSpPr/>
          <p:nvPr/>
        </p:nvSpPr>
        <p:spPr>
          <a:xfrm>
            <a:off x="8695944" y="2651760"/>
            <a:ext cx="2679192" cy="329184"/>
          </a:xfrm>
          <a:prstGeom prst="roundRect">
            <a:avLst>
              <a:gd name="adj" fmla="val 22222"/>
            </a:avLst>
          </a:prstGeom>
          <a:solidFill>
            <a:srgbClr val="16293D"/>
          </a:solidFill>
          <a:ln w="9525">
            <a:solidFill>
              <a:srgbClr val="2B4A66"/>
            </a:solidFill>
            <a:prstDash val="solid"/>
          </a:ln>
        </p:spPr>
      </p:sp>
      <p:sp>
        <p:nvSpPr>
          <p:cNvPr id="40" name="Text 38"/>
          <p:cNvSpPr/>
          <p:nvPr/>
        </p:nvSpPr>
        <p:spPr>
          <a:xfrm>
            <a:off x="8823960" y="2651760"/>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ai_module/dashboard_worker.py</a:t>
            </a:r>
            <a:endParaRPr lang="en-US" sz="900" dirty="0"/>
          </a:p>
        </p:txBody>
      </p:sp>
      <p:sp>
        <p:nvSpPr>
          <p:cNvPr id="41" name="Shape 39"/>
          <p:cNvSpPr/>
          <p:nvPr/>
        </p:nvSpPr>
        <p:spPr>
          <a:xfrm>
            <a:off x="8695944" y="3072384"/>
            <a:ext cx="2679192" cy="329184"/>
          </a:xfrm>
          <a:prstGeom prst="roundRect">
            <a:avLst>
              <a:gd name="adj" fmla="val 22222"/>
            </a:avLst>
          </a:prstGeom>
          <a:solidFill>
            <a:srgbClr val="16293D"/>
          </a:solidFill>
          <a:ln w="9525">
            <a:solidFill>
              <a:srgbClr val="2B4A66"/>
            </a:solidFill>
            <a:prstDash val="solid"/>
          </a:ln>
        </p:spPr>
      </p:sp>
      <p:sp>
        <p:nvSpPr>
          <p:cNvPr id="42" name="Text 40"/>
          <p:cNvSpPr/>
          <p:nvPr/>
        </p:nvSpPr>
        <p:spPr>
          <a:xfrm>
            <a:off x="8823960" y="3072384"/>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ai_module/dashboard_store.py</a:t>
            </a:r>
            <a:endParaRPr lang="en-US" sz="900" dirty="0"/>
          </a:p>
        </p:txBody>
      </p:sp>
      <p:sp>
        <p:nvSpPr>
          <p:cNvPr id="43" name="Shape 41"/>
          <p:cNvSpPr/>
          <p:nvPr/>
        </p:nvSpPr>
        <p:spPr>
          <a:xfrm>
            <a:off x="8695944" y="3493008"/>
            <a:ext cx="2679192" cy="329184"/>
          </a:xfrm>
          <a:prstGeom prst="roundRect">
            <a:avLst>
              <a:gd name="adj" fmla="val 22222"/>
            </a:avLst>
          </a:prstGeom>
          <a:solidFill>
            <a:srgbClr val="16293D"/>
          </a:solidFill>
          <a:ln w="9525">
            <a:solidFill>
              <a:srgbClr val="2B4A66"/>
            </a:solidFill>
            <a:prstDash val="solid"/>
          </a:ln>
        </p:spPr>
      </p:sp>
      <p:sp>
        <p:nvSpPr>
          <p:cNvPr id="44" name="Text 42"/>
          <p:cNvSpPr/>
          <p:nvPr/>
        </p:nvSpPr>
        <p:spPr>
          <a:xfrm>
            <a:off x="8823960" y="3493008"/>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ai_module/web/</a:t>
            </a:r>
            <a:endParaRPr lang="en-US" sz="900" dirty="0"/>
          </a:p>
        </p:txBody>
      </p:sp>
      <p:sp>
        <p:nvSpPr>
          <p:cNvPr id="45" name="Text 43"/>
          <p:cNvSpPr/>
          <p:nvPr/>
        </p:nvSpPr>
        <p:spPr>
          <a:xfrm>
            <a:off x="8695944" y="3986784"/>
            <a:ext cx="2679192" cy="2029968"/>
          </a:xfrm>
          <a:prstGeom prst="rect">
            <a:avLst/>
          </a:prstGeom>
          <a:noFill/>
          <a:ln/>
        </p:spPr>
        <p:txBody>
          <a:bodyPr wrap="square" lIns="0" tIns="0" rIns="0" bIns="0" rtlCol="0" anchor="t"/>
          <a:lstStyle/>
          <a:p>
            <a:pPr indent="0" marL="0">
              <a:lnSpc>
                <a:spcPct val="105000"/>
              </a:lnSpc>
              <a:buNone/>
            </a:pPr>
            <a:r>
              <a:rPr lang="en-US" sz="950" i="1" dirty="0">
                <a:solidFill>
                  <a:srgbClr val="8FB0C8"/>
                </a:solidFill>
                <a:latin typeface="Calibri" pitchFamily="34" charset="0"/>
                <a:ea typeface="Calibri" pitchFamily="34" charset="-122"/>
                <a:cs typeface="Calibri" pitchFamily="34" charset="-120"/>
              </a:rPr>
              <a:t>Lược đồ cơ sở dữ liệu được quản lý theo phiên bản (migration đánh số), cho phép nâng cấp cấu trúc mà không mất lịch sử đã lưu.</a:t>
            </a:r>
            <a:endParaRPr lang="en-US" sz="950" dirty="0"/>
          </a:p>
        </p:txBody>
      </p:sp>
      <p:sp>
        <p:nvSpPr>
          <p:cNvPr id="46" name="Text 44"/>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Đinh Tuấn Dương — giao diện, lưu trữ, lịch chạy, kênh gửi</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Nguyễn Trung Nguyên — kiểm thử vận hành</a:t>
            </a:r>
            <a:endParaRPr lang="en-US" sz="900" dirty="0"/>
          </a:p>
        </p:txBody>
      </p:sp>
      <p:sp>
        <p:nvSpPr>
          <p:cNvPr id="47" name="Text 4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71576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71576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4 · ĐÁNH GIÁ CÓ KIỂM SOÁT</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Một phép đo dễ dãi sẽ cho kết quả đẹp nhưng vô nghĩa</a:t>
            </a:r>
            <a:endParaRPr lang="en-US" sz="2600" dirty="0"/>
          </a:p>
        </p:txBody>
      </p:sp>
      <p:sp>
        <p:nvSpPr>
          <p:cNvPr id="5" name="Shape 3"/>
          <p:cNvSpPr/>
          <p:nvPr/>
        </p:nvSpPr>
        <p:spPr>
          <a:xfrm>
            <a:off x="548640" y="1737360"/>
            <a:ext cx="7635240" cy="749808"/>
          </a:xfrm>
          <a:prstGeom prst="roundRect">
            <a:avLst>
              <a:gd name="adj" fmla="val 10976"/>
            </a:avLst>
          </a:prstGeom>
          <a:solidFill>
            <a:srgbClr val="FBF1DC"/>
          </a:solidFill>
          <a:ln w="9525">
            <a:solidFill>
              <a:srgbClr val="EBD9AE"/>
            </a:solidFill>
            <a:prstDash val="solid"/>
          </a:ln>
        </p:spPr>
      </p:sp>
      <p:sp>
        <p:nvSpPr>
          <p:cNvPr id="6" name="Shape 4"/>
          <p:cNvSpPr/>
          <p:nvPr/>
        </p:nvSpPr>
        <p:spPr>
          <a:xfrm>
            <a:off x="786384" y="1947672"/>
            <a:ext cx="329184" cy="329184"/>
          </a:xfrm>
          <a:prstGeom prst="roundRect">
            <a:avLst>
              <a:gd name="adj" fmla="val 61111"/>
            </a:avLst>
          </a:prstGeom>
          <a:solidFill>
            <a:srgbClr val="B57A16"/>
          </a:solidFill>
          <a:ln w="12700">
            <a:solidFill>
              <a:srgbClr val="B57A16"/>
            </a:solidFill>
            <a:prstDash val="solid"/>
          </a:ln>
        </p:spPr>
      </p:sp>
      <p:sp>
        <p:nvSpPr>
          <p:cNvPr id="7" name="Text 5"/>
          <p:cNvSpPr/>
          <p:nvPr/>
        </p:nvSpPr>
        <p:spPr>
          <a:xfrm>
            <a:off x="786384" y="19476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43584" y="1773936"/>
            <a:ext cx="672084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Nhãn chuẩn không được suy ra từ mức luật</a:t>
            </a:r>
            <a:endParaRPr lang="en-US" sz="1200" dirty="0"/>
          </a:p>
        </p:txBody>
      </p:sp>
      <p:sp>
        <p:nvSpPr>
          <p:cNvPr id="9" name="Text 7"/>
          <p:cNvSpPr/>
          <p:nvPr/>
        </p:nvSpPr>
        <p:spPr>
          <a:xfrm>
            <a:off x="1243584" y="2103120"/>
            <a:ext cx="6720840" cy="329184"/>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Nếu suy ra, một quy tắc tầm thường "trả về đúng nhóm mức của luật" sẽ đạt độ chính xác tuyệt đối.</a:t>
            </a:r>
            <a:endParaRPr lang="en-US" sz="950" dirty="0"/>
          </a:p>
        </p:txBody>
      </p:sp>
      <p:sp>
        <p:nvSpPr>
          <p:cNvPr id="10" name="Shape 8"/>
          <p:cNvSpPr/>
          <p:nvPr/>
        </p:nvSpPr>
        <p:spPr>
          <a:xfrm>
            <a:off x="548640" y="2596896"/>
            <a:ext cx="7635240" cy="749808"/>
          </a:xfrm>
          <a:prstGeom prst="roundRect">
            <a:avLst>
              <a:gd name="adj" fmla="val 10976"/>
            </a:avLst>
          </a:prstGeom>
          <a:solidFill>
            <a:srgbClr val="FFFFFF"/>
          </a:solidFill>
          <a:ln w="9525">
            <a:solidFill>
              <a:srgbClr val="D7E2EC"/>
            </a:solidFill>
            <a:prstDash val="solid"/>
          </a:ln>
        </p:spPr>
      </p:sp>
      <p:sp>
        <p:nvSpPr>
          <p:cNvPr id="11" name="Shape 9"/>
          <p:cNvSpPr/>
          <p:nvPr/>
        </p:nvSpPr>
        <p:spPr>
          <a:xfrm>
            <a:off x="786384" y="2807208"/>
            <a:ext cx="329184" cy="329184"/>
          </a:xfrm>
          <a:prstGeom prst="roundRect">
            <a:avLst>
              <a:gd name="adj" fmla="val 61111"/>
            </a:avLst>
          </a:prstGeom>
          <a:solidFill>
            <a:srgbClr val="B57A16"/>
          </a:solidFill>
          <a:ln w="12700">
            <a:solidFill>
              <a:srgbClr val="B57A16"/>
            </a:solidFill>
            <a:prstDash val="solid"/>
          </a:ln>
        </p:spPr>
      </p:sp>
      <p:sp>
        <p:nvSpPr>
          <p:cNvPr id="12" name="Text 10"/>
          <p:cNvSpPr/>
          <p:nvPr/>
        </p:nvSpPr>
        <p:spPr>
          <a:xfrm>
            <a:off x="786384" y="28072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43584" y="2633472"/>
            <a:ext cx="672084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Nhãn hiện vẫn là bản nháp, một người rà soát</a:t>
            </a:r>
            <a:endParaRPr lang="en-US" sz="1200" dirty="0"/>
          </a:p>
        </p:txBody>
      </p:sp>
      <p:sp>
        <p:nvSpPr>
          <p:cNvPr id="14" name="Text 12"/>
          <p:cNvSpPr/>
          <p:nvPr/>
        </p:nvSpPr>
        <p:spPr>
          <a:xfrm>
            <a:off x="1243584" y="2962656"/>
            <a:ext cx="6720840" cy="329184"/>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Đã qua một vòng rà soát kỹ thuật nội bộ nhưng chưa có người thứ hai độc lập phân xử.</a:t>
            </a:r>
            <a:endParaRPr lang="en-US" sz="950" dirty="0"/>
          </a:p>
        </p:txBody>
      </p:sp>
      <p:sp>
        <p:nvSpPr>
          <p:cNvPr id="15" name="Shape 13"/>
          <p:cNvSpPr/>
          <p:nvPr/>
        </p:nvSpPr>
        <p:spPr>
          <a:xfrm>
            <a:off x="548640" y="3456432"/>
            <a:ext cx="7635240" cy="749808"/>
          </a:xfrm>
          <a:prstGeom prst="roundRect">
            <a:avLst>
              <a:gd name="adj" fmla="val 10976"/>
            </a:avLst>
          </a:prstGeom>
          <a:solidFill>
            <a:srgbClr val="FBF1DC"/>
          </a:solidFill>
          <a:ln w="9525">
            <a:solidFill>
              <a:srgbClr val="EBD9AE"/>
            </a:solidFill>
            <a:prstDash val="solid"/>
          </a:ln>
        </p:spPr>
      </p:sp>
      <p:sp>
        <p:nvSpPr>
          <p:cNvPr id="16" name="Shape 14"/>
          <p:cNvSpPr/>
          <p:nvPr/>
        </p:nvSpPr>
        <p:spPr>
          <a:xfrm>
            <a:off x="786384" y="3666744"/>
            <a:ext cx="329184" cy="329184"/>
          </a:xfrm>
          <a:prstGeom prst="roundRect">
            <a:avLst>
              <a:gd name="adj" fmla="val 61111"/>
            </a:avLst>
          </a:prstGeom>
          <a:solidFill>
            <a:srgbClr val="B57A16"/>
          </a:solidFill>
          <a:ln w="12700">
            <a:solidFill>
              <a:srgbClr val="B57A16"/>
            </a:solidFill>
            <a:prstDash val="solid"/>
          </a:ln>
        </p:spPr>
      </p:sp>
      <p:sp>
        <p:nvSpPr>
          <p:cNvPr id="17" name="Text 15"/>
          <p:cNvSpPr/>
          <p:nvPr/>
        </p:nvSpPr>
        <p:spPr>
          <a:xfrm>
            <a:off x="786384"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243584" y="3493008"/>
            <a:ext cx="672084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Điểm trung bình che lấp hướng sai lệch</a:t>
            </a:r>
            <a:endParaRPr lang="en-US" sz="1200" dirty="0"/>
          </a:p>
        </p:txBody>
      </p:sp>
      <p:sp>
        <p:nvSpPr>
          <p:cNvPr id="19" name="Text 17"/>
          <p:cNvSpPr/>
          <p:nvPr/>
        </p:nvSpPr>
        <p:spPr>
          <a:xfrm>
            <a:off x="1243584" y="3822192"/>
            <a:ext cx="6720840" cy="329184"/>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Thang 1–5 không cho biết mô hình đánh giá quá nặng hay quá nhẹ, và sai ở nhóm cảnh báo nào.</a:t>
            </a:r>
            <a:endParaRPr lang="en-US" sz="950" dirty="0"/>
          </a:p>
        </p:txBody>
      </p:sp>
      <p:sp>
        <p:nvSpPr>
          <p:cNvPr id="20" name="Shape 18"/>
          <p:cNvSpPr/>
          <p:nvPr/>
        </p:nvSpPr>
        <p:spPr>
          <a:xfrm>
            <a:off x="548640" y="4315968"/>
            <a:ext cx="7635240" cy="749808"/>
          </a:xfrm>
          <a:prstGeom prst="roundRect">
            <a:avLst>
              <a:gd name="adj" fmla="val 10976"/>
            </a:avLst>
          </a:prstGeom>
          <a:solidFill>
            <a:srgbClr val="FFFFFF"/>
          </a:solidFill>
          <a:ln w="9525">
            <a:solidFill>
              <a:srgbClr val="D7E2EC"/>
            </a:solidFill>
            <a:prstDash val="solid"/>
          </a:ln>
        </p:spPr>
      </p:sp>
      <p:sp>
        <p:nvSpPr>
          <p:cNvPr id="21" name="Shape 19"/>
          <p:cNvSpPr/>
          <p:nvPr/>
        </p:nvSpPr>
        <p:spPr>
          <a:xfrm>
            <a:off x="786384" y="4526280"/>
            <a:ext cx="329184" cy="329184"/>
          </a:xfrm>
          <a:prstGeom prst="roundRect">
            <a:avLst>
              <a:gd name="adj" fmla="val 61111"/>
            </a:avLst>
          </a:prstGeom>
          <a:solidFill>
            <a:srgbClr val="B57A16"/>
          </a:solidFill>
          <a:ln w="12700">
            <a:solidFill>
              <a:srgbClr val="B57A16"/>
            </a:solidFill>
            <a:prstDash val="solid"/>
          </a:ln>
        </p:spPr>
      </p:sp>
      <p:sp>
        <p:nvSpPr>
          <p:cNvPr id="22" name="Text 20"/>
          <p:cNvSpPr/>
          <p:nvPr/>
        </p:nvSpPr>
        <p:spPr>
          <a:xfrm>
            <a:off x="786384"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243584" y="4352544"/>
            <a:ext cx="672084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Chấm điểm chủ quan cần chứng minh đồng thuận</a:t>
            </a:r>
            <a:endParaRPr lang="en-US" sz="1200" dirty="0"/>
          </a:p>
        </p:txBody>
      </p:sp>
      <p:sp>
        <p:nvSpPr>
          <p:cNvPr id="24" name="Text 22"/>
          <p:cNvSpPr/>
          <p:nvPr/>
        </p:nvSpPr>
        <p:spPr>
          <a:xfrm>
            <a:off x="1243584" y="4681728"/>
            <a:ext cx="6720840" cy="329184"/>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Phải chứng minh hai người chấm thực sự đồng thuận, không phải trùng nhau do ngẫu nhiên.</a:t>
            </a:r>
            <a:endParaRPr lang="en-US" sz="950" dirty="0"/>
          </a:p>
        </p:txBody>
      </p:sp>
      <p:sp>
        <p:nvSpPr>
          <p:cNvPr id="25" name="Shape 23"/>
          <p:cNvSpPr/>
          <p:nvPr/>
        </p:nvSpPr>
        <p:spPr>
          <a:xfrm>
            <a:off x="548640" y="5175504"/>
            <a:ext cx="7635240" cy="749808"/>
          </a:xfrm>
          <a:prstGeom prst="roundRect">
            <a:avLst>
              <a:gd name="adj" fmla="val 10976"/>
            </a:avLst>
          </a:prstGeom>
          <a:solidFill>
            <a:srgbClr val="FBF1DC"/>
          </a:solidFill>
          <a:ln w="9525">
            <a:solidFill>
              <a:srgbClr val="EBD9AE"/>
            </a:solidFill>
            <a:prstDash val="solid"/>
          </a:ln>
        </p:spPr>
      </p:sp>
      <p:sp>
        <p:nvSpPr>
          <p:cNvPr id="26" name="Shape 24"/>
          <p:cNvSpPr/>
          <p:nvPr/>
        </p:nvSpPr>
        <p:spPr>
          <a:xfrm>
            <a:off x="786384" y="5385816"/>
            <a:ext cx="329184" cy="329184"/>
          </a:xfrm>
          <a:prstGeom prst="roundRect">
            <a:avLst>
              <a:gd name="adj" fmla="val 61111"/>
            </a:avLst>
          </a:prstGeom>
          <a:solidFill>
            <a:srgbClr val="B57A16"/>
          </a:solidFill>
          <a:ln w="12700">
            <a:solidFill>
              <a:srgbClr val="B57A16"/>
            </a:solidFill>
            <a:prstDash val="solid"/>
          </a:ln>
        </p:spPr>
      </p:sp>
      <p:sp>
        <p:nvSpPr>
          <p:cNvPr id="27" name="Text 25"/>
          <p:cNvSpPr/>
          <p:nvPr/>
        </p:nvSpPr>
        <p:spPr>
          <a:xfrm>
            <a:off x="786384" y="5385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243584" y="5212080"/>
            <a:ext cx="6720840" cy="329184"/>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Cỡ mẫu 33 case là nhỏ</a:t>
            </a:r>
            <a:endParaRPr lang="en-US" sz="1200" dirty="0"/>
          </a:p>
        </p:txBody>
      </p:sp>
      <p:sp>
        <p:nvSpPr>
          <p:cNvPr id="29" name="Text 27"/>
          <p:cNvSpPr/>
          <p:nvPr/>
        </p:nvSpPr>
        <p:spPr>
          <a:xfrm>
            <a:off x="1243584" y="5541264"/>
            <a:ext cx="6720840" cy="329184"/>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Chênh lệch vài case đã đủ làm thay đổi tỷ lệ phần trăm — cần kiểm định ghép cặp và khoảng tin cậy.</a:t>
            </a:r>
            <a:endParaRPr lang="en-US" sz="950" dirty="0"/>
          </a:p>
        </p:txBody>
      </p:sp>
      <p:sp>
        <p:nvSpPr>
          <p:cNvPr id="30" name="Shape 28"/>
          <p:cNvSpPr/>
          <p:nvPr/>
        </p:nvSpPr>
        <p:spPr>
          <a:xfrm>
            <a:off x="8458200" y="1737360"/>
            <a:ext cx="3154680" cy="4114800"/>
          </a:xfrm>
          <a:prstGeom prst="roundRect">
            <a:avLst>
              <a:gd name="adj" fmla="val 2609"/>
            </a:avLst>
          </a:prstGeom>
          <a:solidFill>
            <a:srgbClr val="0D1B2A"/>
          </a:solidFill>
          <a:ln w="9525">
            <a:solidFill>
              <a:srgbClr val="0D1B2A"/>
            </a:solidFill>
            <a:prstDash val="solid"/>
          </a:ln>
        </p:spPr>
      </p:sp>
      <p:sp>
        <p:nvSpPr>
          <p:cNvPr id="31" name="Text 29"/>
          <p:cNvSpPr/>
          <p:nvPr/>
        </p:nvSpPr>
        <p:spPr>
          <a:xfrm>
            <a:off x="8695944" y="1865376"/>
            <a:ext cx="2743200" cy="237744"/>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QUY MÔ PHÉP ĐO</a:t>
            </a:r>
            <a:endParaRPr lang="en-US" sz="850" dirty="0"/>
          </a:p>
        </p:txBody>
      </p:sp>
      <p:sp>
        <p:nvSpPr>
          <p:cNvPr id="32" name="Text 30"/>
          <p:cNvSpPr/>
          <p:nvPr/>
        </p:nvSpPr>
        <p:spPr>
          <a:xfrm>
            <a:off x="8695944" y="2267712"/>
            <a:ext cx="960120" cy="658368"/>
          </a:xfrm>
          <a:prstGeom prst="rect">
            <a:avLst/>
          </a:prstGeom>
          <a:noFill/>
          <a:ln/>
        </p:spPr>
        <p:txBody>
          <a:bodyPr wrap="square" lIns="0" tIns="0" rIns="0" bIns="0" rtlCol="0" anchor="ctr"/>
          <a:lstStyle/>
          <a:p>
            <a:pPr indent="0" marL="0">
              <a:buNone/>
            </a:pPr>
            <a:r>
              <a:rPr lang="en-US" sz="3000" b="1" dirty="0">
                <a:solidFill>
                  <a:srgbClr val="1F9E86"/>
                </a:solidFill>
                <a:latin typeface="Calibri" pitchFamily="34" charset="0"/>
                <a:ea typeface="Calibri" pitchFamily="34" charset="-122"/>
                <a:cs typeface="Calibri" pitchFamily="34" charset="-120"/>
              </a:rPr>
              <a:t>33</a:t>
            </a:r>
            <a:endParaRPr lang="en-US" sz="3000" dirty="0"/>
          </a:p>
        </p:txBody>
      </p:sp>
      <p:sp>
        <p:nvSpPr>
          <p:cNvPr id="33" name="Text 31"/>
          <p:cNvSpPr/>
          <p:nvPr/>
        </p:nvSpPr>
        <p:spPr>
          <a:xfrm>
            <a:off x="9528048" y="2267712"/>
            <a:ext cx="1920240" cy="658368"/>
          </a:xfrm>
          <a:prstGeom prst="rect">
            <a:avLst/>
          </a:prstGeom>
          <a:noFill/>
          <a:ln/>
        </p:spPr>
        <p:txBody>
          <a:bodyPr wrap="square" lIns="0" tIns="0" rIns="0" bIns="0" rtlCol="0" anchor="ctr"/>
          <a:lstStyle/>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cảnh báo đã làm sạch</a:t>
            </a:r>
            <a:endParaRPr lang="en-US" sz="950" dirty="0"/>
          </a:p>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thông tin định danh</a:t>
            </a:r>
            <a:endParaRPr lang="en-US" sz="950" dirty="0"/>
          </a:p>
        </p:txBody>
      </p:sp>
      <p:sp>
        <p:nvSpPr>
          <p:cNvPr id="34" name="Text 32"/>
          <p:cNvSpPr/>
          <p:nvPr/>
        </p:nvSpPr>
        <p:spPr>
          <a:xfrm>
            <a:off x="8695944" y="3291840"/>
            <a:ext cx="960120" cy="658368"/>
          </a:xfrm>
          <a:prstGeom prst="rect">
            <a:avLst/>
          </a:prstGeom>
          <a:noFill/>
          <a:ln/>
        </p:spPr>
        <p:txBody>
          <a:bodyPr wrap="square" lIns="0" tIns="0" rIns="0" bIns="0" rtlCol="0" anchor="ctr"/>
          <a:lstStyle/>
          <a:p>
            <a:pPr indent="0" marL="0">
              <a:buNone/>
            </a:pPr>
            <a:r>
              <a:rPr lang="en-US" sz="3000" b="1" dirty="0">
                <a:solidFill>
                  <a:srgbClr val="1F9E86"/>
                </a:solidFill>
                <a:latin typeface="Calibri" pitchFamily="34" charset="0"/>
                <a:ea typeface="Calibri" pitchFamily="34" charset="-122"/>
                <a:cs typeface="Calibri" pitchFamily="34" charset="-120"/>
              </a:rPr>
              <a:t>99</a:t>
            </a:r>
            <a:endParaRPr lang="en-US" sz="3000" dirty="0"/>
          </a:p>
        </p:txBody>
      </p:sp>
      <p:sp>
        <p:nvSpPr>
          <p:cNvPr id="35" name="Text 33"/>
          <p:cNvSpPr/>
          <p:nvPr/>
        </p:nvSpPr>
        <p:spPr>
          <a:xfrm>
            <a:off x="9528048" y="3291840"/>
            <a:ext cx="1920240" cy="658368"/>
          </a:xfrm>
          <a:prstGeom prst="rect">
            <a:avLst/>
          </a:prstGeom>
          <a:noFill/>
          <a:ln/>
        </p:spPr>
        <p:txBody>
          <a:bodyPr wrap="square" lIns="0" tIns="0" rIns="0" bIns="0" rtlCol="0" anchor="ctr"/>
          <a:lstStyle/>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lượt kết quả</a:t>
            </a:r>
            <a:endParaRPr lang="en-US" sz="950" dirty="0"/>
          </a:p>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trên ba cấu hình</a:t>
            </a:r>
            <a:endParaRPr lang="en-US" sz="950" dirty="0"/>
          </a:p>
        </p:txBody>
      </p:sp>
      <p:sp>
        <p:nvSpPr>
          <p:cNvPr id="36" name="Text 34"/>
          <p:cNvSpPr/>
          <p:nvPr/>
        </p:nvSpPr>
        <p:spPr>
          <a:xfrm>
            <a:off x="8695944" y="4315968"/>
            <a:ext cx="960120" cy="658368"/>
          </a:xfrm>
          <a:prstGeom prst="rect">
            <a:avLst/>
          </a:prstGeom>
          <a:noFill/>
          <a:ln/>
        </p:spPr>
        <p:txBody>
          <a:bodyPr wrap="square" lIns="0" tIns="0" rIns="0" bIns="0" rtlCol="0" anchor="ctr"/>
          <a:lstStyle/>
          <a:p>
            <a:pPr indent="0" marL="0">
              <a:buNone/>
            </a:pPr>
            <a:r>
              <a:rPr lang="en-US" sz="3000" b="1" dirty="0">
                <a:solidFill>
                  <a:srgbClr val="1F9E86"/>
                </a:solidFill>
                <a:latin typeface="Calibri" pitchFamily="34" charset="0"/>
                <a:ea typeface="Calibri" pitchFamily="34" charset="-122"/>
                <a:cs typeface="Calibri" pitchFamily="34" charset="-120"/>
              </a:rPr>
              <a:t>100</a:t>
            </a:r>
            <a:endParaRPr lang="en-US" sz="3000" dirty="0"/>
          </a:p>
        </p:txBody>
      </p:sp>
      <p:sp>
        <p:nvSpPr>
          <p:cNvPr id="37" name="Text 35"/>
          <p:cNvSpPr/>
          <p:nvPr/>
        </p:nvSpPr>
        <p:spPr>
          <a:xfrm>
            <a:off x="9528048" y="4315968"/>
            <a:ext cx="1920240" cy="658368"/>
          </a:xfrm>
          <a:prstGeom prst="rect">
            <a:avLst/>
          </a:prstGeom>
          <a:noFill/>
          <a:ln/>
        </p:spPr>
        <p:txBody>
          <a:bodyPr wrap="square" lIns="0" tIns="0" rIns="0" bIns="0" rtlCol="0" anchor="ctr"/>
          <a:lstStyle/>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cặp điểm chấm tay</a:t>
            </a:r>
            <a:endParaRPr lang="en-US" sz="950" dirty="0"/>
          </a:p>
          <a:p>
            <a:pPr indent="0" marL="0">
              <a:lnSpc>
                <a:spcPct val="102000"/>
              </a:lnSpc>
              <a:buNone/>
            </a:pPr>
            <a:r>
              <a:rPr lang="en-US" sz="950" dirty="0">
                <a:solidFill>
                  <a:srgbClr val="A8C6DD"/>
                </a:solidFill>
                <a:latin typeface="Calibri" pitchFamily="34" charset="0"/>
                <a:ea typeface="Calibri" pitchFamily="34" charset="-122"/>
                <a:cs typeface="Calibri" pitchFamily="34" charset="-120"/>
              </a:rPr>
              <a:t>20 case × 5 tiêu chí</a:t>
            </a:r>
            <a:endParaRPr lang="en-US" sz="950" dirty="0"/>
          </a:p>
        </p:txBody>
      </p:sp>
      <p:sp>
        <p:nvSpPr>
          <p:cNvPr id="38" name="Text 36"/>
          <p:cNvSpPr/>
          <p:nvPr/>
        </p:nvSpPr>
        <p:spPr>
          <a:xfrm>
            <a:off x="8695944" y="5431536"/>
            <a:ext cx="2834640" cy="274320"/>
          </a:xfrm>
          <a:prstGeom prst="rect">
            <a:avLst/>
          </a:prstGeom>
          <a:noFill/>
          <a:ln/>
        </p:spPr>
        <p:txBody>
          <a:bodyPr wrap="square" lIns="0" tIns="0" rIns="0" bIns="0" rtlCol="0" anchor="ctr"/>
          <a:lstStyle/>
          <a:p>
            <a:pPr indent="0" marL="0">
              <a:buNone/>
            </a:pPr>
            <a:r>
              <a:rPr lang="en-US" sz="850" i="1" dirty="0">
                <a:solidFill>
                  <a:srgbClr val="FBF1DC"/>
                </a:solidFill>
                <a:latin typeface="Calibri" pitchFamily="34" charset="0"/>
                <a:ea typeface="Calibri" pitchFamily="34" charset="-122"/>
                <a:cs typeface="Calibri" pitchFamily="34" charset="-120"/>
              </a:rPr>
              <a:t>nhãn chuẩn: bản nháp, một người rà soát</a:t>
            </a:r>
            <a:endParaRPr lang="en-US" sz="850" dirty="0"/>
          </a:p>
        </p:txBody>
      </p:sp>
      <p:sp>
        <p:nvSpPr>
          <p:cNvPr id="39" name="Text 37"/>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Cả nhóm — bộ dữ liệu, baseline và thiết kế phép đo</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Chấm điểm độc lập: Đinh Tuấn Dương và Nguyễn Trung Nguyên</a:t>
            </a:r>
            <a:endParaRPr lang="en-US" sz="900" dirty="0"/>
          </a:p>
        </p:txBody>
      </p:sp>
      <p:sp>
        <p:nvSpPr>
          <p:cNvPr id="40" name="Text 38"/>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8928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BÀI TOÁN 4 · GIẢI PHÁP</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Ba cấu hình trên cùng bộ dữ liệu tách bạch hai phép so sánh độc lập</a:t>
            </a:r>
            <a:endParaRPr lang="en-US" sz="2600" dirty="0"/>
          </a:p>
        </p:txBody>
      </p:sp>
      <p:sp>
        <p:nvSpPr>
          <p:cNvPr id="5" name="Shape 3"/>
          <p:cNvSpPr/>
          <p:nvPr/>
        </p:nvSpPr>
        <p:spPr>
          <a:xfrm>
            <a:off x="548640" y="1719072"/>
            <a:ext cx="7635240" cy="841248"/>
          </a:xfrm>
          <a:prstGeom prst="roundRect">
            <a:avLst>
              <a:gd name="adj" fmla="val 9783"/>
            </a:avLst>
          </a:prstGeom>
          <a:solidFill>
            <a:srgbClr val="0D1B2A"/>
          </a:solidFill>
          <a:ln w="9525">
            <a:solidFill>
              <a:srgbClr val="0D1B2A"/>
            </a:solidFill>
            <a:prstDash val="solid"/>
          </a:ln>
        </p:spPr>
      </p:sp>
      <p:sp>
        <p:nvSpPr>
          <p:cNvPr id="6" name="Text 4"/>
          <p:cNvSpPr/>
          <p:nvPr/>
        </p:nvSpPr>
        <p:spPr>
          <a:xfrm>
            <a:off x="804672" y="1719072"/>
            <a:ext cx="7132320" cy="841248"/>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Giữ cố định:  </a:t>
            </a:r>
            <a:pPr indent="0" marL="0">
              <a:lnSpc>
                <a:spcPct val="110000"/>
              </a:lnSpc>
              <a:buNone/>
            </a:pPr>
            <a:r>
              <a:rPr lang="en-US" sz="1100" dirty="0">
                <a:solidFill>
                  <a:srgbClr val="A8C6DD"/>
                </a:solidFill>
                <a:latin typeface="Calibri" pitchFamily="34" charset="0"/>
                <a:ea typeface="Calibri" pitchFamily="34" charset="-122"/>
                <a:cs typeface="Calibri" pitchFamily="34" charset="-120"/>
              </a:rPr>
              <a:t>cùng 33 cảnh báo  ·  cùng chỉ dẫn soc-contract-v1  ·  cùng lược đồ đầu ra  ·  nhiệt độ 0 và seed cố định</a:t>
            </a:r>
            <a:endParaRPr lang="en-US" sz="1100" dirty="0"/>
          </a:p>
        </p:txBody>
      </p:sp>
      <p:sp>
        <p:nvSpPr>
          <p:cNvPr id="7" name="Shape 5"/>
          <p:cNvSpPr/>
          <p:nvPr/>
        </p:nvSpPr>
        <p:spPr>
          <a:xfrm>
            <a:off x="548640" y="2724912"/>
            <a:ext cx="7635240" cy="676656"/>
          </a:xfrm>
          <a:prstGeom prst="roundRect">
            <a:avLst>
              <a:gd name="adj" fmla="val 12162"/>
            </a:avLst>
          </a:prstGeom>
          <a:solidFill>
            <a:srgbClr val="DCF0EB"/>
          </a:solidFill>
          <a:ln w="9525">
            <a:solidFill>
              <a:srgbClr val="BCE0D7"/>
            </a:solidFill>
            <a:prstDash val="solid"/>
          </a:ln>
        </p:spPr>
      </p:sp>
      <p:sp>
        <p:nvSpPr>
          <p:cNvPr id="8" name="Shape 6"/>
          <p:cNvSpPr/>
          <p:nvPr/>
        </p:nvSpPr>
        <p:spPr>
          <a:xfrm>
            <a:off x="786384" y="2880360"/>
            <a:ext cx="365760" cy="365760"/>
          </a:xfrm>
          <a:prstGeom prst="roundRect">
            <a:avLst>
              <a:gd name="adj" fmla="val 55000"/>
            </a:avLst>
          </a:prstGeom>
          <a:solidFill>
            <a:srgbClr val="1F9E86"/>
          </a:solidFill>
          <a:ln w="12700">
            <a:solidFill>
              <a:srgbClr val="1F9E86"/>
            </a:solidFill>
            <a:prstDash val="solid"/>
          </a:ln>
        </p:spPr>
      </p:sp>
      <p:sp>
        <p:nvSpPr>
          <p:cNvPr id="9" name="Text 7"/>
          <p:cNvSpPr/>
          <p:nvPr/>
        </p:nvSpPr>
        <p:spPr>
          <a:xfrm>
            <a:off x="786384" y="2880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298448" y="2724912"/>
            <a:ext cx="3017520" cy="676656"/>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qwen2.5:7b  +  RAG</a:t>
            </a:r>
            <a:endParaRPr lang="en-US" sz="1300" dirty="0"/>
          </a:p>
        </p:txBody>
      </p:sp>
      <p:sp>
        <p:nvSpPr>
          <p:cNvPr id="11" name="Text 9"/>
          <p:cNvSpPr/>
          <p:nvPr/>
        </p:nvSpPr>
        <p:spPr>
          <a:xfrm>
            <a:off x="4389120" y="2724912"/>
            <a:ext cx="3611880" cy="676656"/>
          </a:xfrm>
          <a:prstGeom prst="rect">
            <a:avLst/>
          </a:prstGeom>
          <a:noFill/>
          <a:ln/>
        </p:spPr>
        <p:txBody>
          <a:bodyPr wrap="square" lIns="0" tIns="0" rIns="0" bIns="0" rtlCol="0" anchor="ctr"/>
          <a:lstStyle/>
          <a:p>
            <a:pPr indent="0" marL="0">
              <a:buNone/>
            </a:pPr>
            <a:r>
              <a:rPr lang="en-US" sz="1000" dirty="0">
                <a:solidFill>
                  <a:srgbClr val="667E93"/>
                </a:solidFill>
                <a:latin typeface="Calibri" pitchFamily="34" charset="0"/>
                <a:ea typeface="Calibri" pitchFamily="34" charset="-122"/>
                <a:cs typeface="Calibri" pitchFamily="34" charset="-120"/>
              </a:rPr>
              <a:t>Cấu hình chuẩn</a:t>
            </a:r>
            <a:endParaRPr lang="en-US" sz="1000" dirty="0"/>
          </a:p>
        </p:txBody>
      </p:sp>
      <p:sp>
        <p:nvSpPr>
          <p:cNvPr id="12" name="Shape 10"/>
          <p:cNvSpPr/>
          <p:nvPr/>
        </p:nvSpPr>
        <p:spPr>
          <a:xfrm>
            <a:off x="548640" y="3511296"/>
            <a:ext cx="7635240" cy="676656"/>
          </a:xfrm>
          <a:prstGeom prst="roundRect">
            <a:avLst>
              <a:gd name="adj" fmla="val 12162"/>
            </a:avLst>
          </a:prstGeom>
          <a:solidFill>
            <a:srgbClr val="E1EDF6"/>
          </a:solidFill>
          <a:ln w="9525">
            <a:solidFill>
              <a:srgbClr val="BFD8EA"/>
            </a:solidFill>
            <a:prstDash val="solid"/>
          </a:ln>
        </p:spPr>
      </p:sp>
      <p:sp>
        <p:nvSpPr>
          <p:cNvPr id="13" name="Shape 11"/>
          <p:cNvSpPr/>
          <p:nvPr/>
        </p:nvSpPr>
        <p:spPr>
          <a:xfrm>
            <a:off x="786384" y="3666744"/>
            <a:ext cx="365760" cy="365760"/>
          </a:xfrm>
          <a:prstGeom prst="roundRect">
            <a:avLst>
              <a:gd name="adj" fmla="val 55000"/>
            </a:avLst>
          </a:prstGeom>
          <a:solidFill>
            <a:srgbClr val="2C6E9B"/>
          </a:solidFill>
          <a:ln w="12700">
            <a:solidFill>
              <a:srgbClr val="2C6E9B"/>
            </a:solidFill>
            <a:prstDash val="solid"/>
          </a:ln>
        </p:spPr>
      </p:sp>
      <p:sp>
        <p:nvSpPr>
          <p:cNvPr id="14" name="Text 12"/>
          <p:cNvSpPr/>
          <p:nvPr/>
        </p:nvSpPr>
        <p:spPr>
          <a:xfrm>
            <a:off x="786384"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5" name="Text 13"/>
          <p:cNvSpPr/>
          <p:nvPr/>
        </p:nvSpPr>
        <p:spPr>
          <a:xfrm>
            <a:off x="1298448" y="3511296"/>
            <a:ext cx="3017520" cy="676656"/>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qwen2.5:7b  không RAG</a:t>
            </a:r>
            <a:endParaRPr lang="en-US" sz="1300" dirty="0"/>
          </a:p>
        </p:txBody>
      </p:sp>
      <p:sp>
        <p:nvSpPr>
          <p:cNvPr id="16" name="Text 14"/>
          <p:cNvSpPr/>
          <p:nvPr/>
        </p:nvSpPr>
        <p:spPr>
          <a:xfrm>
            <a:off x="4389120" y="3511296"/>
            <a:ext cx="3611880" cy="676656"/>
          </a:xfrm>
          <a:prstGeom prst="rect">
            <a:avLst/>
          </a:prstGeom>
          <a:noFill/>
          <a:ln/>
        </p:spPr>
        <p:txBody>
          <a:bodyPr wrap="square" lIns="0" tIns="0" rIns="0" bIns="0" rtlCol="0" anchor="ctr"/>
          <a:lstStyle/>
          <a:p>
            <a:pPr indent="0" marL="0">
              <a:buNone/>
            </a:pPr>
            <a:r>
              <a:rPr lang="en-US" sz="1000" dirty="0">
                <a:solidFill>
                  <a:srgbClr val="667E93"/>
                </a:solidFill>
                <a:latin typeface="Calibri" pitchFamily="34" charset="0"/>
                <a:ea typeface="Calibri" pitchFamily="34" charset="-122"/>
                <a:cs typeface="Calibri" pitchFamily="34" charset="-120"/>
              </a:rPr>
              <a:t>Đo ảnh hưởng của truy xuất tăng cường</a:t>
            </a:r>
            <a:endParaRPr lang="en-US" sz="1000" dirty="0"/>
          </a:p>
        </p:txBody>
      </p:sp>
      <p:sp>
        <p:nvSpPr>
          <p:cNvPr id="17" name="Shape 15"/>
          <p:cNvSpPr/>
          <p:nvPr/>
        </p:nvSpPr>
        <p:spPr>
          <a:xfrm>
            <a:off x="548640" y="4297680"/>
            <a:ext cx="7635240" cy="676656"/>
          </a:xfrm>
          <a:prstGeom prst="roundRect">
            <a:avLst>
              <a:gd name="adj" fmla="val 12162"/>
            </a:avLst>
          </a:prstGeom>
          <a:solidFill>
            <a:srgbClr val="FAE3DF"/>
          </a:solidFill>
          <a:ln w="9525">
            <a:solidFill>
              <a:srgbClr val="EFC8C1"/>
            </a:solidFill>
            <a:prstDash val="solid"/>
          </a:ln>
        </p:spPr>
      </p:sp>
      <p:sp>
        <p:nvSpPr>
          <p:cNvPr id="18" name="Shape 16"/>
          <p:cNvSpPr/>
          <p:nvPr/>
        </p:nvSpPr>
        <p:spPr>
          <a:xfrm>
            <a:off x="786384" y="4453128"/>
            <a:ext cx="365760" cy="365760"/>
          </a:xfrm>
          <a:prstGeom prst="roundRect">
            <a:avLst>
              <a:gd name="adj" fmla="val 55000"/>
            </a:avLst>
          </a:prstGeom>
          <a:solidFill>
            <a:srgbClr val="BE4B3B"/>
          </a:solidFill>
          <a:ln w="12700">
            <a:solidFill>
              <a:srgbClr val="BE4B3B"/>
            </a:solidFill>
            <a:prstDash val="solid"/>
          </a:ln>
        </p:spPr>
      </p:sp>
      <p:sp>
        <p:nvSpPr>
          <p:cNvPr id="19" name="Text 17"/>
          <p:cNvSpPr/>
          <p:nvPr/>
        </p:nvSpPr>
        <p:spPr>
          <a:xfrm>
            <a:off x="786384"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8"/>
          <p:cNvSpPr/>
          <p:nvPr/>
        </p:nvSpPr>
        <p:spPr>
          <a:xfrm>
            <a:off x="1298448" y="4297680"/>
            <a:ext cx="3017520" cy="676656"/>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notmythos-8b  +  RAG</a:t>
            </a:r>
            <a:endParaRPr lang="en-US" sz="1300" dirty="0"/>
          </a:p>
        </p:txBody>
      </p:sp>
      <p:sp>
        <p:nvSpPr>
          <p:cNvPr id="21" name="Text 19"/>
          <p:cNvSpPr/>
          <p:nvPr/>
        </p:nvSpPr>
        <p:spPr>
          <a:xfrm>
            <a:off x="4389120" y="4297680"/>
            <a:ext cx="3611880" cy="676656"/>
          </a:xfrm>
          <a:prstGeom prst="rect">
            <a:avLst/>
          </a:prstGeom>
          <a:noFill/>
          <a:ln/>
        </p:spPr>
        <p:txBody>
          <a:bodyPr wrap="square" lIns="0" tIns="0" rIns="0" bIns="0" rtlCol="0" anchor="ctr"/>
          <a:lstStyle/>
          <a:p>
            <a:pPr indent="0" marL="0">
              <a:buNone/>
            </a:pPr>
            <a:r>
              <a:rPr lang="en-US" sz="1000" dirty="0">
                <a:solidFill>
                  <a:srgbClr val="667E93"/>
                </a:solidFill>
                <a:latin typeface="Calibri" pitchFamily="34" charset="0"/>
                <a:ea typeface="Calibri" pitchFamily="34" charset="-122"/>
                <a:cs typeface="Calibri" pitchFamily="34" charset="-120"/>
              </a:rPr>
              <a:t>Đo khác biệt giữa hai mô hình</a:t>
            </a:r>
            <a:endParaRPr lang="en-US" sz="1000" dirty="0"/>
          </a:p>
        </p:txBody>
      </p:sp>
      <p:sp>
        <p:nvSpPr>
          <p:cNvPr id="22" name="Shape 20"/>
          <p:cNvSpPr/>
          <p:nvPr/>
        </p:nvSpPr>
        <p:spPr>
          <a:xfrm>
            <a:off x="548640" y="5120640"/>
            <a:ext cx="7635240" cy="1005840"/>
          </a:xfrm>
          <a:prstGeom prst="roundRect">
            <a:avLst>
              <a:gd name="adj" fmla="val 8182"/>
            </a:avLst>
          </a:prstGeom>
          <a:solidFill>
            <a:srgbClr val="F2F6FA"/>
          </a:solidFill>
          <a:ln w="9525">
            <a:solidFill>
              <a:srgbClr val="D7E2EC"/>
            </a:solidFill>
            <a:prstDash val="solid"/>
          </a:ln>
        </p:spPr>
      </p:sp>
      <p:sp>
        <p:nvSpPr>
          <p:cNvPr id="23" name="Text 21"/>
          <p:cNvSpPr/>
          <p:nvPr/>
        </p:nvSpPr>
        <p:spPr>
          <a:xfrm>
            <a:off x="804672" y="5120640"/>
            <a:ext cx="7132320" cy="1005840"/>
          </a:xfrm>
          <a:prstGeom prst="rect">
            <a:avLst/>
          </a:prstGeom>
          <a:noFill/>
          <a:ln/>
        </p:spPr>
        <p:txBody>
          <a:bodyPr wrap="square" lIns="0" tIns="0" rIns="0" bIns="0" rtlCol="0" anchor="ctr"/>
          <a:lstStyle/>
          <a:p>
            <a:pPr indent="0" marL="0">
              <a:lnSpc>
                <a:spcPct val="105000"/>
              </a:lnSpc>
              <a:buNone/>
            </a:pPr>
            <a:r>
              <a:rPr lang="en-US" sz="1050" b="1" dirty="0">
                <a:solidFill>
                  <a:srgbClr val="0D1B2A"/>
                </a:solidFill>
                <a:latin typeface="Calibri" pitchFamily="34" charset="0"/>
                <a:ea typeface="Calibri" pitchFamily="34" charset="-122"/>
                <a:cs typeface="Calibri" pitchFamily="34" charset="-120"/>
              </a:rPr>
              <a:t>Đối chứng thứ tư — đường cơ sở không dùng mô hình ngôn ngữ:  </a:t>
            </a:r>
            <a:pPr indent="0" marL="0">
              <a:lnSpc>
                <a:spcPct val="105000"/>
              </a:lnSpc>
              <a:buNone/>
            </a:pPr>
            <a:r>
              <a:rPr lang="en-US" sz="1050" dirty="0">
                <a:solidFill>
                  <a:srgbClr val="667E93"/>
                </a:solidFill>
                <a:latin typeface="Calibri" pitchFamily="34" charset="0"/>
                <a:ea typeface="Calibri" pitchFamily="34" charset="-122"/>
                <a:cs typeface="Calibri" pitchFamily="34" charset="-120"/>
              </a:rPr>
              <a:t>quy tắc trả về nhóm mức tương ứng với giá trị rule.level của luật đã kích hoạt, để tách phần đóng góp thực sự của khâu diễn giải khỏi thông tin cảnh báo vốn đã cung cấp sẵn.</a:t>
            </a:r>
            <a:endParaRPr lang="en-US" sz="1050" dirty="0"/>
          </a:p>
        </p:txBody>
      </p:sp>
      <p:sp>
        <p:nvSpPr>
          <p:cNvPr id="24" name="Shape 22"/>
          <p:cNvSpPr/>
          <p:nvPr/>
        </p:nvSpPr>
        <p:spPr>
          <a:xfrm>
            <a:off x="8458200" y="1719072"/>
            <a:ext cx="3154680" cy="4407408"/>
          </a:xfrm>
          <a:prstGeom prst="roundRect">
            <a:avLst>
              <a:gd name="adj" fmla="val 2609"/>
            </a:avLst>
          </a:prstGeom>
          <a:solidFill>
            <a:srgbClr val="0D1B2A"/>
          </a:solidFill>
          <a:ln w="9525">
            <a:solidFill>
              <a:srgbClr val="0D1B2A"/>
            </a:solidFill>
            <a:prstDash val="solid"/>
          </a:ln>
        </p:spPr>
      </p:sp>
      <p:sp>
        <p:nvSpPr>
          <p:cNvPr id="25" name="Text 23"/>
          <p:cNvSpPr/>
          <p:nvPr/>
        </p:nvSpPr>
        <p:spPr>
          <a:xfrm>
            <a:off x="8695944" y="1865376"/>
            <a:ext cx="2697480" cy="237744"/>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MÃ NGUỒN DẪN CHIẾU</a:t>
            </a:r>
            <a:endParaRPr lang="en-US" sz="850" dirty="0"/>
          </a:p>
        </p:txBody>
      </p:sp>
      <p:sp>
        <p:nvSpPr>
          <p:cNvPr id="26" name="Shape 24"/>
          <p:cNvSpPr/>
          <p:nvPr/>
        </p:nvSpPr>
        <p:spPr>
          <a:xfrm>
            <a:off x="8695944" y="2212848"/>
            <a:ext cx="2679192" cy="329184"/>
          </a:xfrm>
          <a:prstGeom prst="roundRect">
            <a:avLst>
              <a:gd name="adj" fmla="val 22222"/>
            </a:avLst>
          </a:prstGeom>
          <a:solidFill>
            <a:srgbClr val="16293D"/>
          </a:solidFill>
          <a:ln w="9525">
            <a:solidFill>
              <a:srgbClr val="2B4A66"/>
            </a:solidFill>
            <a:prstDash val="solid"/>
          </a:ln>
        </p:spPr>
      </p:sp>
      <p:sp>
        <p:nvSpPr>
          <p:cNvPr id="27" name="Text 25"/>
          <p:cNvSpPr/>
          <p:nvPr/>
        </p:nvSpPr>
        <p:spPr>
          <a:xfrm>
            <a:off x="8823960" y="2212848"/>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eval/run_eval.py</a:t>
            </a:r>
            <a:endParaRPr lang="en-US" sz="900" dirty="0"/>
          </a:p>
        </p:txBody>
      </p:sp>
      <p:sp>
        <p:nvSpPr>
          <p:cNvPr id="28" name="Shape 26"/>
          <p:cNvSpPr/>
          <p:nvPr/>
        </p:nvSpPr>
        <p:spPr>
          <a:xfrm>
            <a:off x="8695944" y="2633472"/>
            <a:ext cx="2679192" cy="329184"/>
          </a:xfrm>
          <a:prstGeom prst="roundRect">
            <a:avLst>
              <a:gd name="adj" fmla="val 22222"/>
            </a:avLst>
          </a:prstGeom>
          <a:solidFill>
            <a:srgbClr val="16293D"/>
          </a:solidFill>
          <a:ln w="9525">
            <a:solidFill>
              <a:srgbClr val="2B4A66"/>
            </a:solidFill>
            <a:prstDash val="solid"/>
          </a:ln>
        </p:spPr>
      </p:sp>
      <p:sp>
        <p:nvSpPr>
          <p:cNvPr id="29" name="Text 27"/>
          <p:cNvSpPr/>
          <p:nvPr/>
        </p:nvSpPr>
        <p:spPr>
          <a:xfrm>
            <a:off x="8823960" y="2633472"/>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eval/summarize_results.py</a:t>
            </a:r>
            <a:endParaRPr lang="en-US" sz="900" dirty="0"/>
          </a:p>
        </p:txBody>
      </p:sp>
      <p:sp>
        <p:nvSpPr>
          <p:cNvPr id="30" name="Shape 28"/>
          <p:cNvSpPr/>
          <p:nvPr/>
        </p:nvSpPr>
        <p:spPr>
          <a:xfrm>
            <a:off x="8695944" y="3054096"/>
            <a:ext cx="2679192" cy="329184"/>
          </a:xfrm>
          <a:prstGeom prst="roundRect">
            <a:avLst>
              <a:gd name="adj" fmla="val 22222"/>
            </a:avLst>
          </a:prstGeom>
          <a:solidFill>
            <a:srgbClr val="16293D"/>
          </a:solidFill>
          <a:ln w="9525">
            <a:solidFill>
              <a:srgbClr val="2B4A66"/>
            </a:solidFill>
            <a:prstDash val="solid"/>
          </a:ln>
        </p:spPr>
      </p:sp>
      <p:sp>
        <p:nvSpPr>
          <p:cNvPr id="31" name="Text 29"/>
          <p:cNvSpPr/>
          <p:nvPr/>
        </p:nvSpPr>
        <p:spPr>
          <a:xfrm>
            <a:off x="8823960" y="3054096"/>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eval/stats_analysis.py</a:t>
            </a:r>
            <a:endParaRPr lang="en-US" sz="900" dirty="0"/>
          </a:p>
        </p:txBody>
      </p:sp>
      <p:sp>
        <p:nvSpPr>
          <p:cNvPr id="32" name="Shape 30"/>
          <p:cNvSpPr/>
          <p:nvPr/>
        </p:nvSpPr>
        <p:spPr>
          <a:xfrm>
            <a:off x="8695944" y="3474720"/>
            <a:ext cx="2679192" cy="329184"/>
          </a:xfrm>
          <a:prstGeom prst="roundRect">
            <a:avLst>
              <a:gd name="adj" fmla="val 22222"/>
            </a:avLst>
          </a:prstGeom>
          <a:solidFill>
            <a:srgbClr val="16293D"/>
          </a:solidFill>
          <a:ln w="9525">
            <a:solidFill>
              <a:srgbClr val="2B4A66"/>
            </a:solidFill>
            <a:prstDash val="solid"/>
          </a:ln>
        </p:spPr>
      </p:sp>
      <p:sp>
        <p:nvSpPr>
          <p:cNvPr id="33" name="Text 31"/>
          <p:cNvSpPr/>
          <p:nvPr/>
        </p:nvSpPr>
        <p:spPr>
          <a:xfrm>
            <a:off x="8823960" y="3474720"/>
            <a:ext cx="2441448" cy="329184"/>
          </a:xfrm>
          <a:prstGeom prst="rect">
            <a:avLst/>
          </a:prstGeom>
          <a:noFill/>
          <a:ln/>
        </p:spPr>
        <p:txBody>
          <a:bodyPr wrap="square" lIns="0" tIns="0" rIns="0" bIns="0" rtlCol="0" anchor="ctr"/>
          <a:lstStyle/>
          <a:p>
            <a:pPr indent="0" marL="0">
              <a:buNone/>
            </a:pPr>
            <a:r>
              <a:rPr lang="en-US" sz="900" dirty="0">
                <a:solidFill>
                  <a:srgbClr val="A8C6DD"/>
                </a:solidFill>
                <a:latin typeface="Courier New" pitchFamily="34" charset="0"/>
                <a:ea typeface="Courier New" pitchFamily="34" charset="-122"/>
                <a:cs typeface="Courier New" pitchFamily="34" charset="-120"/>
              </a:rPr>
              <a:t>eval/export_confusion_matrix.py</a:t>
            </a:r>
            <a:endParaRPr lang="en-US" sz="900" dirty="0"/>
          </a:p>
        </p:txBody>
      </p:sp>
      <p:sp>
        <p:nvSpPr>
          <p:cNvPr id="34" name="Text 32"/>
          <p:cNvSpPr/>
          <p:nvPr/>
        </p:nvSpPr>
        <p:spPr>
          <a:xfrm>
            <a:off x="8695944" y="3968496"/>
            <a:ext cx="2679192" cy="2103120"/>
          </a:xfrm>
          <a:prstGeom prst="rect">
            <a:avLst/>
          </a:prstGeom>
          <a:noFill/>
          <a:ln/>
        </p:spPr>
        <p:txBody>
          <a:bodyPr wrap="square" lIns="0" tIns="0" rIns="0" bIns="0" rtlCol="0" anchor="t"/>
          <a:lstStyle/>
          <a:p>
            <a:pPr indent="0" marL="0">
              <a:lnSpc>
                <a:spcPct val="105000"/>
              </a:lnSpc>
              <a:buNone/>
            </a:pPr>
            <a:r>
              <a:rPr lang="en-US" sz="950" i="1" dirty="0">
                <a:solidFill>
                  <a:srgbClr val="8FB0C8"/>
                </a:solidFill>
                <a:latin typeface="Calibri" pitchFamily="34" charset="0"/>
                <a:ea typeface="Calibri" pitchFamily="34" charset="-122"/>
                <a:cs typeface="Calibri" pitchFamily="34" charset="-120"/>
              </a:rPr>
              <a:t>Trường hợp mô hình từ chối phân loại được giữ thành một cột riêng, không bị loại khỏi mẫu — nếu loại bỏ, tỷ lệ đúng sẽ bị thổi từ 66,7% lên 68,8%.</a:t>
            </a:r>
            <a:endParaRPr lang="en-US" sz="950" dirty="0"/>
          </a:p>
        </p:txBody>
      </p:sp>
      <p:sp>
        <p:nvSpPr>
          <p:cNvPr id="35" name="Text 33"/>
          <p:cNvSpPr/>
          <p:nvPr/>
        </p:nvSpPr>
        <p:spPr>
          <a:xfrm>
            <a:off x="548640" y="6382512"/>
            <a:ext cx="10241280" cy="274320"/>
          </a:xfrm>
          <a:prstGeom prst="rect">
            <a:avLst/>
          </a:prstGeom>
          <a:noFill/>
          <a:ln/>
        </p:spPr>
        <p:txBody>
          <a:bodyPr wrap="square" lIns="0" tIns="0" rIns="0" bIns="0"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Phụ trách chính: </a:t>
            </a:r>
            <a:pPr indent="0" marL="0">
              <a:buNone/>
            </a:pPr>
            <a:r>
              <a:rPr lang="en-US" sz="900" dirty="0">
                <a:solidFill>
                  <a:srgbClr val="667E93"/>
                </a:solidFill>
                <a:latin typeface="Calibri" pitchFamily="34" charset="0"/>
                <a:ea typeface="Calibri" pitchFamily="34" charset="-122"/>
                <a:cs typeface="Calibri" pitchFamily="34" charset="-120"/>
              </a:rPr>
              <a:t>Cả nhóm — thiết kế và chạy thực nghiệm</a:t>
            </a:r>
            <a:pPr indent="0" marL="0">
              <a:buNone/>
            </a:pPr>
            <a:r>
              <a:rPr lang="en-US" sz="900" dirty="0">
                <a:solidFill>
                  <a:srgbClr val="D7E2EC"/>
                </a:solidFill>
                <a:latin typeface="Calibri" pitchFamily="34" charset="0"/>
                <a:ea typeface="Calibri" pitchFamily="34" charset="-122"/>
                <a:cs typeface="Calibri" pitchFamily="34" charset="-120"/>
              </a:rPr>
              <a:t>     ·     </a:t>
            </a:r>
            <a:pPr indent="0" marL="0">
              <a:buNone/>
            </a:pPr>
            <a:r>
              <a:rPr lang="en-US" sz="900" b="1" dirty="0">
                <a:solidFill>
                  <a:srgbClr val="0D1B2A"/>
                </a:solidFill>
                <a:latin typeface="Calibri" pitchFamily="34" charset="0"/>
                <a:ea typeface="Calibri" pitchFamily="34" charset="-122"/>
                <a:cs typeface="Calibri" pitchFamily="34" charset="-120"/>
              </a:rPr>
              <a:t>Phối hợp: </a:t>
            </a:r>
            <a:pPr indent="0" marL="0">
              <a:buNone/>
            </a:pPr>
            <a:r>
              <a:rPr lang="en-US" sz="900" dirty="0">
                <a:solidFill>
                  <a:srgbClr val="667E93"/>
                </a:solidFill>
                <a:latin typeface="Calibri" pitchFamily="34" charset="0"/>
                <a:ea typeface="Calibri" pitchFamily="34" charset="-122"/>
                <a:cs typeface="Calibri" pitchFamily="34" charset="-120"/>
              </a:rPr>
              <a:t>Chấm điểm độc lập: Đinh Tuấn Dương và Nguyễn Trung Nguyên</a:t>
            </a:r>
            <a:endParaRPr lang="en-US" sz="900" dirty="0"/>
          </a:p>
        </p:txBody>
      </p:sp>
      <p:sp>
        <p:nvSpPr>
          <p:cNvPr id="36" name="Text 34"/>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61848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61848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SẢN PHẨM</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Đề tài tạo ra cả hệ thống, bộ dữ liệu và quy trình kiểm chứng</a:t>
            </a:r>
            <a:endParaRPr lang="en-US" sz="2600" dirty="0"/>
          </a:p>
        </p:txBody>
      </p:sp>
      <p:sp>
        <p:nvSpPr>
          <p:cNvPr id="5" name="Shape 3"/>
          <p:cNvSpPr/>
          <p:nvPr/>
        </p:nvSpPr>
        <p:spPr>
          <a:xfrm>
            <a:off x="548640" y="1700784"/>
            <a:ext cx="5394960" cy="1920240"/>
          </a:xfrm>
          <a:prstGeom prst="roundRect">
            <a:avLst>
              <a:gd name="adj" fmla="val 4286"/>
            </a:avLst>
          </a:prstGeom>
          <a:solidFill>
            <a:srgbClr val="E1EDF6"/>
          </a:solidFill>
          <a:ln w="9525">
            <a:solidFill>
              <a:srgbClr val="BFD8EA"/>
            </a:solidFill>
            <a:prstDash val="solid"/>
          </a:ln>
        </p:spPr>
      </p:sp>
      <p:sp>
        <p:nvSpPr>
          <p:cNvPr id="6" name="Text 4"/>
          <p:cNvSpPr/>
          <p:nvPr/>
        </p:nvSpPr>
        <p:spPr>
          <a:xfrm>
            <a:off x="822960" y="1828800"/>
            <a:ext cx="3017520" cy="347472"/>
          </a:xfrm>
          <a:prstGeom prst="rect">
            <a:avLst/>
          </a:prstGeom>
          <a:noFill/>
          <a:ln/>
        </p:spPr>
        <p:txBody>
          <a:bodyPr wrap="square" lIns="0" tIns="0" rIns="0" bIns="0" rtlCol="0" anchor="ctr"/>
          <a:lstStyle/>
          <a:p>
            <a:pPr indent="0" marL="0">
              <a:buNone/>
            </a:pPr>
            <a:r>
              <a:rPr lang="en-US" sz="1500" b="1" dirty="0">
                <a:solidFill>
                  <a:srgbClr val="2C6E9B"/>
                </a:solidFill>
                <a:latin typeface="Calibri" pitchFamily="34" charset="0"/>
                <a:ea typeface="Calibri" pitchFamily="34" charset="-122"/>
                <a:cs typeface="Calibri" pitchFamily="34" charset="-120"/>
              </a:rPr>
              <a:t>Hạ tầng thử nghiệm</a:t>
            </a:r>
            <a:endParaRPr lang="en-US" sz="1500" dirty="0"/>
          </a:p>
        </p:txBody>
      </p:sp>
      <p:sp>
        <p:nvSpPr>
          <p:cNvPr id="7" name="Shape 5"/>
          <p:cNvSpPr/>
          <p:nvPr/>
        </p:nvSpPr>
        <p:spPr>
          <a:xfrm>
            <a:off x="3749040" y="1856232"/>
            <a:ext cx="1920240" cy="292608"/>
          </a:xfrm>
          <a:prstGeom prst="roundRect">
            <a:avLst>
              <a:gd name="adj" fmla="val 50000"/>
            </a:avLst>
          </a:prstGeom>
          <a:solidFill>
            <a:srgbClr val="FFFFFF"/>
          </a:solidFill>
          <a:ln w="9525">
            <a:solidFill>
              <a:srgbClr val="BFD8EA"/>
            </a:solidFill>
            <a:prstDash val="solid"/>
          </a:ln>
        </p:spPr>
      </p:sp>
      <p:sp>
        <p:nvSpPr>
          <p:cNvPr id="8" name="Text 6"/>
          <p:cNvSpPr/>
          <p:nvPr/>
        </p:nvSpPr>
        <p:spPr>
          <a:xfrm>
            <a:off x="3749040" y="1856232"/>
            <a:ext cx="1920240" cy="29260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4 máy ảo + máy chủ AI</a:t>
            </a:r>
            <a:endParaRPr lang="en-US" sz="900" dirty="0"/>
          </a:p>
        </p:txBody>
      </p:sp>
      <p:sp>
        <p:nvSpPr>
          <p:cNvPr id="9" name="Shape 7"/>
          <p:cNvSpPr/>
          <p:nvPr/>
        </p:nvSpPr>
        <p:spPr>
          <a:xfrm>
            <a:off x="841248" y="2350008"/>
            <a:ext cx="118872" cy="118872"/>
          </a:xfrm>
          <a:prstGeom prst="roundRect">
            <a:avLst>
              <a:gd name="adj" fmla="val 53846"/>
            </a:avLst>
          </a:prstGeom>
          <a:solidFill>
            <a:srgbClr val="2C6E9B"/>
          </a:solidFill>
          <a:ln w="12700">
            <a:solidFill>
              <a:srgbClr val="2C6E9B"/>
            </a:solidFill>
            <a:prstDash val="solid"/>
          </a:ln>
        </p:spPr>
      </p:sp>
      <p:sp>
        <p:nvSpPr>
          <p:cNvPr id="10" name="Text 8"/>
          <p:cNvSpPr/>
          <p:nvPr/>
        </p:nvSpPr>
        <p:spPr>
          <a:xfrm>
            <a:off x="1078992" y="2249424"/>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Wazuh 4.9.0 single-node bằng Docker, mạng host-only</a:t>
            </a:r>
            <a:endParaRPr lang="en-US" sz="950" dirty="0"/>
          </a:p>
        </p:txBody>
      </p:sp>
      <p:sp>
        <p:nvSpPr>
          <p:cNvPr id="11" name="Shape 9"/>
          <p:cNvSpPr/>
          <p:nvPr/>
        </p:nvSpPr>
        <p:spPr>
          <a:xfrm>
            <a:off x="841248" y="2674620"/>
            <a:ext cx="118872" cy="118872"/>
          </a:xfrm>
          <a:prstGeom prst="roundRect">
            <a:avLst>
              <a:gd name="adj" fmla="val 53846"/>
            </a:avLst>
          </a:prstGeom>
          <a:solidFill>
            <a:srgbClr val="2C6E9B"/>
          </a:solidFill>
          <a:ln w="12700">
            <a:solidFill>
              <a:srgbClr val="2C6E9B"/>
            </a:solidFill>
            <a:prstDash val="solid"/>
          </a:ln>
        </p:spPr>
      </p:sp>
      <p:sp>
        <p:nvSpPr>
          <p:cNvPr id="12" name="Text 10"/>
          <p:cNvSpPr/>
          <p:nvPr/>
        </p:nvSpPr>
        <p:spPr>
          <a:xfrm>
            <a:off x="1078992" y="2574036"/>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Agent trên máy nạn nhân Ubuntu và Windows</a:t>
            </a:r>
            <a:endParaRPr lang="en-US" sz="950" dirty="0"/>
          </a:p>
        </p:txBody>
      </p:sp>
      <p:sp>
        <p:nvSpPr>
          <p:cNvPr id="13" name="Shape 11"/>
          <p:cNvSpPr/>
          <p:nvPr/>
        </p:nvSpPr>
        <p:spPr>
          <a:xfrm>
            <a:off x="841248" y="2999232"/>
            <a:ext cx="118872" cy="118872"/>
          </a:xfrm>
          <a:prstGeom prst="roundRect">
            <a:avLst>
              <a:gd name="adj" fmla="val 53846"/>
            </a:avLst>
          </a:prstGeom>
          <a:solidFill>
            <a:srgbClr val="2C6E9B"/>
          </a:solidFill>
          <a:ln w="12700">
            <a:solidFill>
              <a:srgbClr val="2C6E9B"/>
            </a:solidFill>
            <a:prstDash val="solid"/>
          </a:ln>
        </p:spPr>
      </p:sp>
      <p:sp>
        <p:nvSpPr>
          <p:cNvPr id="14" name="Text 12"/>
          <p:cNvSpPr/>
          <p:nvPr/>
        </p:nvSpPr>
        <p:spPr>
          <a:xfrm>
            <a:off x="1078992" y="2898648"/>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Ba kịch bản sinh cảnh báo đóng gói thành tệp lệnh</a:t>
            </a:r>
            <a:endParaRPr lang="en-US" sz="950" dirty="0"/>
          </a:p>
        </p:txBody>
      </p:sp>
      <p:sp>
        <p:nvSpPr>
          <p:cNvPr id="15" name="Shape 13"/>
          <p:cNvSpPr/>
          <p:nvPr/>
        </p:nvSpPr>
        <p:spPr>
          <a:xfrm>
            <a:off x="841248" y="3323844"/>
            <a:ext cx="118872" cy="118872"/>
          </a:xfrm>
          <a:prstGeom prst="roundRect">
            <a:avLst>
              <a:gd name="adj" fmla="val 53846"/>
            </a:avLst>
          </a:prstGeom>
          <a:solidFill>
            <a:srgbClr val="2C6E9B"/>
          </a:solidFill>
          <a:ln w="12700">
            <a:solidFill>
              <a:srgbClr val="2C6E9B"/>
            </a:solidFill>
            <a:prstDash val="solid"/>
          </a:ln>
        </p:spPr>
      </p:sp>
      <p:sp>
        <p:nvSpPr>
          <p:cNvPr id="16" name="Text 14"/>
          <p:cNvSpPr/>
          <p:nvPr/>
        </p:nvSpPr>
        <p:spPr>
          <a:xfrm>
            <a:off x="1078992" y="3223260"/>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Nhật ký sáu sự cố triển khai và cách khắc phục</a:t>
            </a:r>
            <a:endParaRPr lang="en-US" sz="950" dirty="0"/>
          </a:p>
        </p:txBody>
      </p:sp>
      <p:sp>
        <p:nvSpPr>
          <p:cNvPr id="17" name="Shape 15"/>
          <p:cNvSpPr/>
          <p:nvPr/>
        </p:nvSpPr>
        <p:spPr>
          <a:xfrm>
            <a:off x="6217920" y="1700784"/>
            <a:ext cx="5394960" cy="1920240"/>
          </a:xfrm>
          <a:prstGeom prst="roundRect">
            <a:avLst>
              <a:gd name="adj" fmla="val 4286"/>
            </a:avLst>
          </a:prstGeom>
          <a:solidFill>
            <a:srgbClr val="DCF0EB"/>
          </a:solidFill>
          <a:ln w="9525">
            <a:solidFill>
              <a:srgbClr val="BCE0D7"/>
            </a:solidFill>
            <a:prstDash val="solid"/>
          </a:ln>
        </p:spPr>
      </p:sp>
      <p:sp>
        <p:nvSpPr>
          <p:cNvPr id="18" name="Text 16"/>
          <p:cNvSpPr/>
          <p:nvPr/>
        </p:nvSpPr>
        <p:spPr>
          <a:xfrm>
            <a:off x="6492240" y="1828800"/>
            <a:ext cx="3017520" cy="347472"/>
          </a:xfrm>
          <a:prstGeom prst="rect">
            <a:avLst/>
          </a:prstGeom>
          <a:noFill/>
          <a:ln/>
        </p:spPr>
        <p:txBody>
          <a:bodyPr wrap="square" lIns="0" tIns="0" rIns="0" bIns="0" rtlCol="0" anchor="ctr"/>
          <a:lstStyle/>
          <a:p>
            <a:pPr indent="0" marL="0">
              <a:buNone/>
            </a:pPr>
            <a:r>
              <a:rPr lang="en-US" sz="1500" b="1" dirty="0">
                <a:solidFill>
                  <a:srgbClr val="1F9E86"/>
                </a:solidFill>
                <a:latin typeface="Calibri" pitchFamily="34" charset="0"/>
                <a:ea typeface="Calibri" pitchFamily="34" charset="-122"/>
                <a:cs typeface="Calibri" pitchFamily="34" charset="-120"/>
              </a:rPr>
              <a:t>Mô-đun AI</a:t>
            </a:r>
            <a:endParaRPr lang="en-US" sz="1500" dirty="0"/>
          </a:p>
        </p:txBody>
      </p:sp>
      <p:sp>
        <p:nvSpPr>
          <p:cNvPr id="19" name="Shape 17"/>
          <p:cNvSpPr/>
          <p:nvPr/>
        </p:nvSpPr>
        <p:spPr>
          <a:xfrm>
            <a:off x="9418320" y="1856232"/>
            <a:ext cx="1920240" cy="292608"/>
          </a:xfrm>
          <a:prstGeom prst="roundRect">
            <a:avLst>
              <a:gd name="adj" fmla="val 50000"/>
            </a:avLst>
          </a:prstGeom>
          <a:solidFill>
            <a:srgbClr val="FFFFFF"/>
          </a:solidFill>
          <a:ln w="9525">
            <a:solidFill>
              <a:srgbClr val="BCE0D7"/>
            </a:solidFill>
            <a:prstDash val="solid"/>
          </a:ln>
        </p:spPr>
      </p:sp>
      <p:sp>
        <p:nvSpPr>
          <p:cNvPr id="20" name="Text 18"/>
          <p:cNvSpPr/>
          <p:nvPr/>
        </p:nvSpPr>
        <p:spPr>
          <a:xfrm>
            <a:off x="9418320" y="1856232"/>
            <a:ext cx="1920240" cy="29260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ai_module/ + giao diện web</a:t>
            </a:r>
            <a:endParaRPr lang="en-US" sz="900" dirty="0"/>
          </a:p>
        </p:txBody>
      </p:sp>
      <p:sp>
        <p:nvSpPr>
          <p:cNvPr id="21" name="Shape 19"/>
          <p:cNvSpPr/>
          <p:nvPr/>
        </p:nvSpPr>
        <p:spPr>
          <a:xfrm>
            <a:off x="6510528" y="2350008"/>
            <a:ext cx="118872" cy="118872"/>
          </a:xfrm>
          <a:prstGeom prst="roundRect">
            <a:avLst>
              <a:gd name="adj" fmla="val 53846"/>
            </a:avLst>
          </a:prstGeom>
          <a:solidFill>
            <a:srgbClr val="1F9E86"/>
          </a:solidFill>
          <a:ln w="12700">
            <a:solidFill>
              <a:srgbClr val="1F9E86"/>
            </a:solidFill>
            <a:prstDash val="solid"/>
          </a:ln>
        </p:spPr>
      </p:sp>
      <p:sp>
        <p:nvSpPr>
          <p:cNvPr id="22" name="Text 20"/>
          <p:cNvSpPr/>
          <p:nvPr/>
        </p:nvSpPr>
        <p:spPr>
          <a:xfrm>
            <a:off x="6748272" y="2249424"/>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Bốn thành phần nối tiếp: đọc, trích xuất, truy xuất, gọi mô hình</a:t>
            </a:r>
            <a:endParaRPr lang="en-US" sz="950" dirty="0"/>
          </a:p>
        </p:txBody>
      </p:sp>
      <p:sp>
        <p:nvSpPr>
          <p:cNvPr id="23" name="Shape 21"/>
          <p:cNvSpPr/>
          <p:nvPr/>
        </p:nvSpPr>
        <p:spPr>
          <a:xfrm>
            <a:off x="6510528" y="2674620"/>
            <a:ext cx="118872" cy="118872"/>
          </a:xfrm>
          <a:prstGeom prst="roundRect">
            <a:avLst>
              <a:gd name="adj" fmla="val 53846"/>
            </a:avLst>
          </a:prstGeom>
          <a:solidFill>
            <a:srgbClr val="1F9E86"/>
          </a:solidFill>
          <a:ln w="12700">
            <a:solidFill>
              <a:srgbClr val="1F9E86"/>
            </a:solidFill>
            <a:prstDash val="solid"/>
          </a:ln>
        </p:spPr>
      </p:sp>
      <p:sp>
        <p:nvSpPr>
          <p:cNvPr id="24" name="Text 22"/>
          <p:cNvSpPr/>
          <p:nvPr/>
        </p:nvSpPr>
        <p:spPr>
          <a:xfrm>
            <a:off x="6748272" y="2574036"/>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Kho tri thức 19 đoạn từ luật Wazuh và MITRE ATT&amp;CK</a:t>
            </a:r>
            <a:endParaRPr lang="en-US" sz="950" dirty="0"/>
          </a:p>
        </p:txBody>
      </p:sp>
      <p:sp>
        <p:nvSpPr>
          <p:cNvPr id="25" name="Shape 23"/>
          <p:cNvSpPr/>
          <p:nvPr/>
        </p:nvSpPr>
        <p:spPr>
          <a:xfrm>
            <a:off x="6510528" y="2999232"/>
            <a:ext cx="118872" cy="118872"/>
          </a:xfrm>
          <a:prstGeom prst="roundRect">
            <a:avLst>
              <a:gd name="adj" fmla="val 53846"/>
            </a:avLst>
          </a:prstGeom>
          <a:solidFill>
            <a:srgbClr val="1F9E86"/>
          </a:solidFill>
          <a:ln w="12700">
            <a:solidFill>
              <a:srgbClr val="1F9E86"/>
            </a:solidFill>
            <a:prstDash val="solid"/>
          </a:ln>
        </p:spPr>
      </p:sp>
      <p:sp>
        <p:nvSpPr>
          <p:cNvPr id="26" name="Text 24"/>
          <p:cNvSpPr/>
          <p:nvPr/>
        </p:nvSpPr>
        <p:spPr>
          <a:xfrm>
            <a:off x="6748272" y="2898648"/>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Giao diện vận hành, lưu trữ SQLite, lịch chạy tự động</a:t>
            </a:r>
            <a:endParaRPr lang="en-US" sz="950" dirty="0"/>
          </a:p>
        </p:txBody>
      </p:sp>
      <p:sp>
        <p:nvSpPr>
          <p:cNvPr id="27" name="Shape 25"/>
          <p:cNvSpPr/>
          <p:nvPr/>
        </p:nvSpPr>
        <p:spPr>
          <a:xfrm>
            <a:off x="6510528" y="3323844"/>
            <a:ext cx="118872" cy="118872"/>
          </a:xfrm>
          <a:prstGeom prst="roundRect">
            <a:avLst>
              <a:gd name="adj" fmla="val 53846"/>
            </a:avLst>
          </a:prstGeom>
          <a:solidFill>
            <a:srgbClr val="1F9E86"/>
          </a:solidFill>
          <a:ln w="12700">
            <a:solidFill>
              <a:srgbClr val="1F9E86"/>
            </a:solidFill>
            <a:prstDash val="solid"/>
          </a:ln>
        </p:spPr>
      </p:sp>
      <p:sp>
        <p:nvSpPr>
          <p:cNvPr id="28" name="Text 26"/>
          <p:cNvSpPr/>
          <p:nvPr/>
        </p:nvSpPr>
        <p:spPr>
          <a:xfrm>
            <a:off x="6748272" y="3223260"/>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Kênh gửi JSON, PDF, Telegram và Gmail</a:t>
            </a:r>
            <a:endParaRPr lang="en-US" sz="950" dirty="0"/>
          </a:p>
        </p:txBody>
      </p:sp>
      <p:sp>
        <p:nvSpPr>
          <p:cNvPr id="29" name="Shape 27"/>
          <p:cNvSpPr/>
          <p:nvPr/>
        </p:nvSpPr>
        <p:spPr>
          <a:xfrm>
            <a:off x="548640" y="3749040"/>
            <a:ext cx="5394960" cy="1920240"/>
          </a:xfrm>
          <a:prstGeom prst="roundRect">
            <a:avLst>
              <a:gd name="adj" fmla="val 4286"/>
            </a:avLst>
          </a:prstGeom>
          <a:solidFill>
            <a:srgbClr val="F2F6FA"/>
          </a:solidFill>
          <a:ln w="9525">
            <a:solidFill>
              <a:srgbClr val="D7E2EC"/>
            </a:solidFill>
            <a:prstDash val="solid"/>
          </a:ln>
        </p:spPr>
      </p:sp>
      <p:sp>
        <p:nvSpPr>
          <p:cNvPr id="30" name="Text 28"/>
          <p:cNvSpPr/>
          <p:nvPr/>
        </p:nvSpPr>
        <p:spPr>
          <a:xfrm>
            <a:off x="822960" y="3877056"/>
            <a:ext cx="3017520" cy="347472"/>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Bộ dữ liệu đánh giá</a:t>
            </a:r>
            <a:endParaRPr lang="en-US" sz="1500" dirty="0"/>
          </a:p>
        </p:txBody>
      </p:sp>
      <p:sp>
        <p:nvSpPr>
          <p:cNvPr id="31" name="Shape 29"/>
          <p:cNvSpPr/>
          <p:nvPr/>
        </p:nvSpPr>
        <p:spPr>
          <a:xfrm>
            <a:off x="3749040" y="3904488"/>
            <a:ext cx="1920240" cy="292608"/>
          </a:xfrm>
          <a:prstGeom prst="roundRect">
            <a:avLst>
              <a:gd name="adj" fmla="val 50000"/>
            </a:avLst>
          </a:prstGeom>
          <a:solidFill>
            <a:srgbClr val="FFFFFF"/>
          </a:solidFill>
          <a:ln w="9525">
            <a:solidFill>
              <a:srgbClr val="D7E2EC"/>
            </a:solidFill>
            <a:prstDash val="solid"/>
          </a:ln>
        </p:spPr>
      </p:sp>
      <p:sp>
        <p:nvSpPr>
          <p:cNvPr id="32" name="Text 30"/>
          <p:cNvSpPr/>
          <p:nvPr/>
        </p:nvSpPr>
        <p:spPr>
          <a:xfrm>
            <a:off x="3749040" y="3904488"/>
            <a:ext cx="1920240" cy="29260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33 case · 99 lượt kết quả</a:t>
            </a:r>
            <a:endParaRPr lang="en-US" sz="900" dirty="0"/>
          </a:p>
        </p:txBody>
      </p:sp>
      <p:sp>
        <p:nvSpPr>
          <p:cNvPr id="33" name="Shape 31"/>
          <p:cNvSpPr/>
          <p:nvPr/>
        </p:nvSpPr>
        <p:spPr>
          <a:xfrm>
            <a:off x="841248" y="4398264"/>
            <a:ext cx="118872" cy="118872"/>
          </a:xfrm>
          <a:prstGeom prst="roundRect">
            <a:avLst>
              <a:gd name="adj" fmla="val 53846"/>
            </a:avLst>
          </a:prstGeom>
          <a:solidFill>
            <a:srgbClr val="0D1B2A"/>
          </a:solidFill>
          <a:ln w="12700">
            <a:solidFill>
              <a:srgbClr val="0D1B2A"/>
            </a:solidFill>
            <a:prstDash val="solid"/>
          </a:ln>
        </p:spPr>
      </p:sp>
      <p:sp>
        <p:nvSpPr>
          <p:cNvPr id="34" name="Text 32"/>
          <p:cNvSpPr/>
          <p:nvPr/>
        </p:nvSpPr>
        <p:spPr>
          <a:xfrm>
            <a:off x="1078992" y="4297680"/>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33 cảnh báo thật đã làm sạch thông tin định danh</a:t>
            </a:r>
            <a:endParaRPr lang="en-US" sz="950" dirty="0"/>
          </a:p>
        </p:txBody>
      </p:sp>
      <p:sp>
        <p:nvSpPr>
          <p:cNvPr id="35" name="Shape 33"/>
          <p:cNvSpPr/>
          <p:nvPr/>
        </p:nvSpPr>
        <p:spPr>
          <a:xfrm>
            <a:off x="841248" y="4722876"/>
            <a:ext cx="118872" cy="118872"/>
          </a:xfrm>
          <a:prstGeom prst="roundRect">
            <a:avLst>
              <a:gd name="adj" fmla="val 53846"/>
            </a:avLst>
          </a:prstGeom>
          <a:solidFill>
            <a:srgbClr val="0D1B2A"/>
          </a:solidFill>
          <a:ln w="12700">
            <a:solidFill>
              <a:srgbClr val="0D1B2A"/>
            </a:solidFill>
            <a:prstDash val="solid"/>
          </a:ln>
        </p:spPr>
      </p:sp>
      <p:sp>
        <p:nvSpPr>
          <p:cNvPr id="36" name="Text 34"/>
          <p:cNvSpPr/>
          <p:nvPr/>
        </p:nvSpPr>
        <p:spPr>
          <a:xfrm>
            <a:off x="1078992" y="4622292"/>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Hồ sơ kỳ vọng riêng cho từng case: tính chất, mức, MITRE</a:t>
            </a:r>
            <a:endParaRPr lang="en-US" sz="950" dirty="0"/>
          </a:p>
        </p:txBody>
      </p:sp>
      <p:sp>
        <p:nvSpPr>
          <p:cNvPr id="37" name="Shape 35"/>
          <p:cNvSpPr/>
          <p:nvPr/>
        </p:nvSpPr>
        <p:spPr>
          <a:xfrm>
            <a:off x="841248" y="5047488"/>
            <a:ext cx="118872" cy="118872"/>
          </a:xfrm>
          <a:prstGeom prst="roundRect">
            <a:avLst>
              <a:gd name="adj" fmla="val 53846"/>
            </a:avLst>
          </a:prstGeom>
          <a:solidFill>
            <a:srgbClr val="0D1B2A"/>
          </a:solidFill>
          <a:ln w="12700">
            <a:solidFill>
              <a:srgbClr val="0D1B2A"/>
            </a:solidFill>
            <a:prstDash val="solid"/>
          </a:ln>
        </p:spPr>
      </p:sp>
      <p:sp>
        <p:nvSpPr>
          <p:cNvPr id="38" name="Text 36"/>
          <p:cNvSpPr/>
          <p:nvPr/>
        </p:nvSpPr>
        <p:spPr>
          <a:xfrm>
            <a:off x="1078992" y="4946904"/>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Ba cấu hình chạy trên cùng bộ dữ liệu cố định</a:t>
            </a:r>
            <a:endParaRPr lang="en-US" sz="950" dirty="0"/>
          </a:p>
        </p:txBody>
      </p:sp>
      <p:sp>
        <p:nvSpPr>
          <p:cNvPr id="39" name="Shape 37"/>
          <p:cNvSpPr/>
          <p:nvPr/>
        </p:nvSpPr>
        <p:spPr>
          <a:xfrm>
            <a:off x="841248" y="5372100"/>
            <a:ext cx="118872" cy="118872"/>
          </a:xfrm>
          <a:prstGeom prst="roundRect">
            <a:avLst>
              <a:gd name="adj" fmla="val 53846"/>
            </a:avLst>
          </a:prstGeom>
          <a:solidFill>
            <a:srgbClr val="0D1B2A"/>
          </a:solidFill>
          <a:ln w="12700">
            <a:solidFill>
              <a:srgbClr val="0D1B2A"/>
            </a:solidFill>
            <a:prstDash val="solid"/>
          </a:ln>
        </p:spPr>
      </p:sp>
      <p:sp>
        <p:nvSpPr>
          <p:cNvPr id="40" name="Text 38"/>
          <p:cNvSpPr/>
          <p:nvPr/>
        </p:nvSpPr>
        <p:spPr>
          <a:xfrm>
            <a:off x="1078992" y="5271516"/>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Toàn bộ đóng băng trong kho mã nguồn, chạy lại được</a:t>
            </a:r>
            <a:endParaRPr lang="en-US" sz="950" dirty="0"/>
          </a:p>
        </p:txBody>
      </p:sp>
      <p:sp>
        <p:nvSpPr>
          <p:cNvPr id="41" name="Shape 39"/>
          <p:cNvSpPr/>
          <p:nvPr/>
        </p:nvSpPr>
        <p:spPr>
          <a:xfrm>
            <a:off x="6217920" y="3749040"/>
            <a:ext cx="5394960" cy="1920240"/>
          </a:xfrm>
          <a:prstGeom prst="roundRect">
            <a:avLst>
              <a:gd name="adj" fmla="val 4286"/>
            </a:avLst>
          </a:prstGeom>
          <a:solidFill>
            <a:srgbClr val="FBF1DC"/>
          </a:solidFill>
          <a:ln w="9525">
            <a:solidFill>
              <a:srgbClr val="EBD9AE"/>
            </a:solidFill>
            <a:prstDash val="solid"/>
          </a:ln>
        </p:spPr>
      </p:sp>
      <p:sp>
        <p:nvSpPr>
          <p:cNvPr id="42" name="Text 40"/>
          <p:cNvSpPr/>
          <p:nvPr/>
        </p:nvSpPr>
        <p:spPr>
          <a:xfrm>
            <a:off x="6492240" y="3877056"/>
            <a:ext cx="3017520" cy="347472"/>
          </a:xfrm>
          <a:prstGeom prst="rect">
            <a:avLst/>
          </a:prstGeom>
          <a:noFill/>
          <a:ln/>
        </p:spPr>
        <p:txBody>
          <a:bodyPr wrap="square" lIns="0" tIns="0" rIns="0" bIns="0" rtlCol="0" anchor="ctr"/>
          <a:lstStyle/>
          <a:p>
            <a:pPr indent="0" marL="0">
              <a:buNone/>
            </a:pPr>
            <a:r>
              <a:rPr lang="en-US" sz="1500" b="1" dirty="0">
                <a:solidFill>
                  <a:srgbClr val="B57A16"/>
                </a:solidFill>
                <a:latin typeface="Calibri" pitchFamily="34" charset="0"/>
                <a:ea typeface="Calibri" pitchFamily="34" charset="-122"/>
                <a:cs typeface="Calibri" pitchFamily="34" charset="-120"/>
              </a:rPr>
              <a:t>Quy trình kiểm chứng</a:t>
            </a:r>
            <a:endParaRPr lang="en-US" sz="1500" dirty="0"/>
          </a:p>
        </p:txBody>
      </p:sp>
      <p:sp>
        <p:nvSpPr>
          <p:cNvPr id="43" name="Shape 41"/>
          <p:cNvSpPr/>
          <p:nvPr/>
        </p:nvSpPr>
        <p:spPr>
          <a:xfrm>
            <a:off x="9418320" y="3904488"/>
            <a:ext cx="1920240" cy="292608"/>
          </a:xfrm>
          <a:prstGeom prst="roundRect">
            <a:avLst>
              <a:gd name="adj" fmla="val 50000"/>
            </a:avLst>
          </a:prstGeom>
          <a:solidFill>
            <a:srgbClr val="FFFFFF"/>
          </a:solidFill>
          <a:ln w="9525">
            <a:solidFill>
              <a:srgbClr val="EBD9AE"/>
            </a:solidFill>
            <a:prstDash val="solid"/>
          </a:ln>
        </p:spPr>
      </p:sp>
      <p:sp>
        <p:nvSpPr>
          <p:cNvPr id="44" name="Text 42"/>
          <p:cNvSpPr/>
          <p:nvPr/>
        </p:nvSpPr>
        <p:spPr>
          <a:xfrm>
            <a:off x="9418320" y="3904488"/>
            <a:ext cx="1920240" cy="292608"/>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8 FR · rubric 5 tiêu chí</a:t>
            </a:r>
            <a:endParaRPr lang="en-US" sz="900" dirty="0"/>
          </a:p>
        </p:txBody>
      </p:sp>
      <p:sp>
        <p:nvSpPr>
          <p:cNvPr id="45" name="Shape 43"/>
          <p:cNvSpPr/>
          <p:nvPr/>
        </p:nvSpPr>
        <p:spPr>
          <a:xfrm>
            <a:off x="6510528" y="4398264"/>
            <a:ext cx="118872" cy="118872"/>
          </a:xfrm>
          <a:prstGeom prst="roundRect">
            <a:avLst>
              <a:gd name="adj" fmla="val 53846"/>
            </a:avLst>
          </a:prstGeom>
          <a:solidFill>
            <a:srgbClr val="B57A16"/>
          </a:solidFill>
          <a:ln w="12700">
            <a:solidFill>
              <a:srgbClr val="B57A16"/>
            </a:solidFill>
            <a:prstDash val="solid"/>
          </a:ln>
        </p:spPr>
      </p:sp>
      <p:sp>
        <p:nvSpPr>
          <p:cNvPr id="46" name="Text 44"/>
          <p:cNvSpPr/>
          <p:nvPr/>
        </p:nvSpPr>
        <p:spPr>
          <a:xfrm>
            <a:off x="6748272" y="4297680"/>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Bộ quy tắc chấm mô tả rõ từng bậc điểm cho 5 tiêu chí</a:t>
            </a:r>
            <a:endParaRPr lang="en-US" sz="950" dirty="0"/>
          </a:p>
        </p:txBody>
      </p:sp>
      <p:sp>
        <p:nvSpPr>
          <p:cNvPr id="47" name="Shape 45"/>
          <p:cNvSpPr/>
          <p:nvPr/>
        </p:nvSpPr>
        <p:spPr>
          <a:xfrm>
            <a:off x="6510528" y="4722876"/>
            <a:ext cx="118872" cy="118872"/>
          </a:xfrm>
          <a:prstGeom prst="roundRect">
            <a:avLst>
              <a:gd name="adj" fmla="val 53846"/>
            </a:avLst>
          </a:prstGeom>
          <a:solidFill>
            <a:srgbClr val="B57A16"/>
          </a:solidFill>
          <a:ln w="12700">
            <a:solidFill>
              <a:srgbClr val="B57A16"/>
            </a:solidFill>
            <a:prstDash val="solid"/>
          </a:ln>
        </p:spPr>
      </p:sp>
      <p:sp>
        <p:nvSpPr>
          <p:cNvPr id="48" name="Text 46"/>
          <p:cNvSpPr/>
          <p:nvPr/>
        </p:nvSpPr>
        <p:spPr>
          <a:xfrm>
            <a:off x="6748272" y="4622292"/>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Chấm độc lập hai người, tính hệ số đồng thuận Cohen's Kappa</a:t>
            </a:r>
            <a:endParaRPr lang="en-US" sz="950" dirty="0"/>
          </a:p>
        </p:txBody>
      </p:sp>
      <p:sp>
        <p:nvSpPr>
          <p:cNvPr id="49" name="Shape 47"/>
          <p:cNvSpPr/>
          <p:nvPr/>
        </p:nvSpPr>
        <p:spPr>
          <a:xfrm>
            <a:off x="6510528" y="5047488"/>
            <a:ext cx="118872" cy="118872"/>
          </a:xfrm>
          <a:prstGeom prst="roundRect">
            <a:avLst>
              <a:gd name="adj" fmla="val 53846"/>
            </a:avLst>
          </a:prstGeom>
          <a:solidFill>
            <a:srgbClr val="B57A16"/>
          </a:solidFill>
          <a:ln w="12700">
            <a:solidFill>
              <a:srgbClr val="B57A16"/>
            </a:solidFill>
            <a:prstDash val="solid"/>
          </a:ln>
        </p:spPr>
      </p:sp>
      <p:sp>
        <p:nvSpPr>
          <p:cNvPr id="50" name="Text 48"/>
          <p:cNvSpPr/>
          <p:nvPr/>
        </p:nvSpPr>
        <p:spPr>
          <a:xfrm>
            <a:off x="6748272" y="4946904"/>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Ma trận nhầm lẫn, kiểm định McNemar, khoảng tin cậy Wilson</a:t>
            </a:r>
            <a:endParaRPr lang="en-US" sz="950" dirty="0"/>
          </a:p>
        </p:txBody>
      </p:sp>
      <p:sp>
        <p:nvSpPr>
          <p:cNvPr id="51" name="Shape 49"/>
          <p:cNvSpPr/>
          <p:nvPr/>
        </p:nvSpPr>
        <p:spPr>
          <a:xfrm>
            <a:off x="6510528" y="5372100"/>
            <a:ext cx="118872" cy="118872"/>
          </a:xfrm>
          <a:prstGeom prst="roundRect">
            <a:avLst>
              <a:gd name="adj" fmla="val 53846"/>
            </a:avLst>
          </a:prstGeom>
          <a:solidFill>
            <a:srgbClr val="B57A16"/>
          </a:solidFill>
          <a:ln w="12700">
            <a:solidFill>
              <a:srgbClr val="B57A16"/>
            </a:solidFill>
            <a:prstDash val="solid"/>
          </a:ln>
        </p:spPr>
      </p:sp>
      <p:sp>
        <p:nvSpPr>
          <p:cNvPr id="52" name="Text 50"/>
          <p:cNvSpPr/>
          <p:nvPr/>
        </p:nvSpPr>
        <p:spPr>
          <a:xfrm>
            <a:off x="6748272" y="5271516"/>
            <a:ext cx="4663440" cy="310896"/>
          </a:xfrm>
          <a:prstGeom prst="rect">
            <a:avLst/>
          </a:prstGeom>
          <a:noFill/>
          <a:ln/>
        </p:spPr>
        <p:txBody>
          <a:bodyPr wrap="square" lIns="0" tIns="0" rIns="0" bIns="0" rtlCol="0" anchor="ctr"/>
          <a:lstStyle/>
          <a:p>
            <a:pPr indent="0" marL="0">
              <a:buNone/>
            </a:pPr>
            <a:r>
              <a:rPr lang="en-US" sz="950" dirty="0">
                <a:solidFill>
                  <a:srgbClr val="22303F"/>
                </a:solidFill>
                <a:latin typeface="Calibri" pitchFamily="34" charset="0"/>
                <a:ea typeface="Calibri" pitchFamily="34" charset="-122"/>
                <a:cs typeface="Calibri" pitchFamily="34" charset="-120"/>
              </a:rPr>
              <a:t>Đường cơ sở đối chứng không dùng mô hình ngôn ngữ</a:t>
            </a:r>
            <a:endParaRPr lang="en-US" sz="950" dirty="0"/>
          </a:p>
        </p:txBody>
      </p:sp>
      <p:sp>
        <p:nvSpPr>
          <p:cNvPr id="53" name="Shape 51"/>
          <p:cNvSpPr/>
          <p:nvPr/>
        </p:nvSpPr>
        <p:spPr>
          <a:xfrm>
            <a:off x="548640" y="5815584"/>
            <a:ext cx="11064240" cy="493776"/>
          </a:xfrm>
          <a:prstGeom prst="roundRect">
            <a:avLst>
              <a:gd name="adj" fmla="val 14815"/>
            </a:avLst>
          </a:prstGeom>
          <a:solidFill>
            <a:srgbClr val="0D1B2A"/>
          </a:solidFill>
          <a:ln w="9525">
            <a:solidFill>
              <a:srgbClr val="0D1B2A"/>
            </a:solidFill>
            <a:prstDash val="solid"/>
          </a:ln>
        </p:spPr>
      </p:sp>
      <p:sp>
        <p:nvSpPr>
          <p:cNvPr id="54" name="Text 52"/>
          <p:cNvSpPr/>
          <p:nvPr/>
        </p:nvSpPr>
        <p:spPr>
          <a:xfrm>
            <a:off x="804672" y="5815584"/>
            <a:ext cx="10552176"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Đóng góp chính không nằm ở việc chứng minh mô hình ngôn ngữ có thể diễn giải cảnh báo, mà ở việc xác định các ràng buộc kỹ thuật cần thiết để kết quả diễn giải trở nên kiểm chứng được.</a:t>
            </a:r>
            <a:endParaRPr lang="en-US" sz="1100" dirty="0"/>
          </a:p>
        </p:txBody>
      </p:sp>
      <p:sp>
        <p:nvSpPr>
          <p:cNvPr id="55" name="Text 5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30428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30428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ĐỐI CHIẾU MỤC TIÊU</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Tám mục tiêu thiết kế đều gắn với một tiêu chí kiểm chứng cụ thể</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7635240" cy="914400"/>
        </p:xfrm>
        <a:graphic>
          <a:graphicData uri="http://schemas.openxmlformats.org/drawingml/2006/table">
            <a:tbl>
              <a:tblPr/>
              <a:tblGrid>
                <a:gridCol w="3749040"/>
                <a:gridCol w="2377440"/>
                <a:gridCol w="1508760"/>
              </a:tblGrid>
              <a:tr h="4389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Mục tiêu thiết kế</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Tiêu chí kiểm chứng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Kết quả</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Đọc cảnh báo trực tiếp từ Wazuh, không thao tác thủ công</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Chạy được với dữ liệu thật</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Đạt</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Chỉ đưa trường đã trích xuất có chọn lọc vào mô hình</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Đối chiếu mã nguồn với danh sách trường</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Đạt</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Đầu ra theo cấu trúc cố định, kiểm tra được bằng máy</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Tỷ lệ hợp lệ theo lược đồ</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33/33 đúng lược đồ</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Mọi nhận định bám dữ liệu cụ thể, không suy diễn</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Đối chiếu khối căn cứ đánh giá</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b="1" dirty="0">
                          <a:solidFill>
                            <a:srgbClr val="B57A16"/>
                          </a:solidFill>
                          <a:latin typeface="Calibri" pitchFamily="34" charset="0"/>
                          <a:ea typeface="Calibri" pitchFamily="34" charset="-122"/>
                          <a:cs typeface="Calibri" pitchFamily="34" charset="-120"/>
                        </a:rPr>
                        <a:t>Đạt có điều kiện</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Xử lý trong hạ tầng nội bộ, không gửi dữ liệu ra ngoài</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Kiểm tra cấu hình kết nối trong mã nguồn</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Đạt</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Kết quả tái lập được với cùng đầu vào</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So sánh nhiều lần chạy</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b="1" dirty="0">
                          <a:solidFill>
                            <a:srgbClr val="B57A16"/>
                          </a:solidFill>
                          <a:latin typeface="Calibri" pitchFamily="34" charset="0"/>
                          <a:ea typeface="Calibri" pitchFamily="34" charset="-122"/>
                          <a:cs typeface="Calibri" pitchFamily="34" charset="-120"/>
                        </a:rPr>
                        <a:t>Đạt về thiết kế</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Thời gian xử lý phù hợp gần thời gian thực</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Đo độ trễ trên 33 cảnh báo</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2,716 giây</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Không thực hiện hành động thay đổi trạng thái hệ thống</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Rà soát quyền hạn trong mã nguồn</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b="1" dirty="0">
                          <a:solidFill>
                            <a:srgbClr val="0E6B5A"/>
                          </a:solidFill>
                          <a:latin typeface="Calibri" pitchFamily="34" charset="0"/>
                          <a:ea typeface="Calibri" pitchFamily="34" charset="-122"/>
                          <a:cs typeface="Calibri" pitchFamily="34" charset="-120"/>
                        </a:rPr>
                        <a:t>Đạt</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6" name="Shape 3"/>
          <p:cNvSpPr/>
          <p:nvPr/>
        </p:nvSpPr>
        <p:spPr>
          <a:xfrm>
            <a:off x="8458200" y="1719072"/>
            <a:ext cx="3154680" cy="3968496"/>
          </a:xfrm>
          <a:prstGeom prst="roundRect">
            <a:avLst>
              <a:gd name="adj" fmla="val 2609"/>
            </a:avLst>
          </a:prstGeom>
          <a:solidFill>
            <a:srgbClr val="F2F6FA"/>
          </a:solidFill>
          <a:ln w="9525">
            <a:solidFill>
              <a:srgbClr val="D7E2EC"/>
            </a:solidFill>
            <a:prstDash val="solid"/>
          </a:ln>
        </p:spPr>
      </p:sp>
      <p:sp>
        <p:nvSpPr>
          <p:cNvPr id="7" name="Text 4"/>
          <p:cNvSpPr/>
          <p:nvPr/>
        </p:nvSpPr>
        <p:spPr>
          <a:xfrm>
            <a:off x="8695944" y="1847088"/>
            <a:ext cx="2743200" cy="237744"/>
          </a:xfrm>
          <a:prstGeom prst="rect">
            <a:avLst/>
          </a:prstGeom>
          <a:noFill/>
          <a:ln/>
        </p:spPr>
        <p:txBody>
          <a:bodyPr wrap="square" lIns="0" tIns="0" rIns="0" bIns="0" rtlCol="0" anchor="ctr"/>
          <a:lstStyle/>
          <a:p>
            <a:pPr indent="0" marL="0">
              <a:buNone/>
            </a:pPr>
            <a:r>
              <a:rPr lang="en-US" sz="850" b="1" spc="110" kern="0" dirty="0">
                <a:solidFill>
                  <a:srgbClr val="667E93"/>
                </a:solidFill>
                <a:latin typeface="Calibri" pitchFamily="34" charset="0"/>
                <a:ea typeface="Calibri" pitchFamily="34" charset="-122"/>
                <a:cs typeface="Calibri" pitchFamily="34" charset="-120"/>
              </a:rPr>
              <a:t>YÊU CẦU HỆ THỐNG</a:t>
            </a:r>
            <a:endParaRPr lang="en-US" sz="850" dirty="0"/>
          </a:p>
        </p:txBody>
      </p:sp>
      <p:sp>
        <p:nvSpPr>
          <p:cNvPr id="8" name="Text 5"/>
          <p:cNvSpPr/>
          <p:nvPr/>
        </p:nvSpPr>
        <p:spPr>
          <a:xfrm>
            <a:off x="8695944" y="2212848"/>
            <a:ext cx="777240" cy="54864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13</a:t>
            </a:r>
            <a:endParaRPr lang="en-US" sz="2600" dirty="0"/>
          </a:p>
        </p:txBody>
      </p:sp>
      <p:sp>
        <p:nvSpPr>
          <p:cNvPr id="9" name="Text 6"/>
          <p:cNvSpPr/>
          <p:nvPr/>
        </p:nvSpPr>
        <p:spPr>
          <a:xfrm>
            <a:off x="9418320" y="2212848"/>
            <a:ext cx="2011680" cy="548640"/>
          </a:xfrm>
          <a:prstGeom prst="rect">
            <a:avLst/>
          </a:prstGeom>
          <a:noFill/>
          <a:ln/>
        </p:spPr>
        <p:txBody>
          <a:bodyPr wrap="square" lIns="0" tIns="0" rIns="0" bIns="0" rtlCol="0" anchor="ctr"/>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yêu cầu chức năng đã khai báo (FR-01 … FR-13)</a:t>
            </a:r>
            <a:endParaRPr lang="en-US" sz="950" dirty="0"/>
          </a:p>
        </p:txBody>
      </p:sp>
      <p:sp>
        <p:nvSpPr>
          <p:cNvPr id="10" name="Text 7"/>
          <p:cNvSpPr/>
          <p:nvPr/>
        </p:nvSpPr>
        <p:spPr>
          <a:xfrm>
            <a:off x="8695944" y="3054096"/>
            <a:ext cx="777240" cy="54864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8</a:t>
            </a:r>
            <a:endParaRPr lang="en-US" sz="2600" dirty="0"/>
          </a:p>
        </p:txBody>
      </p:sp>
      <p:sp>
        <p:nvSpPr>
          <p:cNvPr id="11" name="Text 8"/>
          <p:cNvSpPr/>
          <p:nvPr/>
        </p:nvSpPr>
        <p:spPr>
          <a:xfrm>
            <a:off x="9418320" y="3054096"/>
            <a:ext cx="2011680" cy="548640"/>
          </a:xfrm>
          <a:prstGeom prst="rect">
            <a:avLst/>
          </a:prstGeom>
          <a:noFill/>
          <a:ln/>
        </p:spPr>
        <p:txBody>
          <a:bodyPr wrap="square" lIns="0" tIns="0" rIns="0" bIns="0" rtlCol="0" anchor="ctr"/>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yêu cầu đưa vào ca kiểm thử — đạt 8/8</a:t>
            </a:r>
            <a:endParaRPr lang="en-US" sz="950" dirty="0"/>
          </a:p>
        </p:txBody>
      </p:sp>
      <p:sp>
        <p:nvSpPr>
          <p:cNvPr id="12" name="Text 9"/>
          <p:cNvSpPr/>
          <p:nvPr/>
        </p:nvSpPr>
        <p:spPr>
          <a:xfrm>
            <a:off x="8695944" y="3895344"/>
            <a:ext cx="777240" cy="54864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8</a:t>
            </a:r>
            <a:endParaRPr lang="en-US" sz="2600" dirty="0"/>
          </a:p>
        </p:txBody>
      </p:sp>
      <p:sp>
        <p:nvSpPr>
          <p:cNvPr id="13" name="Text 10"/>
          <p:cNvSpPr/>
          <p:nvPr/>
        </p:nvSpPr>
        <p:spPr>
          <a:xfrm>
            <a:off x="9418320" y="3895344"/>
            <a:ext cx="2011680" cy="548640"/>
          </a:xfrm>
          <a:prstGeom prst="rect">
            <a:avLst/>
          </a:prstGeom>
          <a:noFill/>
          <a:ln/>
        </p:spPr>
        <p:txBody>
          <a:bodyPr wrap="square" lIns="0" tIns="0" rIns="0" bIns="0" rtlCol="0" anchor="ctr"/>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yêu cầu phi chức năng (NFR-01 … NFR-08)</a:t>
            </a:r>
            <a:endParaRPr lang="en-US" sz="950" dirty="0"/>
          </a:p>
        </p:txBody>
      </p:sp>
      <p:sp>
        <p:nvSpPr>
          <p:cNvPr id="14" name="Text 11"/>
          <p:cNvSpPr/>
          <p:nvPr/>
        </p:nvSpPr>
        <p:spPr>
          <a:xfrm>
            <a:off x="8695944" y="4736592"/>
            <a:ext cx="777240" cy="54864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6</a:t>
            </a:r>
            <a:endParaRPr lang="en-US" sz="2600" dirty="0"/>
          </a:p>
        </p:txBody>
      </p:sp>
      <p:sp>
        <p:nvSpPr>
          <p:cNvPr id="15" name="Text 12"/>
          <p:cNvSpPr/>
          <p:nvPr/>
        </p:nvSpPr>
        <p:spPr>
          <a:xfrm>
            <a:off x="9418320" y="4736592"/>
            <a:ext cx="2011680" cy="548640"/>
          </a:xfrm>
          <a:prstGeom prst="rect">
            <a:avLst/>
          </a:prstGeom>
          <a:noFill/>
          <a:ln/>
        </p:spPr>
        <p:txBody>
          <a:bodyPr wrap="square" lIns="0" tIns="0" rIns="0" bIns="0" rtlCol="0" anchor="ctr"/>
          <a:lstStyle/>
          <a:p>
            <a:pPr indent="0" marL="0">
              <a:lnSpc>
                <a:spcPct val="102000"/>
              </a:lnSpc>
              <a:buNone/>
            </a:pPr>
            <a:r>
              <a:rPr lang="en-US" sz="950" dirty="0">
                <a:solidFill>
                  <a:srgbClr val="667E93"/>
                </a:solidFill>
                <a:latin typeface="Calibri" pitchFamily="34" charset="0"/>
                <a:ea typeface="Calibri" pitchFamily="34" charset="-122"/>
                <a:cs typeface="Calibri" pitchFamily="34" charset="-120"/>
              </a:rPr>
              <a:t>ca kiểm thử TC-01 … TC-06</a:t>
            </a:r>
            <a:endParaRPr lang="en-US" sz="950" dirty="0"/>
          </a:p>
        </p:txBody>
      </p:sp>
      <p:sp>
        <p:nvSpPr>
          <p:cNvPr id="16" name="Shape 13"/>
          <p:cNvSpPr/>
          <p:nvPr/>
        </p:nvSpPr>
        <p:spPr>
          <a:xfrm>
            <a:off x="548640" y="5797296"/>
            <a:ext cx="11064240" cy="512064"/>
          </a:xfrm>
          <a:prstGeom prst="roundRect">
            <a:avLst>
              <a:gd name="adj" fmla="val 16071"/>
            </a:avLst>
          </a:prstGeom>
          <a:solidFill>
            <a:srgbClr val="FBF1DC"/>
          </a:solidFill>
          <a:ln w="9525">
            <a:solidFill>
              <a:srgbClr val="EBD9AE"/>
            </a:solidFill>
            <a:prstDash val="solid"/>
          </a:ln>
        </p:spPr>
      </p:sp>
      <p:sp>
        <p:nvSpPr>
          <p:cNvPr id="17" name="Text 14"/>
          <p:cNvSpPr/>
          <p:nvPr/>
        </p:nvSpPr>
        <p:spPr>
          <a:xfrm>
            <a:off x="804672" y="5797296"/>
            <a:ext cx="10552176" cy="512064"/>
          </a:xfrm>
          <a:prstGeom prst="rect">
            <a:avLst/>
          </a:prstGeom>
          <a:noFill/>
          <a:ln/>
        </p:spPr>
        <p:txBody>
          <a:bodyPr wrap="square" lIns="0" tIns="0" rIns="0" bIns="0" rtlCol="0" anchor="ctr"/>
          <a:lstStyle/>
          <a:p>
            <a:pPr indent="0" marL="0">
              <a:lnSpc>
                <a:spcPct val="102000"/>
              </a:lnSpc>
              <a:buNone/>
            </a:pPr>
            <a:r>
              <a:rPr lang="en-US" sz="1050" b="1" dirty="0">
                <a:solidFill>
                  <a:srgbClr val="B57A16"/>
                </a:solidFill>
                <a:latin typeface="Calibri" pitchFamily="34" charset="0"/>
                <a:ea typeface="Calibri" pitchFamily="34" charset="-122"/>
                <a:cs typeface="Calibri" pitchFamily="34" charset="-120"/>
              </a:rPr>
              <a:t>Hai mục tiêu chỉ đạt có điều kiện:  </a:t>
            </a:r>
            <a:pPr indent="0" marL="0">
              <a:lnSpc>
                <a:spcPct val="102000"/>
              </a:lnSpc>
              <a:buNone/>
            </a:pPr>
            <a:r>
              <a:rPr lang="en-US" sz="1050" dirty="0">
                <a:solidFill>
                  <a:srgbClr val="22303F"/>
                </a:solidFill>
                <a:latin typeface="Calibri" pitchFamily="34" charset="0"/>
                <a:ea typeface="Calibri" pitchFamily="34" charset="-122"/>
                <a:cs typeface="Calibri" pitchFamily="34" charset="-120"/>
              </a:rPr>
              <a:t>3/20 case chấm tay còn suy diễn vượt quá dữ liệu quan sát được; và tính tái lập mới bảo đảm ở mức thiết kế (nhiệt độ 0, seed cố định) chứ chưa chạy lặp nhiều lượt để đo tỷ lệ trùng khớp thực tế.</a:t>
            </a:r>
            <a:endParaRPr lang="en-US" sz="1050" dirty="0"/>
          </a:p>
        </p:txBody>
      </p:sp>
      <p:sp>
        <p:nvSpPr>
          <p:cNvPr id="18" name="Text 1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68706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68706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BỘ CHỈ SỐ</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Chỉ số được chọn để đo cả tính đúng, độ tin cậy và chi phí vận hành</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1965960"/>
                <a:gridCol w="4160520"/>
                <a:gridCol w="493776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Nhóm</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Chỉ số</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Câu hỏi mà chỉ số trả lời</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Chức năng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FR-01 … FR-08 đạt / không đạt</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Hệ thống có chạy đúng yêu cầu đã đặt ra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Hợp đồng đầu ra</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Tỷ lệ đúng lược đồ, tỷ lệ dùng kết quả dự phòng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Đầu ra có ổn định về mặt cấu trúc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Phân loại</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Tỷ lệ khớp mức nghiêm trọng, độ chính xác theo lớp</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Mô hình gán mức nghiêm trọng đúng đến đâu</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Hướng sai lệch</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Ma trận nhầm lẫn — đánh giá cao hơn / thấp hơn mức chuẩn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Mô hình sai theo hướng nào và sai ở nhóm nào</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Chất lượng diễn giải</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Rubric 5 tiêu chí, thang 1–5</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Nội dung diễn giải có dùng được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Độ tin cậy phép chấm</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Cohen's Kappa có trọng số bậc hai</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Hai người chấm có thực sự đồng thuận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Bằng chứng thống kê</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McNemar ghép cặp + khoảng tin cậy Wilson 95%</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Chênh lệch giữa hai cấu hình có đủ bằng chứng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Hiệu năng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Độ trễ trung bình / trung vị / p95, RAM, VRAM, token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Có chạy được trên phần cứng phổ thông không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02336">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Đối chứng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Đường cơ sở không dùng mô hình ngôn ngữ</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Khâu diễn giải đóng góp thêm bao nhiêu</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760720"/>
            <a:ext cx="11064240" cy="566928"/>
          </a:xfrm>
          <a:prstGeom prst="roundRect">
            <a:avLst>
              <a:gd name="adj" fmla="val 12903"/>
            </a:avLst>
          </a:prstGeom>
          <a:solidFill>
            <a:srgbClr val="E1EDF6"/>
          </a:solidFill>
          <a:ln w="9525">
            <a:solidFill>
              <a:srgbClr val="BFD8EA"/>
            </a:solidFill>
            <a:prstDash val="solid"/>
          </a:ln>
        </p:spPr>
      </p:sp>
      <p:sp>
        <p:nvSpPr>
          <p:cNvPr id="7" name="Text 4"/>
          <p:cNvSpPr/>
          <p:nvPr/>
        </p:nvSpPr>
        <p:spPr>
          <a:xfrm>
            <a:off x="804672" y="5760720"/>
            <a:ext cx="10552176" cy="566928"/>
          </a:xfrm>
          <a:prstGeom prst="rect">
            <a:avLst/>
          </a:prstGeom>
          <a:noFill/>
          <a:ln/>
        </p:spPr>
        <p:txBody>
          <a:bodyPr wrap="square" lIns="0" tIns="0" rIns="0" bIns="0" rtlCol="0" anchor="ctr"/>
          <a:lstStyle/>
          <a:p>
            <a:pPr algn="l" indent="0" marL="0">
              <a:buNone/>
            </a:pPr>
            <a:r>
              <a:rPr lang="en-US" sz="1100" b="1" dirty="0">
                <a:solidFill>
                  <a:srgbClr val="2C6E9B"/>
                </a:solidFill>
                <a:latin typeface="Calibri" pitchFamily="34" charset="0"/>
                <a:ea typeface="Calibri" pitchFamily="34" charset="-122"/>
                <a:cs typeface="Calibri" pitchFamily="34" charset="-120"/>
              </a:rPr>
              <a:t>Nhóm cố ý không báo cáo một điểm tổng duy nhất: mỗi nhóm chỉ số trả lời một câu hỏi khác nhau, và như kết quả sẽ cho thấy, điểm trung bình che lấp đúng phần khác biệt quan trọng nhất.</a:t>
            </a:r>
            <a:endParaRPr lang="en-US" sz="1100" dirty="0"/>
          </a:p>
        </p:txBody>
      </p:sp>
      <p:sp>
        <p:nvSpPr>
          <p:cNvPr id="8" name="Text 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68706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68706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THIẾT LẬP</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Ba cấu hình được đo trên cùng bộ 33 cảnh báo</a:t>
            </a:r>
            <a:endParaRPr lang="en-US" sz="2600" dirty="0"/>
          </a:p>
        </p:txBody>
      </p:sp>
      <p:sp>
        <p:nvSpPr>
          <p:cNvPr id="5" name="Shape 3"/>
          <p:cNvSpPr/>
          <p:nvPr/>
        </p:nvSpPr>
        <p:spPr>
          <a:xfrm>
            <a:off x="548640" y="1719072"/>
            <a:ext cx="6903720" cy="512064"/>
          </a:xfrm>
          <a:prstGeom prst="roundRect">
            <a:avLst>
              <a:gd name="adj" fmla="val 16071"/>
            </a:avLst>
          </a:prstGeom>
          <a:solidFill>
            <a:srgbClr val="0D1B2A"/>
          </a:solidFill>
          <a:ln w="9525">
            <a:solidFill>
              <a:srgbClr val="0D1B2A"/>
            </a:solidFill>
            <a:prstDash val="solid"/>
          </a:ln>
        </p:spPr>
      </p:sp>
      <p:sp>
        <p:nvSpPr>
          <p:cNvPr id="6" name="Text 4"/>
          <p:cNvSpPr/>
          <p:nvPr/>
        </p:nvSpPr>
        <p:spPr>
          <a:xfrm>
            <a:off x="548640" y="1719072"/>
            <a:ext cx="690372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33 cảnh báo thật đã làm sạch thông tin định danh  ·  đóng băng trong eval/cases/</a:t>
            </a:r>
            <a:endParaRPr lang="en-US" sz="1150" dirty="0"/>
          </a:p>
        </p:txBody>
      </p:sp>
      <p:sp>
        <p:nvSpPr>
          <p:cNvPr id="7" name="Shape 5"/>
          <p:cNvSpPr/>
          <p:nvPr/>
        </p:nvSpPr>
        <p:spPr>
          <a:xfrm rot="10800000">
            <a:off x="3899916" y="2286000"/>
            <a:ext cx="201168" cy="137160"/>
          </a:xfrm>
          <a:prstGeom prst="triangle">
            <a:avLst/>
          </a:prstGeom>
          <a:solidFill>
            <a:srgbClr val="0D1B2A"/>
          </a:solidFill>
          <a:ln w="12700">
            <a:solidFill>
              <a:srgbClr val="0D1B2A"/>
            </a:solidFill>
            <a:prstDash val="solid"/>
          </a:ln>
        </p:spPr>
      </p:sp>
      <p:sp>
        <p:nvSpPr>
          <p:cNvPr id="8" name="Shape 6"/>
          <p:cNvSpPr/>
          <p:nvPr/>
        </p:nvSpPr>
        <p:spPr>
          <a:xfrm>
            <a:off x="548640" y="2487168"/>
            <a:ext cx="2203704" cy="530352"/>
          </a:xfrm>
          <a:prstGeom prst="roundRect">
            <a:avLst>
              <a:gd name="adj" fmla="val 15517"/>
            </a:avLst>
          </a:prstGeom>
          <a:solidFill>
            <a:srgbClr val="F2F6FA"/>
          </a:solidFill>
          <a:ln w="9525">
            <a:solidFill>
              <a:srgbClr val="D7E2EC"/>
            </a:solidFill>
            <a:prstDash val="solid"/>
          </a:ln>
        </p:spPr>
      </p:sp>
      <p:sp>
        <p:nvSpPr>
          <p:cNvPr id="9" name="Text 7"/>
          <p:cNvSpPr/>
          <p:nvPr/>
        </p:nvSpPr>
        <p:spPr>
          <a:xfrm>
            <a:off x="548640" y="2487168"/>
            <a:ext cx="2203704" cy="530352"/>
          </a:xfrm>
          <a:prstGeom prst="rect">
            <a:avLst/>
          </a:prstGeom>
          <a:noFill/>
          <a:ln/>
        </p:spPr>
        <p:txBody>
          <a:bodyPr wrap="square" lIns="0" tIns="0" rIns="0" bIns="0" rtlCol="0" anchor="ctr"/>
          <a:lstStyle/>
          <a:p>
            <a:pPr algn="ctr" indent="0" marL="0">
              <a:buNone/>
            </a:pPr>
            <a:r>
              <a:rPr lang="en-US" sz="1800" b="1" dirty="0">
                <a:solidFill>
                  <a:srgbClr val="1F9E86"/>
                </a:solidFill>
                <a:latin typeface="Calibri" pitchFamily="34" charset="0"/>
                <a:ea typeface="Calibri" pitchFamily="34" charset="-122"/>
                <a:cs typeface="Calibri" pitchFamily="34" charset="-120"/>
              </a:rPr>
              <a:t>13  </a:t>
            </a:r>
            <a:pPr algn="ctr" indent="0" marL="0">
              <a:buNone/>
            </a:pPr>
            <a:r>
              <a:rPr lang="en-US" sz="1100" dirty="0">
                <a:solidFill>
                  <a:srgbClr val="22303F"/>
                </a:solidFill>
                <a:latin typeface="Calibri" pitchFamily="34" charset="0"/>
                <a:ea typeface="Calibri" pitchFamily="34" charset="-122"/>
                <a:cs typeface="Calibri" pitchFamily="34" charset="-120"/>
              </a:rPr>
              <a:t>thấp</a:t>
            </a:r>
            <a:endParaRPr lang="en-US" sz="1800" dirty="0"/>
          </a:p>
        </p:txBody>
      </p:sp>
      <p:sp>
        <p:nvSpPr>
          <p:cNvPr id="10" name="Shape 8"/>
          <p:cNvSpPr/>
          <p:nvPr/>
        </p:nvSpPr>
        <p:spPr>
          <a:xfrm>
            <a:off x="2898648" y="2487168"/>
            <a:ext cx="2203704" cy="530352"/>
          </a:xfrm>
          <a:prstGeom prst="roundRect">
            <a:avLst>
              <a:gd name="adj" fmla="val 15517"/>
            </a:avLst>
          </a:prstGeom>
          <a:solidFill>
            <a:srgbClr val="F2F6FA"/>
          </a:solidFill>
          <a:ln w="9525">
            <a:solidFill>
              <a:srgbClr val="D7E2EC"/>
            </a:solidFill>
            <a:prstDash val="solid"/>
          </a:ln>
        </p:spPr>
      </p:sp>
      <p:sp>
        <p:nvSpPr>
          <p:cNvPr id="11" name="Text 9"/>
          <p:cNvSpPr/>
          <p:nvPr/>
        </p:nvSpPr>
        <p:spPr>
          <a:xfrm>
            <a:off x="2898648" y="2487168"/>
            <a:ext cx="2203704" cy="530352"/>
          </a:xfrm>
          <a:prstGeom prst="rect">
            <a:avLst/>
          </a:prstGeom>
          <a:noFill/>
          <a:ln/>
        </p:spPr>
        <p:txBody>
          <a:bodyPr wrap="square" lIns="0" tIns="0" rIns="0" bIns="0" rtlCol="0" anchor="ctr"/>
          <a:lstStyle/>
          <a:p>
            <a:pPr algn="ctr" indent="0" marL="0">
              <a:buNone/>
            </a:pPr>
            <a:r>
              <a:rPr lang="en-US" sz="1800" b="1" dirty="0">
                <a:solidFill>
                  <a:srgbClr val="2C6E9B"/>
                </a:solidFill>
                <a:latin typeface="Calibri" pitchFamily="34" charset="0"/>
                <a:ea typeface="Calibri" pitchFamily="34" charset="-122"/>
                <a:cs typeface="Calibri" pitchFamily="34" charset="-120"/>
              </a:rPr>
              <a:t>13  </a:t>
            </a:r>
            <a:pPr algn="ctr" indent="0" marL="0">
              <a:buNone/>
            </a:pPr>
            <a:r>
              <a:rPr lang="en-US" sz="1100" dirty="0">
                <a:solidFill>
                  <a:srgbClr val="22303F"/>
                </a:solidFill>
                <a:latin typeface="Calibri" pitchFamily="34" charset="0"/>
                <a:ea typeface="Calibri" pitchFamily="34" charset="-122"/>
                <a:cs typeface="Calibri" pitchFamily="34" charset="-120"/>
              </a:rPr>
              <a:t>trung bình</a:t>
            </a:r>
            <a:endParaRPr lang="en-US" sz="1800" dirty="0"/>
          </a:p>
        </p:txBody>
      </p:sp>
      <p:sp>
        <p:nvSpPr>
          <p:cNvPr id="12" name="Shape 10"/>
          <p:cNvSpPr/>
          <p:nvPr/>
        </p:nvSpPr>
        <p:spPr>
          <a:xfrm>
            <a:off x="5248656" y="2487168"/>
            <a:ext cx="2203704" cy="530352"/>
          </a:xfrm>
          <a:prstGeom prst="roundRect">
            <a:avLst>
              <a:gd name="adj" fmla="val 15517"/>
            </a:avLst>
          </a:prstGeom>
          <a:solidFill>
            <a:srgbClr val="F2F6FA"/>
          </a:solidFill>
          <a:ln w="9525">
            <a:solidFill>
              <a:srgbClr val="D7E2EC"/>
            </a:solidFill>
            <a:prstDash val="solid"/>
          </a:ln>
        </p:spPr>
      </p:sp>
      <p:sp>
        <p:nvSpPr>
          <p:cNvPr id="13" name="Text 11"/>
          <p:cNvSpPr/>
          <p:nvPr/>
        </p:nvSpPr>
        <p:spPr>
          <a:xfrm>
            <a:off x="5248656" y="2487168"/>
            <a:ext cx="2203704" cy="530352"/>
          </a:xfrm>
          <a:prstGeom prst="rect">
            <a:avLst/>
          </a:prstGeom>
          <a:noFill/>
          <a:ln/>
        </p:spPr>
        <p:txBody>
          <a:bodyPr wrap="square" lIns="0" tIns="0" rIns="0" bIns="0" rtlCol="0" anchor="ctr"/>
          <a:lstStyle/>
          <a:p>
            <a:pPr algn="ctr" indent="0" marL="0">
              <a:buNone/>
            </a:pPr>
            <a:r>
              <a:rPr lang="en-US" sz="1800" b="1" dirty="0">
                <a:solidFill>
                  <a:srgbClr val="BE4B3B"/>
                </a:solidFill>
                <a:latin typeface="Calibri" pitchFamily="34" charset="0"/>
                <a:ea typeface="Calibri" pitchFamily="34" charset="-122"/>
                <a:cs typeface="Calibri" pitchFamily="34" charset="-120"/>
              </a:rPr>
              <a:t>7  </a:t>
            </a:r>
            <a:pPr algn="ctr" indent="0" marL="0">
              <a:buNone/>
            </a:pPr>
            <a:r>
              <a:rPr lang="en-US" sz="1100" dirty="0">
                <a:solidFill>
                  <a:srgbClr val="22303F"/>
                </a:solidFill>
                <a:latin typeface="Calibri" pitchFamily="34" charset="0"/>
                <a:ea typeface="Calibri" pitchFamily="34" charset="-122"/>
                <a:cs typeface="Calibri" pitchFamily="34" charset="-120"/>
              </a:rPr>
              <a:t>cao</a:t>
            </a:r>
            <a:endParaRPr lang="en-US" sz="1800" dirty="0"/>
          </a:p>
        </p:txBody>
      </p:sp>
      <p:sp>
        <p:nvSpPr>
          <p:cNvPr id="14" name="Shape 12"/>
          <p:cNvSpPr/>
          <p:nvPr/>
        </p:nvSpPr>
        <p:spPr>
          <a:xfrm rot="10800000">
            <a:off x="3899916" y="3072384"/>
            <a:ext cx="201168" cy="137160"/>
          </a:xfrm>
          <a:prstGeom prst="triangle">
            <a:avLst/>
          </a:prstGeom>
          <a:solidFill>
            <a:srgbClr val="0D1B2A"/>
          </a:solidFill>
          <a:ln w="12700">
            <a:solidFill>
              <a:srgbClr val="0D1B2A"/>
            </a:solidFill>
            <a:prstDash val="solid"/>
          </a:ln>
        </p:spPr>
      </p:sp>
      <p:sp>
        <p:nvSpPr>
          <p:cNvPr id="15" name="Shape 13"/>
          <p:cNvSpPr/>
          <p:nvPr/>
        </p:nvSpPr>
        <p:spPr>
          <a:xfrm>
            <a:off x="548640" y="3273552"/>
            <a:ext cx="2203704" cy="877824"/>
          </a:xfrm>
          <a:prstGeom prst="roundRect">
            <a:avLst>
              <a:gd name="adj" fmla="val 9375"/>
            </a:avLst>
          </a:prstGeom>
          <a:solidFill>
            <a:srgbClr val="DCF0EB"/>
          </a:solidFill>
          <a:ln w="9525">
            <a:solidFill>
              <a:srgbClr val="BCE0D7"/>
            </a:solidFill>
            <a:prstDash val="solid"/>
          </a:ln>
        </p:spPr>
      </p:sp>
      <p:sp>
        <p:nvSpPr>
          <p:cNvPr id="16" name="Shape 14"/>
          <p:cNvSpPr/>
          <p:nvPr/>
        </p:nvSpPr>
        <p:spPr>
          <a:xfrm>
            <a:off x="694944" y="3401568"/>
            <a:ext cx="292608" cy="292608"/>
          </a:xfrm>
          <a:prstGeom prst="roundRect">
            <a:avLst>
              <a:gd name="adj" fmla="val 68750"/>
            </a:avLst>
          </a:prstGeom>
          <a:solidFill>
            <a:srgbClr val="1F9E86"/>
          </a:solidFill>
          <a:ln w="12700">
            <a:solidFill>
              <a:srgbClr val="1F9E86"/>
            </a:solidFill>
            <a:prstDash val="solid"/>
          </a:ln>
        </p:spPr>
      </p:sp>
      <p:sp>
        <p:nvSpPr>
          <p:cNvPr id="17" name="Text 15"/>
          <p:cNvSpPr/>
          <p:nvPr/>
        </p:nvSpPr>
        <p:spPr>
          <a:xfrm>
            <a:off x="694944" y="3401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8" name="Text 16"/>
          <p:cNvSpPr/>
          <p:nvPr/>
        </p:nvSpPr>
        <p:spPr>
          <a:xfrm>
            <a:off x="676656" y="3712464"/>
            <a:ext cx="1965960" cy="365760"/>
          </a:xfrm>
          <a:prstGeom prst="rect">
            <a:avLst/>
          </a:prstGeom>
          <a:noFill/>
          <a:ln/>
        </p:spPr>
        <p:txBody>
          <a:bodyPr wrap="square" lIns="0" tIns="0" rIns="0" bIns="0" rtlCol="0" anchor="ctr"/>
          <a:lstStyle/>
          <a:p>
            <a:pPr algn="ctr" indent="0" marL="0">
              <a:lnSpc>
                <a:spcPct val="95000"/>
              </a:lnSpc>
              <a:buNone/>
            </a:pPr>
            <a:r>
              <a:rPr lang="en-US" sz="1000" b="1" dirty="0">
                <a:solidFill>
                  <a:srgbClr val="0D1B2A"/>
                </a:solidFill>
                <a:latin typeface="Calibri" pitchFamily="34" charset="0"/>
                <a:ea typeface="Calibri" pitchFamily="34" charset="-122"/>
                <a:cs typeface="Calibri" pitchFamily="34" charset="-120"/>
              </a:rPr>
              <a:t>qwen2.5:7b + RAG</a:t>
            </a:r>
            <a:endParaRPr lang="en-US" sz="1000" dirty="0"/>
          </a:p>
        </p:txBody>
      </p:sp>
      <p:sp>
        <p:nvSpPr>
          <p:cNvPr id="19" name="Shape 17"/>
          <p:cNvSpPr/>
          <p:nvPr/>
        </p:nvSpPr>
        <p:spPr>
          <a:xfrm>
            <a:off x="2898648" y="3273552"/>
            <a:ext cx="2203704" cy="877824"/>
          </a:xfrm>
          <a:prstGeom prst="roundRect">
            <a:avLst>
              <a:gd name="adj" fmla="val 9375"/>
            </a:avLst>
          </a:prstGeom>
          <a:solidFill>
            <a:srgbClr val="E1EDF6"/>
          </a:solidFill>
          <a:ln w="9525">
            <a:solidFill>
              <a:srgbClr val="BFD8EA"/>
            </a:solidFill>
            <a:prstDash val="solid"/>
          </a:ln>
        </p:spPr>
      </p:sp>
      <p:sp>
        <p:nvSpPr>
          <p:cNvPr id="20" name="Shape 18"/>
          <p:cNvSpPr/>
          <p:nvPr/>
        </p:nvSpPr>
        <p:spPr>
          <a:xfrm>
            <a:off x="3044952" y="3401568"/>
            <a:ext cx="292608" cy="292608"/>
          </a:xfrm>
          <a:prstGeom prst="roundRect">
            <a:avLst>
              <a:gd name="adj" fmla="val 68750"/>
            </a:avLst>
          </a:prstGeom>
          <a:solidFill>
            <a:srgbClr val="2C6E9B"/>
          </a:solidFill>
          <a:ln w="12700">
            <a:solidFill>
              <a:srgbClr val="2C6E9B"/>
            </a:solidFill>
            <a:prstDash val="solid"/>
          </a:ln>
        </p:spPr>
      </p:sp>
      <p:sp>
        <p:nvSpPr>
          <p:cNvPr id="21" name="Text 19"/>
          <p:cNvSpPr/>
          <p:nvPr/>
        </p:nvSpPr>
        <p:spPr>
          <a:xfrm>
            <a:off x="3044952" y="3401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2" name="Text 20"/>
          <p:cNvSpPr/>
          <p:nvPr/>
        </p:nvSpPr>
        <p:spPr>
          <a:xfrm>
            <a:off x="3026664" y="3712464"/>
            <a:ext cx="1965960" cy="365760"/>
          </a:xfrm>
          <a:prstGeom prst="rect">
            <a:avLst/>
          </a:prstGeom>
          <a:noFill/>
          <a:ln/>
        </p:spPr>
        <p:txBody>
          <a:bodyPr wrap="square" lIns="0" tIns="0" rIns="0" bIns="0" rtlCol="0" anchor="ctr"/>
          <a:lstStyle/>
          <a:p>
            <a:pPr algn="ctr" indent="0" marL="0">
              <a:lnSpc>
                <a:spcPct val="95000"/>
              </a:lnSpc>
              <a:buNone/>
            </a:pPr>
            <a:r>
              <a:rPr lang="en-US" sz="1000" b="1" dirty="0">
                <a:solidFill>
                  <a:srgbClr val="0D1B2A"/>
                </a:solidFill>
                <a:latin typeface="Calibri" pitchFamily="34" charset="0"/>
                <a:ea typeface="Calibri" pitchFamily="34" charset="-122"/>
                <a:cs typeface="Calibri" pitchFamily="34" charset="-120"/>
              </a:rPr>
              <a:t>qwen2.5:7b không RAG</a:t>
            </a:r>
            <a:endParaRPr lang="en-US" sz="1000" dirty="0"/>
          </a:p>
        </p:txBody>
      </p:sp>
      <p:sp>
        <p:nvSpPr>
          <p:cNvPr id="23" name="Shape 21"/>
          <p:cNvSpPr/>
          <p:nvPr/>
        </p:nvSpPr>
        <p:spPr>
          <a:xfrm>
            <a:off x="5248656" y="3273552"/>
            <a:ext cx="2203704" cy="877824"/>
          </a:xfrm>
          <a:prstGeom prst="roundRect">
            <a:avLst>
              <a:gd name="adj" fmla="val 9375"/>
            </a:avLst>
          </a:prstGeom>
          <a:solidFill>
            <a:srgbClr val="FAE3DF"/>
          </a:solidFill>
          <a:ln w="9525">
            <a:solidFill>
              <a:srgbClr val="EFC8C1"/>
            </a:solidFill>
            <a:prstDash val="solid"/>
          </a:ln>
        </p:spPr>
      </p:sp>
      <p:sp>
        <p:nvSpPr>
          <p:cNvPr id="24" name="Shape 22"/>
          <p:cNvSpPr/>
          <p:nvPr/>
        </p:nvSpPr>
        <p:spPr>
          <a:xfrm>
            <a:off x="5394960" y="3401568"/>
            <a:ext cx="292608" cy="292608"/>
          </a:xfrm>
          <a:prstGeom prst="roundRect">
            <a:avLst>
              <a:gd name="adj" fmla="val 68750"/>
            </a:avLst>
          </a:prstGeom>
          <a:solidFill>
            <a:srgbClr val="BE4B3B"/>
          </a:solidFill>
          <a:ln w="12700">
            <a:solidFill>
              <a:srgbClr val="BE4B3B"/>
            </a:solidFill>
            <a:prstDash val="solid"/>
          </a:ln>
        </p:spPr>
      </p:sp>
      <p:sp>
        <p:nvSpPr>
          <p:cNvPr id="25" name="Text 23"/>
          <p:cNvSpPr/>
          <p:nvPr/>
        </p:nvSpPr>
        <p:spPr>
          <a:xfrm>
            <a:off x="5394960" y="34015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6" name="Text 24"/>
          <p:cNvSpPr/>
          <p:nvPr/>
        </p:nvSpPr>
        <p:spPr>
          <a:xfrm>
            <a:off x="5376672" y="3712464"/>
            <a:ext cx="1965960" cy="365760"/>
          </a:xfrm>
          <a:prstGeom prst="rect">
            <a:avLst/>
          </a:prstGeom>
          <a:noFill/>
          <a:ln/>
        </p:spPr>
        <p:txBody>
          <a:bodyPr wrap="square" lIns="0" tIns="0" rIns="0" bIns="0" rtlCol="0" anchor="ctr"/>
          <a:lstStyle/>
          <a:p>
            <a:pPr algn="ctr" indent="0" marL="0">
              <a:lnSpc>
                <a:spcPct val="95000"/>
              </a:lnSpc>
              <a:buNone/>
            </a:pPr>
            <a:r>
              <a:rPr lang="en-US" sz="1000" b="1" dirty="0">
                <a:solidFill>
                  <a:srgbClr val="0D1B2A"/>
                </a:solidFill>
                <a:latin typeface="Calibri" pitchFamily="34" charset="0"/>
                <a:ea typeface="Calibri" pitchFamily="34" charset="-122"/>
                <a:cs typeface="Calibri" pitchFamily="34" charset="-120"/>
              </a:rPr>
              <a:t>notmythos-8b + RAG</a:t>
            </a:r>
            <a:endParaRPr lang="en-US" sz="1000" dirty="0"/>
          </a:p>
        </p:txBody>
      </p:sp>
      <p:sp>
        <p:nvSpPr>
          <p:cNvPr id="27" name="Shape 25"/>
          <p:cNvSpPr/>
          <p:nvPr/>
        </p:nvSpPr>
        <p:spPr>
          <a:xfrm rot="10800000">
            <a:off x="3899916" y="4206240"/>
            <a:ext cx="201168" cy="137160"/>
          </a:xfrm>
          <a:prstGeom prst="triangle">
            <a:avLst/>
          </a:prstGeom>
          <a:solidFill>
            <a:srgbClr val="0D1B2A"/>
          </a:solidFill>
          <a:ln w="12700">
            <a:solidFill>
              <a:srgbClr val="0D1B2A"/>
            </a:solidFill>
            <a:prstDash val="solid"/>
          </a:ln>
        </p:spPr>
      </p:sp>
      <p:sp>
        <p:nvSpPr>
          <p:cNvPr id="28" name="Shape 26"/>
          <p:cNvSpPr/>
          <p:nvPr/>
        </p:nvSpPr>
        <p:spPr>
          <a:xfrm>
            <a:off x="548640" y="4407408"/>
            <a:ext cx="6903720" cy="566928"/>
          </a:xfrm>
          <a:prstGeom prst="roundRect">
            <a:avLst>
              <a:gd name="adj" fmla="val 14516"/>
            </a:avLst>
          </a:prstGeom>
          <a:solidFill>
            <a:srgbClr val="F2F6FA"/>
          </a:solidFill>
          <a:ln w="9525">
            <a:solidFill>
              <a:srgbClr val="D7E2EC"/>
            </a:solidFill>
            <a:prstDash val="solid"/>
          </a:ln>
        </p:spPr>
      </p:sp>
      <p:sp>
        <p:nvSpPr>
          <p:cNvPr id="29" name="Text 27"/>
          <p:cNvSpPr/>
          <p:nvPr/>
        </p:nvSpPr>
        <p:spPr>
          <a:xfrm>
            <a:off x="548640" y="4407408"/>
            <a:ext cx="6903720" cy="566928"/>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99 lượt kết quả  ·  đối chiếu ghép cặp trên từng case  ·  kiểm định McNemar chính xác</a:t>
            </a:r>
            <a:endParaRPr lang="en-US" sz="1100" dirty="0"/>
          </a:p>
        </p:txBody>
      </p:sp>
      <p:sp>
        <p:nvSpPr>
          <p:cNvPr id="30" name="Shape 28"/>
          <p:cNvSpPr/>
          <p:nvPr/>
        </p:nvSpPr>
        <p:spPr>
          <a:xfrm>
            <a:off x="7726680" y="1719072"/>
            <a:ext cx="3886200" cy="3255264"/>
          </a:xfrm>
          <a:prstGeom prst="roundRect">
            <a:avLst>
              <a:gd name="adj" fmla="val 2528"/>
            </a:avLst>
          </a:prstGeom>
          <a:solidFill>
            <a:srgbClr val="F2F6FA"/>
          </a:solidFill>
          <a:ln w="9525">
            <a:solidFill>
              <a:srgbClr val="D7E2EC"/>
            </a:solidFill>
            <a:prstDash val="solid"/>
          </a:ln>
        </p:spPr>
      </p:sp>
      <p:sp>
        <p:nvSpPr>
          <p:cNvPr id="31" name="Text 29"/>
          <p:cNvSpPr/>
          <p:nvPr/>
        </p:nvSpPr>
        <p:spPr>
          <a:xfrm>
            <a:off x="7964424" y="1847088"/>
            <a:ext cx="3474720" cy="256032"/>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PHÂN BỐ THEO NHÓM KỊCH BẢN</a:t>
            </a:r>
            <a:endParaRPr lang="en-US" sz="850" dirty="0"/>
          </a:p>
        </p:txBody>
      </p:sp>
      <p:sp>
        <p:nvSpPr>
          <p:cNvPr id="32" name="Text 30"/>
          <p:cNvSpPr/>
          <p:nvPr/>
        </p:nvSpPr>
        <p:spPr>
          <a:xfrm>
            <a:off x="7982712" y="2194560"/>
            <a:ext cx="1965960" cy="256032"/>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Lành tính (đối chứng)</a:t>
            </a:r>
            <a:endParaRPr lang="en-US" sz="1000" dirty="0"/>
          </a:p>
        </p:txBody>
      </p:sp>
      <p:sp>
        <p:nvSpPr>
          <p:cNvPr id="33" name="Shape 31"/>
          <p:cNvSpPr/>
          <p:nvPr/>
        </p:nvSpPr>
        <p:spPr>
          <a:xfrm>
            <a:off x="9893808" y="2249424"/>
            <a:ext cx="822960" cy="164592"/>
          </a:xfrm>
          <a:prstGeom prst="roundRect">
            <a:avLst>
              <a:gd name="adj" fmla="val 50000"/>
            </a:avLst>
          </a:prstGeom>
          <a:solidFill>
            <a:srgbClr val="E6EEF5"/>
          </a:solidFill>
          <a:ln w="12700">
            <a:solidFill>
              <a:srgbClr val="E6EEF5"/>
            </a:solidFill>
            <a:prstDash val="solid"/>
          </a:ln>
        </p:spPr>
      </p:sp>
      <p:sp>
        <p:nvSpPr>
          <p:cNvPr id="34" name="Shape 32"/>
          <p:cNvSpPr/>
          <p:nvPr/>
        </p:nvSpPr>
        <p:spPr>
          <a:xfrm>
            <a:off x="9893808" y="2249424"/>
            <a:ext cx="822960" cy="164592"/>
          </a:xfrm>
          <a:prstGeom prst="roundRect">
            <a:avLst>
              <a:gd name="adj" fmla="val 50000"/>
            </a:avLst>
          </a:prstGeom>
          <a:solidFill>
            <a:srgbClr val="1F9E86"/>
          </a:solidFill>
          <a:ln w="12700">
            <a:solidFill>
              <a:srgbClr val="1F9E86"/>
            </a:solidFill>
            <a:prstDash val="solid"/>
          </a:ln>
        </p:spPr>
      </p:sp>
      <p:sp>
        <p:nvSpPr>
          <p:cNvPr id="35" name="Text 33"/>
          <p:cNvSpPr/>
          <p:nvPr/>
        </p:nvSpPr>
        <p:spPr>
          <a:xfrm>
            <a:off x="10771632" y="2194560"/>
            <a:ext cx="658368" cy="256032"/>
          </a:xfrm>
          <a:prstGeom prst="rect">
            <a:avLst/>
          </a:prstGeom>
          <a:noFill/>
          <a:ln/>
        </p:spPr>
        <p:txBody>
          <a:bodyPr wrap="square" lIns="0" tIns="0" rIns="0" bIns="0" rtlCol="0" anchor="ctr"/>
          <a:lstStyle/>
          <a:p>
            <a:pPr algn="r" indent="0" marL="0">
              <a:buNone/>
            </a:pPr>
            <a:r>
              <a:rPr lang="en-US" sz="900" b="1" dirty="0">
                <a:solidFill>
                  <a:srgbClr val="0E6B5A"/>
                </a:solidFill>
                <a:latin typeface="Calibri" pitchFamily="34" charset="0"/>
                <a:ea typeface="Calibri" pitchFamily="34" charset="-122"/>
                <a:cs typeface="Calibri" pitchFamily="34" charset="-120"/>
              </a:rPr>
              <a:t>13  ·  39,4%</a:t>
            </a:r>
            <a:endParaRPr lang="en-US" sz="900" dirty="0"/>
          </a:p>
        </p:txBody>
      </p:sp>
      <p:sp>
        <p:nvSpPr>
          <p:cNvPr id="36" name="Text 34"/>
          <p:cNvSpPr/>
          <p:nvPr/>
        </p:nvSpPr>
        <p:spPr>
          <a:xfrm>
            <a:off x="7982712" y="2432304"/>
            <a:ext cx="3383280" cy="237744"/>
          </a:xfrm>
          <a:prstGeom prst="rect">
            <a:avLst/>
          </a:prstGeom>
          <a:noFill/>
          <a:ln/>
        </p:spPr>
        <p:txBody>
          <a:bodyPr wrap="square" lIns="0" tIns="0" rIns="0" bIns="0" rtlCol="0" anchor="ctr"/>
          <a:lstStyle/>
          <a:p>
            <a:pPr indent="0" marL="0">
              <a:buNone/>
            </a:pPr>
            <a:r>
              <a:rPr lang="en-US" sz="750" dirty="0">
                <a:solidFill>
                  <a:srgbClr val="667E93"/>
                </a:solidFill>
                <a:latin typeface="Courier New" pitchFamily="34" charset="0"/>
                <a:ea typeface="Courier New" pitchFamily="34" charset="-122"/>
                <a:cs typeface="Courier New" pitchFamily="34" charset="-120"/>
              </a:rPr>
              <a:t>503 · 5402 · 5501 · 5502 · 5715 · 23502</a:t>
            </a:r>
            <a:endParaRPr lang="en-US" sz="750" dirty="0"/>
          </a:p>
        </p:txBody>
      </p:sp>
      <p:sp>
        <p:nvSpPr>
          <p:cNvPr id="37" name="Text 35"/>
          <p:cNvSpPr/>
          <p:nvPr/>
        </p:nvSpPr>
        <p:spPr>
          <a:xfrm>
            <a:off x="7982712" y="2743200"/>
            <a:ext cx="1965960" cy="256032"/>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Dò mật khẩu SSH</a:t>
            </a:r>
            <a:endParaRPr lang="en-US" sz="1000" dirty="0"/>
          </a:p>
        </p:txBody>
      </p:sp>
      <p:sp>
        <p:nvSpPr>
          <p:cNvPr id="38" name="Shape 36"/>
          <p:cNvSpPr/>
          <p:nvPr/>
        </p:nvSpPr>
        <p:spPr>
          <a:xfrm>
            <a:off x="9893808" y="2798064"/>
            <a:ext cx="822960" cy="164592"/>
          </a:xfrm>
          <a:prstGeom prst="roundRect">
            <a:avLst>
              <a:gd name="adj" fmla="val 50000"/>
            </a:avLst>
          </a:prstGeom>
          <a:solidFill>
            <a:srgbClr val="E6EEF5"/>
          </a:solidFill>
          <a:ln w="12700">
            <a:solidFill>
              <a:srgbClr val="E6EEF5"/>
            </a:solidFill>
            <a:prstDash val="solid"/>
          </a:ln>
        </p:spPr>
      </p:sp>
      <p:sp>
        <p:nvSpPr>
          <p:cNvPr id="39" name="Shape 37"/>
          <p:cNvSpPr/>
          <p:nvPr/>
        </p:nvSpPr>
        <p:spPr>
          <a:xfrm>
            <a:off x="9893808" y="2798064"/>
            <a:ext cx="759655" cy="164592"/>
          </a:xfrm>
          <a:prstGeom prst="roundRect">
            <a:avLst>
              <a:gd name="adj" fmla="val 50000"/>
            </a:avLst>
          </a:prstGeom>
          <a:solidFill>
            <a:srgbClr val="1F9E86"/>
          </a:solidFill>
          <a:ln w="12700">
            <a:solidFill>
              <a:srgbClr val="1F9E86"/>
            </a:solidFill>
            <a:prstDash val="solid"/>
          </a:ln>
        </p:spPr>
      </p:sp>
      <p:sp>
        <p:nvSpPr>
          <p:cNvPr id="40" name="Text 38"/>
          <p:cNvSpPr/>
          <p:nvPr/>
        </p:nvSpPr>
        <p:spPr>
          <a:xfrm>
            <a:off x="10771632" y="2743200"/>
            <a:ext cx="658368" cy="256032"/>
          </a:xfrm>
          <a:prstGeom prst="rect">
            <a:avLst/>
          </a:prstGeom>
          <a:noFill/>
          <a:ln/>
        </p:spPr>
        <p:txBody>
          <a:bodyPr wrap="square" lIns="0" tIns="0" rIns="0" bIns="0" rtlCol="0" anchor="ctr"/>
          <a:lstStyle/>
          <a:p>
            <a:pPr algn="r" indent="0" marL="0">
              <a:buNone/>
            </a:pPr>
            <a:r>
              <a:rPr lang="en-US" sz="900" b="1" dirty="0">
                <a:solidFill>
                  <a:srgbClr val="0E6B5A"/>
                </a:solidFill>
                <a:latin typeface="Calibri" pitchFamily="34" charset="0"/>
                <a:ea typeface="Calibri" pitchFamily="34" charset="-122"/>
                <a:cs typeface="Calibri" pitchFamily="34" charset="-120"/>
              </a:rPr>
              <a:t>12  ·  36,4%</a:t>
            </a:r>
            <a:endParaRPr lang="en-US" sz="900" dirty="0"/>
          </a:p>
        </p:txBody>
      </p:sp>
      <p:sp>
        <p:nvSpPr>
          <p:cNvPr id="41" name="Text 39"/>
          <p:cNvSpPr/>
          <p:nvPr/>
        </p:nvSpPr>
        <p:spPr>
          <a:xfrm>
            <a:off x="7982712" y="2980944"/>
            <a:ext cx="3383280" cy="237744"/>
          </a:xfrm>
          <a:prstGeom prst="rect">
            <a:avLst/>
          </a:prstGeom>
          <a:noFill/>
          <a:ln/>
        </p:spPr>
        <p:txBody>
          <a:bodyPr wrap="square" lIns="0" tIns="0" rIns="0" bIns="0" rtlCol="0" anchor="ctr"/>
          <a:lstStyle/>
          <a:p>
            <a:pPr indent="0" marL="0">
              <a:buNone/>
            </a:pPr>
            <a:r>
              <a:rPr lang="en-US" sz="750" dirty="0">
                <a:solidFill>
                  <a:srgbClr val="667E93"/>
                </a:solidFill>
                <a:latin typeface="Courier New" pitchFamily="34" charset="0"/>
                <a:ea typeface="Courier New" pitchFamily="34" charset="-122"/>
                <a:cs typeface="Courier New" pitchFamily="34" charset="-120"/>
              </a:rPr>
              <a:t>2502 · 5503 · 5710 · 5712 · 5760 · 40112</a:t>
            </a:r>
            <a:endParaRPr lang="en-US" sz="750" dirty="0"/>
          </a:p>
        </p:txBody>
      </p:sp>
      <p:sp>
        <p:nvSpPr>
          <p:cNvPr id="42" name="Text 40"/>
          <p:cNvSpPr/>
          <p:nvPr/>
        </p:nvSpPr>
        <p:spPr>
          <a:xfrm>
            <a:off x="7982712" y="3291840"/>
            <a:ext cx="1965960" cy="256032"/>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Toàn vẹn tập tin (FIM)</a:t>
            </a:r>
            <a:endParaRPr lang="en-US" sz="1000" dirty="0"/>
          </a:p>
        </p:txBody>
      </p:sp>
      <p:sp>
        <p:nvSpPr>
          <p:cNvPr id="43" name="Shape 41"/>
          <p:cNvSpPr/>
          <p:nvPr/>
        </p:nvSpPr>
        <p:spPr>
          <a:xfrm>
            <a:off x="9893808" y="3346704"/>
            <a:ext cx="822960" cy="164592"/>
          </a:xfrm>
          <a:prstGeom prst="roundRect">
            <a:avLst>
              <a:gd name="adj" fmla="val 50000"/>
            </a:avLst>
          </a:prstGeom>
          <a:solidFill>
            <a:srgbClr val="E6EEF5"/>
          </a:solidFill>
          <a:ln w="12700">
            <a:solidFill>
              <a:srgbClr val="E6EEF5"/>
            </a:solidFill>
            <a:prstDash val="solid"/>
          </a:ln>
        </p:spPr>
      </p:sp>
      <p:sp>
        <p:nvSpPr>
          <p:cNvPr id="44" name="Shape 42"/>
          <p:cNvSpPr/>
          <p:nvPr/>
        </p:nvSpPr>
        <p:spPr>
          <a:xfrm>
            <a:off x="9893808" y="3346704"/>
            <a:ext cx="189914" cy="164592"/>
          </a:xfrm>
          <a:prstGeom prst="roundRect">
            <a:avLst>
              <a:gd name="adj" fmla="val 50000"/>
            </a:avLst>
          </a:prstGeom>
          <a:solidFill>
            <a:srgbClr val="1F9E86"/>
          </a:solidFill>
          <a:ln w="12700">
            <a:solidFill>
              <a:srgbClr val="1F9E86"/>
            </a:solidFill>
            <a:prstDash val="solid"/>
          </a:ln>
        </p:spPr>
      </p:sp>
      <p:sp>
        <p:nvSpPr>
          <p:cNvPr id="45" name="Text 43"/>
          <p:cNvSpPr/>
          <p:nvPr/>
        </p:nvSpPr>
        <p:spPr>
          <a:xfrm>
            <a:off x="10771632" y="3291840"/>
            <a:ext cx="658368" cy="256032"/>
          </a:xfrm>
          <a:prstGeom prst="rect">
            <a:avLst/>
          </a:prstGeom>
          <a:noFill/>
          <a:ln/>
        </p:spPr>
        <p:txBody>
          <a:bodyPr wrap="square" lIns="0" tIns="0" rIns="0" bIns="0" rtlCol="0" anchor="ctr"/>
          <a:lstStyle/>
          <a:p>
            <a:pPr algn="r" indent="0" marL="0">
              <a:buNone/>
            </a:pPr>
            <a:r>
              <a:rPr lang="en-US" sz="900" b="1" dirty="0">
                <a:solidFill>
                  <a:srgbClr val="0E6B5A"/>
                </a:solidFill>
                <a:latin typeface="Calibri" pitchFamily="34" charset="0"/>
                <a:ea typeface="Calibri" pitchFamily="34" charset="-122"/>
                <a:cs typeface="Calibri" pitchFamily="34" charset="-120"/>
              </a:rPr>
              <a:t>3  ·  9,1%</a:t>
            </a:r>
            <a:endParaRPr lang="en-US" sz="900" dirty="0"/>
          </a:p>
        </p:txBody>
      </p:sp>
      <p:sp>
        <p:nvSpPr>
          <p:cNvPr id="46" name="Text 44"/>
          <p:cNvSpPr/>
          <p:nvPr/>
        </p:nvSpPr>
        <p:spPr>
          <a:xfrm>
            <a:off x="7982712" y="3529584"/>
            <a:ext cx="3383280" cy="237744"/>
          </a:xfrm>
          <a:prstGeom prst="rect">
            <a:avLst/>
          </a:prstGeom>
          <a:noFill/>
          <a:ln/>
        </p:spPr>
        <p:txBody>
          <a:bodyPr wrap="square" lIns="0" tIns="0" rIns="0" bIns="0" rtlCol="0" anchor="ctr"/>
          <a:lstStyle/>
          <a:p>
            <a:pPr indent="0" marL="0">
              <a:buNone/>
            </a:pPr>
            <a:r>
              <a:rPr lang="en-US" sz="750" dirty="0">
                <a:solidFill>
                  <a:srgbClr val="667E93"/>
                </a:solidFill>
                <a:latin typeface="Courier New" pitchFamily="34" charset="0"/>
                <a:ea typeface="Courier New" pitchFamily="34" charset="-122"/>
                <a:cs typeface="Courier New" pitchFamily="34" charset="-120"/>
              </a:rPr>
              <a:t>553 · 554</a:t>
            </a:r>
            <a:endParaRPr lang="en-US" sz="750" dirty="0"/>
          </a:p>
        </p:txBody>
      </p:sp>
      <p:sp>
        <p:nvSpPr>
          <p:cNvPr id="47" name="Text 45"/>
          <p:cNvSpPr/>
          <p:nvPr/>
        </p:nvSpPr>
        <p:spPr>
          <a:xfrm>
            <a:off x="7982712" y="3840480"/>
            <a:ext cx="1965960" cy="256032"/>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Tấn công web</a:t>
            </a:r>
            <a:endParaRPr lang="en-US" sz="1000" dirty="0"/>
          </a:p>
        </p:txBody>
      </p:sp>
      <p:sp>
        <p:nvSpPr>
          <p:cNvPr id="48" name="Shape 46"/>
          <p:cNvSpPr/>
          <p:nvPr/>
        </p:nvSpPr>
        <p:spPr>
          <a:xfrm>
            <a:off x="9893808" y="3895344"/>
            <a:ext cx="822960" cy="164592"/>
          </a:xfrm>
          <a:prstGeom prst="roundRect">
            <a:avLst>
              <a:gd name="adj" fmla="val 50000"/>
            </a:avLst>
          </a:prstGeom>
          <a:solidFill>
            <a:srgbClr val="E6EEF5"/>
          </a:solidFill>
          <a:ln w="12700">
            <a:solidFill>
              <a:srgbClr val="E6EEF5"/>
            </a:solidFill>
            <a:prstDash val="solid"/>
          </a:ln>
        </p:spPr>
      </p:sp>
      <p:sp>
        <p:nvSpPr>
          <p:cNvPr id="49" name="Shape 47"/>
          <p:cNvSpPr/>
          <p:nvPr/>
        </p:nvSpPr>
        <p:spPr>
          <a:xfrm>
            <a:off x="9893808" y="3895344"/>
            <a:ext cx="189914" cy="164592"/>
          </a:xfrm>
          <a:prstGeom prst="roundRect">
            <a:avLst>
              <a:gd name="adj" fmla="val 50000"/>
            </a:avLst>
          </a:prstGeom>
          <a:solidFill>
            <a:srgbClr val="1F9E86"/>
          </a:solidFill>
          <a:ln w="12700">
            <a:solidFill>
              <a:srgbClr val="1F9E86"/>
            </a:solidFill>
            <a:prstDash val="solid"/>
          </a:ln>
        </p:spPr>
      </p:sp>
      <p:sp>
        <p:nvSpPr>
          <p:cNvPr id="50" name="Text 48"/>
          <p:cNvSpPr/>
          <p:nvPr/>
        </p:nvSpPr>
        <p:spPr>
          <a:xfrm>
            <a:off x="10771632" y="3840480"/>
            <a:ext cx="658368" cy="256032"/>
          </a:xfrm>
          <a:prstGeom prst="rect">
            <a:avLst/>
          </a:prstGeom>
          <a:noFill/>
          <a:ln/>
        </p:spPr>
        <p:txBody>
          <a:bodyPr wrap="square" lIns="0" tIns="0" rIns="0" bIns="0" rtlCol="0" anchor="ctr"/>
          <a:lstStyle/>
          <a:p>
            <a:pPr algn="r" indent="0" marL="0">
              <a:buNone/>
            </a:pPr>
            <a:r>
              <a:rPr lang="en-US" sz="900" b="1" dirty="0">
                <a:solidFill>
                  <a:srgbClr val="0E6B5A"/>
                </a:solidFill>
                <a:latin typeface="Calibri" pitchFamily="34" charset="0"/>
                <a:ea typeface="Calibri" pitchFamily="34" charset="-122"/>
                <a:cs typeface="Calibri" pitchFamily="34" charset="-120"/>
              </a:rPr>
              <a:t>3  ·  9,1%</a:t>
            </a:r>
            <a:endParaRPr lang="en-US" sz="900" dirty="0"/>
          </a:p>
        </p:txBody>
      </p:sp>
      <p:sp>
        <p:nvSpPr>
          <p:cNvPr id="51" name="Text 49"/>
          <p:cNvSpPr/>
          <p:nvPr/>
        </p:nvSpPr>
        <p:spPr>
          <a:xfrm>
            <a:off x="7982712" y="4078224"/>
            <a:ext cx="3383280" cy="237744"/>
          </a:xfrm>
          <a:prstGeom prst="rect">
            <a:avLst/>
          </a:prstGeom>
          <a:noFill/>
          <a:ln/>
        </p:spPr>
        <p:txBody>
          <a:bodyPr wrap="square" lIns="0" tIns="0" rIns="0" bIns="0" rtlCol="0" anchor="ctr"/>
          <a:lstStyle/>
          <a:p>
            <a:pPr indent="0" marL="0">
              <a:buNone/>
            </a:pPr>
            <a:r>
              <a:rPr lang="en-US" sz="750" dirty="0">
                <a:solidFill>
                  <a:srgbClr val="667E93"/>
                </a:solidFill>
                <a:latin typeface="Courier New" pitchFamily="34" charset="0"/>
                <a:ea typeface="Courier New" pitchFamily="34" charset="-122"/>
                <a:cs typeface="Courier New" pitchFamily="34" charset="-120"/>
              </a:rPr>
              <a:t>31101 · 31105 · 31151</a:t>
            </a:r>
            <a:endParaRPr lang="en-US" sz="750" dirty="0"/>
          </a:p>
        </p:txBody>
      </p:sp>
      <p:sp>
        <p:nvSpPr>
          <p:cNvPr id="52" name="Text 50"/>
          <p:cNvSpPr/>
          <p:nvPr/>
        </p:nvSpPr>
        <p:spPr>
          <a:xfrm>
            <a:off x="7982712" y="4389120"/>
            <a:ext cx="1965960" cy="256032"/>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Trường hợp nhập nhằng</a:t>
            </a:r>
            <a:endParaRPr lang="en-US" sz="1000" dirty="0"/>
          </a:p>
        </p:txBody>
      </p:sp>
      <p:sp>
        <p:nvSpPr>
          <p:cNvPr id="53" name="Shape 51"/>
          <p:cNvSpPr/>
          <p:nvPr/>
        </p:nvSpPr>
        <p:spPr>
          <a:xfrm>
            <a:off x="9893808" y="4443984"/>
            <a:ext cx="822960" cy="164592"/>
          </a:xfrm>
          <a:prstGeom prst="roundRect">
            <a:avLst>
              <a:gd name="adj" fmla="val 50000"/>
            </a:avLst>
          </a:prstGeom>
          <a:solidFill>
            <a:srgbClr val="E6EEF5"/>
          </a:solidFill>
          <a:ln w="12700">
            <a:solidFill>
              <a:srgbClr val="E6EEF5"/>
            </a:solidFill>
            <a:prstDash val="solid"/>
          </a:ln>
        </p:spPr>
      </p:sp>
      <p:sp>
        <p:nvSpPr>
          <p:cNvPr id="54" name="Shape 52"/>
          <p:cNvSpPr/>
          <p:nvPr/>
        </p:nvSpPr>
        <p:spPr>
          <a:xfrm>
            <a:off x="9893808" y="4443984"/>
            <a:ext cx="126609" cy="164592"/>
          </a:xfrm>
          <a:prstGeom prst="roundRect">
            <a:avLst>
              <a:gd name="adj" fmla="val 65000"/>
            </a:avLst>
          </a:prstGeom>
          <a:solidFill>
            <a:srgbClr val="1F9E86"/>
          </a:solidFill>
          <a:ln w="12700">
            <a:solidFill>
              <a:srgbClr val="1F9E86"/>
            </a:solidFill>
            <a:prstDash val="solid"/>
          </a:ln>
        </p:spPr>
      </p:sp>
      <p:sp>
        <p:nvSpPr>
          <p:cNvPr id="55" name="Text 53"/>
          <p:cNvSpPr/>
          <p:nvPr/>
        </p:nvSpPr>
        <p:spPr>
          <a:xfrm>
            <a:off x="10771632" y="4389120"/>
            <a:ext cx="658368" cy="256032"/>
          </a:xfrm>
          <a:prstGeom prst="rect">
            <a:avLst/>
          </a:prstGeom>
          <a:noFill/>
          <a:ln/>
        </p:spPr>
        <p:txBody>
          <a:bodyPr wrap="square" lIns="0" tIns="0" rIns="0" bIns="0" rtlCol="0" anchor="ctr"/>
          <a:lstStyle/>
          <a:p>
            <a:pPr algn="r" indent="0" marL="0">
              <a:buNone/>
            </a:pPr>
            <a:r>
              <a:rPr lang="en-US" sz="900" b="1" dirty="0">
                <a:solidFill>
                  <a:srgbClr val="0E6B5A"/>
                </a:solidFill>
                <a:latin typeface="Calibri" pitchFamily="34" charset="0"/>
                <a:ea typeface="Calibri" pitchFamily="34" charset="-122"/>
                <a:cs typeface="Calibri" pitchFamily="34" charset="-120"/>
              </a:rPr>
              <a:t>2  ·  6,1%</a:t>
            </a:r>
            <a:endParaRPr lang="en-US" sz="900" dirty="0"/>
          </a:p>
        </p:txBody>
      </p:sp>
      <p:sp>
        <p:nvSpPr>
          <p:cNvPr id="56" name="Text 54"/>
          <p:cNvSpPr/>
          <p:nvPr/>
        </p:nvSpPr>
        <p:spPr>
          <a:xfrm>
            <a:off x="7982712" y="4626864"/>
            <a:ext cx="3383280" cy="237744"/>
          </a:xfrm>
          <a:prstGeom prst="rect">
            <a:avLst/>
          </a:prstGeom>
          <a:noFill/>
          <a:ln/>
        </p:spPr>
        <p:txBody>
          <a:bodyPr wrap="square" lIns="0" tIns="0" rIns="0" bIns="0" rtlCol="0" anchor="ctr"/>
          <a:lstStyle/>
          <a:p>
            <a:pPr indent="0" marL="0">
              <a:buNone/>
            </a:pPr>
            <a:r>
              <a:rPr lang="en-US" sz="750" dirty="0">
                <a:solidFill>
                  <a:srgbClr val="667E93"/>
                </a:solidFill>
                <a:latin typeface="Courier New" pitchFamily="34" charset="0"/>
                <a:ea typeface="Courier New" pitchFamily="34" charset="-122"/>
                <a:cs typeface="Courier New" pitchFamily="34" charset="-120"/>
              </a:rPr>
              <a:t>506 · 510</a:t>
            </a:r>
            <a:endParaRPr lang="en-US" sz="750" dirty="0"/>
          </a:p>
        </p:txBody>
      </p:sp>
      <p:sp>
        <p:nvSpPr>
          <p:cNvPr id="57" name="Shape 55"/>
          <p:cNvSpPr/>
          <p:nvPr/>
        </p:nvSpPr>
        <p:spPr>
          <a:xfrm>
            <a:off x="548640" y="5175504"/>
            <a:ext cx="11064240" cy="969264"/>
          </a:xfrm>
          <a:prstGeom prst="roundRect">
            <a:avLst>
              <a:gd name="adj" fmla="val 7547"/>
            </a:avLst>
          </a:prstGeom>
          <a:solidFill>
            <a:srgbClr val="FBF1DC"/>
          </a:solidFill>
          <a:ln w="9525">
            <a:solidFill>
              <a:srgbClr val="EBD9AE"/>
            </a:solidFill>
            <a:prstDash val="solid"/>
          </a:ln>
        </p:spPr>
      </p:sp>
      <p:sp>
        <p:nvSpPr>
          <p:cNvPr id="58" name="Text 56"/>
          <p:cNvSpPr/>
          <p:nvPr/>
        </p:nvSpPr>
        <p:spPr>
          <a:xfrm>
            <a:off x="804672" y="5175504"/>
            <a:ext cx="10552176" cy="969264"/>
          </a:xfrm>
          <a:prstGeom prst="rect">
            <a:avLst/>
          </a:prstGeom>
          <a:noFill/>
          <a:ln/>
        </p:spPr>
        <p:txBody>
          <a:bodyPr wrap="square" lIns="0" tIns="0" rIns="0" bIns="0" rtlCol="0" anchor="ctr"/>
          <a:lstStyle/>
          <a:p>
            <a:pPr algn="l" indent="0" marL="0">
              <a:buNone/>
            </a:pPr>
            <a:r>
              <a:rPr lang="en-US" sz="1100" b="1" dirty="0">
                <a:solidFill>
                  <a:srgbClr val="B57A16"/>
                </a:solidFill>
                <a:latin typeface="Calibri" pitchFamily="34" charset="0"/>
                <a:ea typeface="Calibri" pitchFamily="34" charset="-122"/>
                <a:cs typeface="Calibri" pitchFamily="34" charset="-120"/>
              </a:rPr>
              <a:t>Nhãn chuẩn được gán dựa trên nội dung nhật ký gốc và ngữ cảnh kịch bản, cố ý KHÔNG suy ra từ giá trị rule.level — nếu suy ra, phép đo sẽ trở nên vô nghĩa.</a:t>
            </a:r>
            <a:endParaRPr lang="en-US" sz="1100" dirty="0"/>
          </a:p>
          <a:p>
            <a:pPr algn="l" indent="0" marL="0">
              <a:buNone/>
            </a:pPr>
            <a:r>
              <a:rPr lang="en-US" sz="1100" b="1" dirty="0">
                <a:solidFill>
                  <a:srgbClr val="B57A16"/>
                </a:solidFill>
                <a:latin typeface="Calibri" pitchFamily="34" charset="0"/>
                <a:ea typeface="Calibri" pitchFamily="34" charset="-122"/>
                <a:cs typeface="Calibri" pitchFamily="34" charset="-120"/>
              </a:rPr>
              <a:t>Nhãn hiện ở trạng thái bản nháp, một người rà soát; chưa có người thứ hai độc lập phân xử.</a:t>
            </a:r>
            <a:endParaRPr lang="en-US" sz="1100" dirty="0"/>
          </a:p>
        </p:txBody>
      </p:sp>
      <p:sp>
        <p:nvSpPr>
          <p:cNvPr id="59" name="Text 5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54990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54990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SỐ LIỆU</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Truy xuất tăng cường cải thiện rõ ở nhóm nghiêm trọng; khác biệt giữa hai mô hình lớn hơn nhiều</a:t>
            </a:r>
            <a:endParaRPr lang="en-US" sz="2600" dirty="0"/>
          </a:p>
        </p:txBody>
      </p:sp>
      <p:sp>
        <p:nvSpPr>
          <p:cNvPr id="5" name="Shape 3"/>
          <p:cNvSpPr/>
          <p:nvPr/>
        </p:nvSpPr>
        <p:spPr>
          <a:xfrm>
            <a:off x="548640" y="1737360"/>
            <a:ext cx="2743200" cy="1170432"/>
          </a:xfrm>
          <a:prstGeom prst="roundRect">
            <a:avLst>
              <a:gd name="adj" fmla="val 7031"/>
            </a:avLst>
          </a:prstGeom>
          <a:solidFill>
            <a:srgbClr val="DCF0EB"/>
          </a:solidFill>
          <a:ln w="9525">
            <a:solidFill>
              <a:srgbClr val="BCE0D7"/>
            </a:solidFill>
            <a:prstDash val="solid"/>
          </a:ln>
        </p:spPr>
      </p:sp>
      <p:sp>
        <p:nvSpPr>
          <p:cNvPr id="6" name="Text 4"/>
          <p:cNvSpPr/>
          <p:nvPr/>
        </p:nvSpPr>
        <p:spPr>
          <a:xfrm>
            <a:off x="768096" y="1828800"/>
            <a:ext cx="2286000" cy="237744"/>
          </a:xfrm>
          <a:prstGeom prst="rect">
            <a:avLst/>
          </a:prstGeom>
          <a:noFill/>
          <a:ln/>
        </p:spPr>
        <p:txBody>
          <a:bodyPr wrap="square" lIns="0" tIns="0" rIns="0" bIns="0" rtlCol="0" anchor="ctr"/>
          <a:lstStyle/>
          <a:p>
            <a:pPr indent="0" marL="0">
              <a:buNone/>
            </a:pPr>
            <a:r>
              <a:rPr lang="en-US" sz="850" b="1" spc="100" kern="0" dirty="0">
                <a:solidFill>
                  <a:srgbClr val="0E6B5A"/>
                </a:solidFill>
                <a:latin typeface="Calibri" pitchFamily="34" charset="0"/>
                <a:ea typeface="Calibri" pitchFamily="34" charset="-122"/>
                <a:cs typeface="Calibri" pitchFamily="34" charset="-120"/>
              </a:rPr>
              <a:t>A — CÓ RAG</a:t>
            </a:r>
            <a:endParaRPr lang="en-US" sz="850" dirty="0"/>
          </a:p>
        </p:txBody>
      </p:sp>
      <p:sp>
        <p:nvSpPr>
          <p:cNvPr id="7" name="Text 5"/>
          <p:cNvSpPr/>
          <p:nvPr/>
        </p:nvSpPr>
        <p:spPr>
          <a:xfrm>
            <a:off x="768096" y="2066544"/>
            <a:ext cx="2286000" cy="512064"/>
          </a:xfrm>
          <a:prstGeom prst="rect">
            <a:avLst/>
          </a:prstGeom>
          <a:noFill/>
          <a:ln/>
        </p:spPr>
        <p:txBody>
          <a:bodyPr wrap="square" lIns="0" tIns="0" rIns="0" bIns="0" rtlCol="0" anchor="ctr"/>
          <a:lstStyle/>
          <a:p>
            <a:pPr indent="0" marL="0">
              <a:buNone/>
            </a:pPr>
            <a:r>
              <a:rPr lang="en-US" sz="3000" b="1" dirty="0">
                <a:solidFill>
                  <a:srgbClr val="0E6B5A"/>
                </a:solidFill>
                <a:latin typeface="Calibri" pitchFamily="34" charset="0"/>
                <a:ea typeface="Calibri" pitchFamily="34" charset="-122"/>
                <a:cs typeface="Calibri" pitchFamily="34" charset="-120"/>
              </a:rPr>
              <a:t>66,7</a:t>
            </a:r>
            <a:pPr indent="0" marL="0">
              <a:buNone/>
            </a:pPr>
            <a:r>
              <a:rPr lang="en-US" sz="1500" b="1" dirty="0">
                <a:solidFill>
                  <a:srgbClr val="0E6B5A"/>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768096" y="2578608"/>
            <a:ext cx="2286000" cy="256032"/>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22/33 case</a:t>
            </a:r>
            <a:endParaRPr lang="en-US" sz="950" dirty="0"/>
          </a:p>
        </p:txBody>
      </p:sp>
      <p:sp>
        <p:nvSpPr>
          <p:cNvPr id="9" name="Shape 7"/>
          <p:cNvSpPr/>
          <p:nvPr/>
        </p:nvSpPr>
        <p:spPr>
          <a:xfrm>
            <a:off x="3474720" y="1737360"/>
            <a:ext cx="2743200" cy="1170432"/>
          </a:xfrm>
          <a:prstGeom prst="roundRect">
            <a:avLst>
              <a:gd name="adj" fmla="val 7031"/>
            </a:avLst>
          </a:prstGeom>
          <a:solidFill>
            <a:srgbClr val="E1EDF6"/>
          </a:solidFill>
          <a:ln w="9525">
            <a:solidFill>
              <a:srgbClr val="BFD8EA"/>
            </a:solidFill>
            <a:prstDash val="solid"/>
          </a:ln>
        </p:spPr>
      </p:sp>
      <p:sp>
        <p:nvSpPr>
          <p:cNvPr id="10" name="Text 8"/>
          <p:cNvSpPr/>
          <p:nvPr/>
        </p:nvSpPr>
        <p:spPr>
          <a:xfrm>
            <a:off x="3694176" y="1828800"/>
            <a:ext cx="2286000" cy="237744"/>
          </a:xfrm>
          <a:prstGeom prst="rect">
            <a:avLst/>
          </a:prstGeom>
          <a:noFill/>
          <a:ln/>
        </p:spPr>
        <p:txBody>
          <a:bodyPr wrap="square" lIns="0" tIns="0" rIns="0" bIns="0" rtlCol="0" anchor="ctr"/>
          <a:lstStyle/>
          <a:p>
            <a:pPr indent="0" marL="0">
              <a:buNone/>
            </a:pPr>
            <a:r>
              <a:rPr lang="en-US" sz="850" b="1" spc="100" kern="0" dirty="0">
                <a:solidFill>
                  <a:srgbClr val="2C6E9B"/>
                </a:solidFill>
                <a:latin typeface="Calibri" pitchFamily="34" charset="0"/>
                <a:ea typeface="Calibri" pitchFamily="34" charset="-122"/>
                <a:cs typeface="Calibri" pitchFamily="34" charset="-120"/>
              </a:rPr>
              <a:t>B — KHÔNG RAG</a:t>
            </a:r>
            <a:endParaRPr lang="en-US" sz="850" dirty="0"/>
          </a:p>
        </p:txBody>
      </p:sp>
      <p:sp>
        <p:nvSpPr>
          <p:cNvPr id="11" name="Text 9"/>
          <p:cNvSpPr/>
          <p:nvPr/>
        </p:nvSpPr>
        <p:spPr>
          <a:xfrm>
            <a:off x="3694176" y="2066544"/>
            <a:ext cx="2286000" cy="512064"/>
          </a:xfrm>
          <a:prstGeom prst="rect">
            <a:avLst/>
          </a:prstGeom>
          <a:noFill/>
          <a:ln/>
        </p:spPr>
        <p:txBody>
          <a:bodyPr wrap="square" lIns="0" tIns="0" rIns="0" bIns="0" rtlCol="0" anchor="ctr"/>
          <a:lstStyle/>
          <a:p>
            <a:pPr indent="0" marL="0">
              <a:buNone/>
            </a:pPr>
            <a:r>
              <a:rPr lang="en-US" sz="3000" b="1" dirty="0">
                <a:solidFill>
                  <a:srgbClr val="2C6E9B"/>
                </a:solidFill>
                <a:latin typeface="Calibri" pitchFamily="34" charset="0"/>
                <a:ea typeface="Calibri" pitchFamily="34" charset="-122"/>
                <a:cs typeface="Calibri" pitchFamily="34" charset="-120"/>
              </a:rPr>
              <a:t>57,6</a:t>
            </a:r>
            <a:pPr indent="0" marL="0">
              <a:buNone/>
            </a:pPr>
            <a:r>
              <a:rPr lang="en-US" sz="1500" b="1" dirty="0">
                <a:solidFill>
                  <a:srgbClr val="2C6E9B"/>
                </a:solidFill>
                <a:latin typeface="Calibri" pitchFamily="34" charset="0"/>
                <a:ea typeface="Calibri" pitchFamily="34" charset="-122"/>
                <a:cs typeface="Calibri" pitchFamily="34" charset="-120"/>
              </a:rPr>
              <a:t>%</a:t>
            </a:r>
            <a:endParaRPr lang="en-US" sz="3000" dirty="0"/>
          </a:p>
        </p:txBody>
      </p:sp>
      <p:sp>
        <p:nvSpPr>
          <p:cNvPr id="12" name="Text 10"/>
          <p:cNvSpPr/>
          <p:nvPr/>
        </p:nvSpPr>
        <p:spPr>
          <a:xfrm>
            <a:off x="3694176" y="2578608"/>
            <a:ext cx="2286000" cy="256032"/>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19/33 case</a:t>
            </a:r>
            <a:endParaRPr lang="en-US" sz="950" dirty="0"/>
          </a:p>
        </p:txBody>
      </p:sp>
      <p:sp>
        <p:nvSpPr>
          <p:cNvPr id="13" name="Shape 11"/>
          <p:cNvSpPr/>
          <p:nvPr/>
        </p:nvSpPr>
        <p:spPr>
          <a:xfrm>
            <a:off x="6400800" y="1737360"/>
            <a:ext cx="2743200" cy="1170432"/>
          </a:xfrm>
          <a:prstGeom prst="roundRect">
            <a:avLst>
              <a:gd name="adj" fmla="val 7031"/>
            </a:avLst>
          </a:prstGeom>
          <a:solidFill>
            <a:srgbClr val="FAE3DF"/>
          </a:solidFill>
          <a:ln w="9525">
            <a:solidFill>
              <a:srgbClr val="EFC8C1"/>
            </a:solidFill>
            <a:prstDash val="solid"/>
          </a:ln>
        </p:spPr>
      </p:sp>
      <p:sp>
        <p:nvSpPr>
          <p:cNvPr id="14" name="Text 12"/>
          <p:cNvSpPr/>
          <p:nvPr/>
        </p:nvSpPr>
        <p:spPr>
          <a:xfrm>
            <a:off x="6620256" y="1828800"/>
            <a:ext cx="2286000" cy="237744"/>
          </a:xfrm>
          <a:prstGeom prst="rect">
            <a:avLst/>
          </a:prstGeom>
          <a:noFill/>
          <a:ln/>
        </p:spPr>
        <p:txBody>
          <a:bodyPr wrap="square" lIns="0" tIns="0" rIns="0" bIns="0" rtlCol="0" anchor="ctr"/>
          <a:lstStyle/>
          <a:p>
            <a:pPr indent="0" marL="0">
              <a:buNone/>
            </a:pPr>
            <a:r>
              <a:rPr lang="en-US" sz="850" b="1" spc="100" kern="0" dirty="0">
                <a:solidFill>
                  <a:srgbClr val="BE4B3B"/>
                </a:solidFill>
                <a:latin typeface="Calibri" pitchFamily="34" charset="0"/>
                <a:ea typeface="Calibri" pitchFamily="34" charset="-122"/>
                <a:cs typeface="Calibri" pitchFamily="34" charset="-120"/>
              </a:rPr>
              <a:t>C — NOTMYTHOS</a:t>
            </a:r>
            <a:endParaRPr lang="en-US" sz="850" dirty="0"/>
          </a:p>
        </p:txBody>
      </p:sp>
      <p:sp>
        <p:nvSpPr>
          <p:cNvPr id="15" name="Text 13"/>
          <p:cNvSpPr/>
          <p:nvPr/>
        </p:nvSpPr>
        <p:spPr>
          <a:xfrm>
            <a:off x="6620256" y="2066544"/>
            <a:ext cx="2286000" cy="512064"/>
          </a:xfrm>
          <a:prstGeom prst="rect">
            <a:avLst/>
          </a:prstGeom>
          <a:noFill/>
          <a:ln/>
        </p:spPr>
        <p:txBody>
          <a:bodyPr wrap="square" lIns="0" tIns="0" rIns="0" bIns="0" rtlCol="0" anchor="ctr"/>
          <a:lstStyle/>
          <a:p>
            <a:pPr indent="0" marL="0">
              <a:buNone/>
            </a:pPr>
            <a:r>
              <a:rPr lang="en-US" sz="3000" b="1" dirty="0">
                <a:solidFill>
                  <a:srgbClr val="BE4B3B"/>
                </a:solidFill>
                <a:latin typeface="Calibri" pitchFamily="34" charset="0"/>
                <a:ea typeface="Calibri" pitchFamily="34" charset="-122"/>
                <a:cs typeface="Calibri" pitchFamily="34" charset="-120"/>
              </a:rPr>
              <a:t>33,3</a:t>
            </a:r>
            <a:pPr indent="0" marL="0">
              <a:buNone/>
            </a:pPr>
            <a:r>
              <a:rPr lang="en-US" sz="1500" b="1" dirty="0">
                <a:solidFill>
                  <a:srgbClr val="BE4B3B"/>
                </a:solidFill>
                <a:latin typeface="Calibri" pitchFamily="34" charset="0"/>
                <a:ea typeface="Calibri" pitchFamily="34" charset="-122"/>
                <a:cs typeface="Calibri" pitchFamily="34" charset="-120"/>
              </a:rPr>
              <a:t>%</a:t>
            </a:r>
            <a:endParaRPr lang="en-US" sz="3000" dirty="0"/>
          </a:p>
        </p:txBody>
      </p:sp>
      <p:sp>
        <p:nvSpPr>
          <p:cNvPr id="16" name="Text 14"/>
          <p:cNvSpPr/>
          <p:nvPr/>
        </p:nvSpPr>
        <p:spPr>
          <a:xfrm>
            <a:off x="6620256" y="2578608"/>
            <a:ext cx="2286000" cy="256032"/>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11/33 case</a:t>
            </a:r>
            <a:endParaRPr lang="en-US" sz="950" dirty="0"/>
          </a:p>
        </p:txBody>
      </p:sp>
      <p:sp>
        <p:nvSpPr>
          <p:cNvPr id="17" name="Shape 15"/>
          <p:cNvSpPr/>
          <p:nvPr/>
        </p:nvSpPr>
        <p:spPr>
          <a:xfrm>
            <a:off x="9326880" y="1737360"/>
            <a:ext cx="2286000" cy="1170432"/>
          </a:xfrm>
          <a:prstGeom prst="roundRect">
            <a:avLst>
              <a:gd name="adj" fmla="val 7031"/>
            </a:avLst>
          </a:prstGeom>
          <a:solidFill>
            <a:srgbClr val="0D1B2A"/>
          </a:solidFill>
          <a:ln w="9525">
            <a:solidFill>
              <a:srgbClr val="0D1B2A"/>
            </a:solidFill>
            <a:prstDash val="solid"/>
          </a:ln>
        </p:spPr>
      </p:sp>
      <p:sp>
        <p:nvSpPr>
          <p:cNvPr id="18" name="Text 16"/>
          <p:cNvSpPr/>
          <p:nvPr/>
        </p:nvSpPr>
        <p:spPr>
          <a:xfrm>
            <a:off x="9546336" y="1828800"/>
            <a:ext cx="1920240" cy="237744"/>
          </a:xfrm>
          <a:prstGeom prst="rect">
            <a:avLst/>
          </a:prstGeom>
          <a:noFill/>
          <a:ln/>
        </p:spPr>
        <p:txBody>
          <a:bodyPr wrap="square" lIns="0" tIns="0" rIns="0" bIns="0" rtlCol="0" anchor="ctr"/>
          <a:lstStyle/>
          <a:p>
            <a:pPr indent="0" marL="0">
              <a:buNone/>
            </a:pPr>
            <a:r>
              <a:rPr lang="en-US" sz="800" b="1" spc="80" kern="0" dirty="0">
                <a:solidFill>
                  <a:srgbClr val="7794AE"/>
                </a:solidFill>
                <a:latin typeface="Calibri" pitchFamily="34" charset="0"/>
                <a:ea typeface="Calibri" pitchFamily="34" charset="-122"/>
                <a:cs typeface="Calibri" pitchFamily="34" charset="-120"/>
              </a:rPr>
              <a:t>ĐƯỜNG CƠ SỞ KHÔNG LLM</a:t>
            </a:r>
            <a:endParaRPr lang="en-US" sz="800" dirty="0"/>
          </a:p>
        </p:txBody>
      </p:sp>
      <p:sp>
        <p:nvSpPr>
          <p:cNvPr id="19" name="Text 17"/>
          <p:cNvSpPr/>
          <p:nvPr/>
        </p:nvSpPr>
        <p:spPr>
          <a:xfrm>
            <a:off x="9546336" y="2066544"/>
            <a:ext cx="1920240" cy="512064"/>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45,5</a:t>
            </a:r>
            <a:pPr indent="0" marL="0">
              <a:buNone/>
            </a:pPr>
            <a:r>
              <a:rPr lang="en-US" sz="1500" b="1" dirty="0">
                <a:solidFill>
                  <a:srgbClr val="FFFFFF"/>
                </a:solidFill>
                <a:latin typeface="Calibri" pitchFamily="34" charset="0"/>
                <a:ea typeface="Calibri" pitchFamily="34" charset="-122"/>
                <a:cs typeface="Calibri" pitchFamily="34" charset="-120"/>
              </a:rPr>
              <a:t>–48,5%</a:t>
            </a:r>
            <a:endParaRPr lang="en-US" sz="2400" dirty="0"/>
          </a:p>
        </p:txBody>
      </p:sp>
      <p:sp>
        <p:nvSpPr>
          <p:cNvPr id="20" name="Text 18"/>
          <p:cNvSpPr/>
          <p:nvPr/>
        </p:nvSpPr>
        <p:spPr>
          <a:xfrm>
            <a:off x="9546336" y="2578608"/>
            <a:ext cx="1920240" cy="256032"/>
          </a:xfrm>
          <a:prstGeom prst="rect">
            <a:avLst/>
          </a:prstGeom>
          <a:noFill/>
          <a:ln/>
        </p:spPr>
        <p:txBody>
          <a:bodyPr wrap="square" lIns="0" tIns="0" rIns="0" bIns="0" rtlCol="0" anchor="ctr"/>
          <a:lstStyle/>
          <a:p>
            <a:pPr indent="0" marL="0">
              <a:buNone/>
            </a:pPr>
            <a:r>
              <a:rPr lang="en-US" sz="900" dirty="0">
                <a:solidFill>
                  <a:srgbClr val="A8C6DD"/>
                </a:solidFill>
                <a:latin typeface="Calibri" pitchFamily="34" charset="0"/>
                <a:ea typeface="Calibri" pitchFamily="34" charset="-122"/>
                <a:cs typeface="Calibri" pitchFamily="34" charset="-120"/>
              </a:rPr>
              <a:t>quy tắc theo rule.level</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072384"/>
          <a:ext cx="11064240" cy="914400"/>
        </p:xfrm>
        <a:graphic>
          <a:graphicData uri="http://schemas.openxmlformats.org/drawingml/2006/table">
            <a:tbl>
              <a:tblPr/>
              <a:tblGrid>
                <a:gridCol w="3291840"/>
                <a:gridCol w="2286000"/>
                <a:gridCol w="1828800"/>
                <a:gridCol w="1828800"/>
                <a:gridCol w="1828800"/>
              </a:tblGrid>
              <a:tr h="4389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Cấu hình</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Khớp mức chuẩn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Đánh giá cao hơn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Đánh giá thấp hơn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Từ chối phân loại</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38912">
                <a:tc>
                  <a:txBody>
                    <a:bodyPr/>
                    <a:lstStyle/>
                    <a:p>
                      <a:pPr indent="0" marL="0">
                        <a:buNone/>
                      </a:pPr>
                      <a:r>
                        <a:rPr lang="en-US" sz="1050" b="1" dirty="0">
                          <a:solidFill>
                            <a:srgbClr val="22303F"/>
                          </a:solidFill>
                          <a:latin typeface="Calibri" pitchFamily="34" charset="0"/>
                          <a:ea typeface="Calibri" pitchFamily="34" charset="-122"/>
                          <a:cs typeface="Calibri" pitchFamily="34" charset="-120"/>
                        </a:rPr>
                        <a:t>A — qwen2.5:7b, có RAG</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b="1" dirty="0">
                          <a:solidFill>
                            <a:srgbClr val="0E6B5A"/>
                          </a:solidFill>
                          <a:latin typeface="Calibri" pitchFamily="34" charset="0"/>
                          <a:ea typeface="Calibri" pitchFamily="34" charset="-122"/>
                          <a:cs typeface="Calibri" pitchFamily="34" charset="-120"/>
                        </a:rPr>
                        <a:t>22/33  —  66,7%</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2  (6,1%)</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B57A16"/>
                          </a:solidFill>
                          <a:latin typeface="Calibri" pitchFamily="34" charset="0"/>
                          <a:ea typeface="Calibri" pitchFamily="34" charset="-122"/>
                          <a:cs typeface="Calibri" pitchFamily="34" charset="-120"/>
                        </a:rPr>
                        <a:t>8  (24,2%)</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1  (3,0%)</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2303F"/>
                          </a:solidFill>
                          <a:latin typeface="Calibri" pitchFamily="34" charset="0"/>
                          <a:ea typeface="Calibri" pitchFamily="34" charset="-122"/>
                          <a:cs typeface="Calibri" pitchFamily="34" charset="-120"/>
                        </a:rPr>
                        <a:t>B — qwen2.5:7b, không RAG</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19/33  —  57,6%</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4  (12,1%)</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B57A16"/>
                          </a:solidFill>
                          <a:latin typeface="Calibri" pitchFamily="34" charset="0"/>
                          <a:ea typeface="Calibri" pitchFamily="34" charset="-122"/>
                          <a:cs typeface="Calibri" pitchFamily="34" charset="-120"/>
                        </a:rPr>
                        <a:t>10  (30,3%)</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38912">
                <a:tc>
                  <a:txBody>
                    <a:bodyPr/>
                    <a:lstStyle/>
                    <a:p>
                      <a:pPr indent="0" marL="0">
                        <a:buNone/>
                      </a:pPr>
                      <a:r>
                        <a:rPr lang="en-US" sz="1050" b="1" dirty="0">
                          <a:solidFill>
                            <a:srgbClr val="22303F"/>
                          </a:solidFill>
                          <a:latin typeface="Calibri" pitchFamily="34" charset="0"/>
                          <a:ea typeface="Calibri" pitchFamily="34" charset="-122"/>
                          <a:cs typeface="Calibri" pitchFamily="34" charset="-120"/>
                        </a:rPr>
                        <a:t>C — notmythos-8b, có RAG</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BE4B3B"/>
                          </a:solidFill>
                          <a:latin typeface="Calibri" pitchFamily="34" charset="0"/>
                          <a:ea typeface="Calibri" pitchFamily="34" charset="-122"/>
                          <a:cs typeface="Calibri" pitchFamily="34" charset="-120"/>
                        </a:rPr>
                        <a:t>11/33  —  33,3%</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7  (21,2%)</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BE4B3B"/>
                          </a:solidFill>
                          <a:latin typeface="Calibri" pitchFamily="34" charset="0"/>
                          <a:ea typeface="Calibri" pitchFamily="34" charset="-122"/>
                          <a:cs typeface="Calibri" pitchFamily="34" charset="-120"/>
                        </a:rPr>
                        <a:t>15  (45,5%)</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1050" i="1" dirty="0">
                          <a:solidFill>
                            <a:srgbClr val="22303F"/>
                          </a:solidFill>
                          <a:latin typeface="Calibri" pitchFamily="34" charset="0"/>
                          <a:ea typeface="Calibri" pitchFamily="34" charset="-122"/>
                          <a:cs typeface="Calibri" pitchFamily="34" charset="-120"/>
                        </a:rPr>
                        <a:t>Đường cơ sở không dùng LLM</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i="1" dirty="0">
                          <a:solidFill>
                            <a:srgbClr val="22303F"/>
                          </a:solidFill>
                          <a:latin typeface="Calibri" pitchFamily="34" charset="0"/>
                          <a:ea typeface="Calibri" pitchFamily="34" charset="-122"/>
                          <a:cs typeface="Calibri" pitchFamily="34" charset="-120"/>
                        </a:rPr>
                        <a:t>15–16/33  —  45,5–48,5%</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50" dirty="0">
                          <a:solidFill>
                            <a:srgbClr val="22303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22" name="Shape 19"/>
          <p:cNvSpPr/>
          <p:nvPr/>
        </p:nvSpPr>
        <p:spPr>
          <a:xfrm>
            <a:off x="548640" y="5394960"/>
            <a:ext cx="5440680" cy="914400"/>
          </a:xfrm>
          <a:prstGeom prst="roundRect">
            <a:avLst>
              <a:gd name="adj" fmla="val 9000"/>
            </a:avLst>
          </a:prstGeom>
          <a:solidFill>
            <a:srgbClr val="DCF0EB"/>
          </a:solidFill>
          <a:ln w="9525">
            <a:solidFill>
              <a:srgbClr val="BCE0D7"/>
            </a:solidFill>
            <a:prstDash val="solid"/>
          </a:ln>
        </p:spPr>
      </p:sp>
      <p:sp>
        <p:nvSpPr>
          <p:cNvPr id="23" name="Text 20"/>
          <p:cNvSpPr/>
          <p:nvPr/>
        </p:nvSpPr>
        <p:spPr>
          <a:xfrm>
            <a:off x="768096" y="5394960"/>
            <a:ext cx="5029200" cy="914400"/>
          </a:xfrm>
          <a:prstGeom prst="rect">
            <a:avLst/>
          </a:prstGeom>
          <a:noFill/>
          <a:ln/>
        </p:spPr>
        <p:txBody>
          <a:bodyPr wrap="square" lIns="0" tIns="0" rIns="0" bIns="0" rtlCol="0" anchor="ctr"/>
          <a:lstStyle/>
          <a:p>
            <a:pPr indent="0" marL="0">
              <a:lnSpc>
                <a:spcPct val="104000"/>
              </a:lnSpc>
              <a:buNone/>
            </a:pPr>
            <a:r>
              <a:rPr lang="en-US" sz="1050" b="1" dirty="0">
                <a:solidFill>
                  <a:srgbClr val="0E6B5A"/>
                </a:solidFill>
                <a:latin typeface="Calibri" pitchFamily="34" charset="0"/>
                <a:ea typeface="Calibri" pitchFamily="34" charset="-122"/>
                <a:cs typeface="Calibri" pitchFamily="34" charset="-120"/>
              </a:rPr>
              <a:t>A so với B — ảnh hưởng của RAG:  </a:t>
            </a:r>
            <a:pPr indent="0" marL="0">
              <a:lnSpc>
                <a:spcPct val="104000"/>
              </a:lnSpc>
              <a:buNone/>
            </a:pPr>
            <a:r>
              <a:rPr lang="en-US" sz="1050" dirty="0">
                <a:solidFill>
                  <a:srgbClr val="22303F"/>
                </a:solidFill>
                <a:latin typeface="Calibri" pitchFamily="34" charset="0"/>
                <a:ea typeface="Calibri" pitchFamily="34" charset="-122"/>
                <a:cs typeface="Calibri" pitchFamily="34" charset="-120"/>
              </a:rPr>
              <a:t>+9,1 điểm phần trăm; riêng nhóm nghiêm trọng nhận đúng tăng từ 1/7 lên 3/7. Kiểm định ghép cặp cho </a:t>
            </a:r>
            <a:pPr indent="0" marL="0">
              <a:lnSpc>
                <a:spcPct val="104000"/>
              </a:lnSpc>
              <a:buNone/>
            </a:pPr>
            <a:r>
              <a:rPr lang="en-US" sz="1050" b="1" dirty="0">
                <a:solidFill>
                  <a:srgbClr val="B57A16"/>
                </a:solidFill>
                <a:latin typeface="Calibri" pitchFamily="34" charset="0"/>
                <a:ea typeface="Calibri" pitchFamily="34" charset="-122"/>
                <a:cs typeface="Calibri" pitchFamily="34" charset="-120"/>
              </a:rPr>
              <a:t>p = 0,58</a:t>
            </a:r>
            <a:pPr indent="0" marL="0">
              <a:lnSpc>
                <a:spcPct val="104000"/>
              </a:lnSpc>
              <a:buNone/>
            </a:pPr>
            <a:r>
              <a:rPr lang="en-US" sz="1050" dirty="0">
                <a:solidFill>
                  <a:srgbClr val="22303F"/>
                </a:solidFill>
                <a:latin typeface="Calibri" pitchFamily="34" charset="0"/>
                <a:ea typeface="Calibri" pitchFamily="34" charset="-122"/>
                <a:cs typeface="Calibri" pitchFamily="34" charset="-120"/>
              </a:rPr>
              <a:t> — xu hướng quan sát được, chưa phải bằng chứng.</a:t>
            </a:r>
            <a:endParaRPr lang="en-US" sz="1050" dirty="0"/>
          </a:p>
        </p:txBody>
      </p:sp>
      <p:sp>
        <p:nvSpPr>
          <p:cNvPr id="24" name="Shape 21"/>
          <p:cNvSpPr/>
          <p:nvPr/>
        </p:nvSpPr>
        <p:spPr>
          <a:xfrm>
            <a:off x="6172200" y="5394960"/>
            <a:ext cx="5440680" cy="914400"/>
          </a:xfrm>
          <a:prstGeom prst="roundRect">
            <a:avLst>
              <a:gd name="adj" fmla="val 9000"/>
            </a:avLst>
          </a:prstGeom>
          <a:solidFill>
            <a:srgbClr val="FAE3DF"/>
          </a:solidFill>
          <a:ln w="9525">
            <a:solidFill>
              <a:srgbClr val="EFC8C1"/>
            </a:solidFill>
            <a:prstDash val="solid"/>
          </a:ln>
        </p:spPr>
      </p:sp>
      <p:sp>
        <p:nvSpPr>
          <p:cNvPr id="25" name="Text 22"/>
          <p:cNvSpPr/>
          <p:nvPr/>
        </p:nvSpPr>
        <p:spPr>
          <a:xfrm>
            <a:off x="6391656" y="5394960"/>
            <a:ext cx="5029200" cy="914400"/>
          </a:xfrm>
          <a:prstGeom prst="rect">
            <a:avLst/>
          </a:prstGeom>
          <a:noFill/>
          <a:ln/>
        </p:spPr>
        <p:txBody>
          <a:bodyPr wrap="square" lIns="0" tIns="0" rIns="0" bIns="0" rtlCol="0" anchor="ctr"/>
          <a:lstStyle/>
          <a:p>
            <a:pPr indent="0" marL="0">
              <a:lnSpc>
                <a:spcPct val="104000"/>
              </a:lnSpc>
              <a:buNone/>
            </a:pPr>
            <a:r>
              <a:rPr lang="en-US" sz="1050" b="1" dirty="0">
                <a:solidFill>
                  <a:srgbClr val="BE4B3B"/>
                </a:solidFill>
                <a:latin typeface="Calibri" pitchFamily="34" charset="0"/>
                <a:ea typeface="Calibri" pitchFamily="34" charset="-122"/>
                <a:cs typeface="Calibri" pitchFamily="34" charset="-120"/>
              </a:rPr>
              <a:t>A so với C — khác biệt mô hình:  </a:t>
            </a:r>
            <a:pPr indent="0" marL="0">
              <a:lnSpc>
                <a:spcPct val="104000"/>
              </a:lnSpc>
              <a:buNone/>
            </a:pPr>
            <a:r>
              <a:rPr lang="en-US" sz="1050" dirty="0">
                <a:solidFill>
                  <a:srgbClr val="22303F"/>
                </a:solidFill>
                <a:latin typeface="Calibri" pitchFamily="34" charset="0"/>
                <a:ea typeface="Calibri" pitchFamily="34" charset="-122"/>
                <a:cs typeface="Calibri" pitchFamily="34" charset="-120"/>
              </a:rPr>
              <a:t>gấp đôi độ chính xác. Kiểm định ghép cặp cho </a:t>
            </a:r>
            <a:pPr indent="0" marL="0">
              <a:lnSpc>
                <a:spcPct val="104000"/>
              </a:lnSpc>
              <a:buNone/>
            </a:pPr>
            <a:r>
              <a:rPr lang="en-US" sz="1050" b="1" dirty="0">
                <a:solidFill>
                  <a:srgbClr val="0E6B5A"/>
                </a:solidFill>
                <a:latin typeface="Calibri" pitchFamily="34" charset="0"/>
                <a:ea typeface="Calibri" pitchFamily="34" charset="-122"/>
                <a:cs typeface="Calibri" pitchFamily="34" charset="-120"/>
              </a:rPr>
              <a:t>p = 0,0074</a:t>
            </a:r>
            <a:pPr indent="0" marL="0">
              <a:lnSpc>
                <a:spcPct val="104000"/>
              </a:lnSpc>
              <a:buNone/>
            </a:pPr>
            <a:r>
              <a:rPr lang="en-US" sz="1050" dirty="0">
                <a:solidFill>
                  <a:srgbClr val="22303F"/>
                </a:solidFill>
                <a:latin typeface="Calibri" pitchFamily="34" charset="0"/>
                <a:ea typeface="Calibri" pitchFamily="34" charset="-122"/>
                <a:cs typeface="Calibri" pitchFamily="34" charset="-120"/>
              </a:rPr>
              <a:t> — đạt ý nghĩa thống kê. Khoảng tin cậy Wilson 95% của hai cấu hình gần như không chồng lấn.</a:t>
            </a:r>
            <a:endParaRPr lang="en-US" sz="1050" dirty="0"/>
          </a:p>
        </p:txBody>
      </p:sp>
      <p:sp>
        <p:nvSpPr>
          <p:cNvPr id="26" name="Text 2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16712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16712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MA TRẬN NHẦM LẪN</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Sai lệch nghiêng hẳn về phía đánh giá thấp, tập trung ở nhóm nghiêm trọng nhất</a:t>
            </a:r>
            <a:endParaRPr lang="en-US" sz="2600" dirty="0"/>
          </a:p>
        </p:txBody>
      </p:sp>
      <p:sp>
        <p:nvSpPr>
          <p:cNvPr id="5" name="Shape 3"/>
          <p:cNvSpPr/>
          <p:nvPr/>
        </p:nvSpPr>
        <p:spPr>
          <a:xfrm>
            <a:off x="493776" y="1700784"/>
            <a:ext cx="7927848" cy="2999232"/>
          </a:xfrm>
          <a:prstGeom prst="roundRect">
            <a:avLst>
              <a:gd name="adj" fmla="val 1829"/>
            </a:avLst>
          </a:prstGeom>
          <a:solidFill>
            <a:srgbClr val="FFFFFF"/>
          </a:solidFill>
          <a:ln w="9525">
            <a:solidFill>
              <a:srgbClr val="D7E2EC"/>
            </a:solidFill>
            <a:prstDash val="solid"/>
          </a:ln>
        </p:spPr>
      </p:sp>
      <p:pic>
        <p:nvPicPr>
          <p:cNvPr id="6" name="Image 0" descr="fig/h41-confusion.png">    </p:cNvPr>
          <p:cNvPicPr>
            <a:picLocks noChangeAspect="1"/>
          </p:cNvPicPr>
          <p:nvPr/>
        </p:nvPicPr>
        <p:blipFill>
          <a:blip r:embed="rId1"/>
          <a:stretch>
            <a:fillRect/>
          </a:stretch>
        </p:blipFill>
        <p:spPr>
          <a:xfrm>
            <a:off x="548640" y="1755648"/>
            <a:ext cx="7818120" cy="2889504"/>
          </a:xfrm>
          <a:prstGeom prst="rect">
            <a:avLst/>
          </a:prstGeom>
        </p:spPr>
      </p:pic>
      <p:sp>
        <p:nvSpPr>
          <p:cNvPr id="7" name="Shape 4"/>
          <p:cNvSpPr/>
          <p:nvPr/>
        </p:nvSpPr>
        <p:spPr>
          <a:xfrm>
            <a:off x="8549640" y="1755648"/>
            <a:ext cx="3063240" cy="2999232"/>
          </a:xfrm>
          <a:prstGeom prst="roundRect">
            <a:avLst>
              <a:gd name="adj" fmla="val 2744"/>
            </a:avLst>
          </a:prstGeom>
          <a:solidFill>
            <a:srgbClr val="F2F6FA"/>
          </a:solidFill>
          <a:ln w="9525">
            <a:solidFill>
              <a:srgbClr val="D7E2EC"/>
            </a:solidFill>
            <a:prstDash val="solid"/>
          </a:ln>
        </p:spPr>
      </p:sp>
      <p:sp>
        <p:nvSpPr>
          <p:cNvPr id="8" name="Text 5"/>
          <p:cNvSpPr/>
          <p:nvPr/>
        </p:nvSpPr>
        <p:spPr>
          <a:xfrm>
            <a:off x="8769096" y="1865376"/>
            <a:ext cx="2560320" cy="237744"/>
          </a:xfrm>
          <a:prstGeom prst="rect">
            <a:avLst/>
          </a:prstGeom>
          <a:noFill/>
          <a:ln/>
        </p:spPr>
        <p:txBody>
          <a:bodyPr wrap="square" lIns="0" tIns="0" rIns="0" bIns="0" rtlCol="0" anchor="ctr"/>
          <a:lstStyle/>
          <a:p>
            <a:pPr indent="0" marL="0">
              <a:buNone/>
            </a:pPr>
            <a:r>
              <a:rPr lang="en-US" sz="850" b="1" spc="110" kern="0" dirty="0">
                <a:solidFill>
                  <a:srgbClr val="667E93"/>
                </a:solidFill>
                <a:latin typeface="Calibri" pitchFamily="34" charset="0"/>
                <a:ea typeface="Calibri" pitchFamily="34" charset="-122"/>
                <a:cs typeface="Calibri" pitchFamily="34" charset="-120"/>
              </a:rPr>
              <a:t>BỐN QUAN SÁT</a:t>
            </a:r>
            <a:endParaRPr lang="en-US" sz="850" dirty="0"/>
          </a:p>
        </p:txBody>
      </p:sp>
      <p:sp>
        <p:nvSpPr>
          <p:cNvPr id="9" name="Text 6"/>
          <p:cNvSpPr/>
          <p:nvPr/>
        </p:nvSpPr>
        <p:spPr>
          <a:xfrm>
            <a:off x="8769096" y="2194560"/>
            <a:ext cx="2651760" cy="219456"/>
          </a:xfrm>
          <a:prstGeom prst="rect">
            <a:avLst/>
          </a:prstGeom>
          <a:noFill/>
          <a:ln/>
        </p:spPr>
        <p:txBody>
          <a:bodyPr wrap="square" lIns="0" tIns="0" rIns="0" bIns="0" rtlCol="0" anchor="ctr"/>
          <a:lstStyle/>
          <a:p>
            <a:pPr indent="0" marL="0">
              <a:buNone/>
            </a:pPr>
            <a:r>
              <a:rPr lang="en-US" sz="900" dirty="0">
                <a:solidFill>
                  <a:srgbClr val="667E93"/>
                </a:solidFill>
                <a:latin typeface="Calibri" pitchFamily="34" charset="0"/>
                <a:ea typeface="Calibri" pitchFamily="34" charset="-122"/>
                <a:cs typeface="Calibri" pitchFamily="34" charset="-120"/>
              </a:rPr>
              <a:t>Nhóm nghiêm trọng nhận đúng</a:t>
            </a:r>
            <a:endParaRPr lang="en-US" sz="900" dirty="0"/>
          </a:p>
        </p:txBody>
      </p:sp>
      <p:sp>
        <p:nvSpPr>
          <p:cNvPr id="10" name="Text 7"/>
          <p:cNvSpPr/>
          <p:nvPr/>
        </p:nvSpPr>
        <p:spPr>
          <a:xfrm>
            <a:off x="8769096" y="2395728"/>
            <a:ext cx="2651760" cy="256032"/>
          </a:xfrm>
          <a:prstGeom prst="rect">
            <a:avLst/>
          </a:prstGeom>
          <a:noFill/>
          <a:ln/>
        </p:spPr>
        <p:txBody>
          <a:bodyPr wrap="square" lIns="0" tIns="0" rIns="0" bIns="0" rtlCol="0" anchor="ctr"/>
          <a:lstStyle/>
          <a:p>
            <a:pPr indent="0" marL="0">
              <a:buNone/>
            </a:pPr>
            <a:r>
              <a:rPr lang="en-US" sz="1300" b="1" dirty="0">
                <a:solidFill>
                  <a:srgbClr val="BE4B3B"/>
                </a:solidFill>
                <a:latin typeface="Calibri" pitchFamily="34" charset="0"/>
                <a:ea typeface="Calibri" pitchFamily="34" charset="-122"/>
                <a:cs typeface="Calibri" pitchFamily="34" charset="-120"/>
              </a:rPr>
              <a:t>3/7</a:t>
            </a:r>
            <a:endParaRPr lang="en-US" sz="1300" dirty="0"/>
          </a:p>
        </p:txBody>
      </p:sp>
      <p:sp>
        <p:nvSpPr>
          <p:cNvPr id="11" name="Text 8"/>
          <p:cNvSpPr/>
          <p:nvPr/>
        </p:nvSpPr>
        <p:spPr>
          <a:xfrm>
            <a:off x="8769096" y="2633472"/>
            <a:ext cx="2651760" cy="182880"/>
          </a:xfrm>
          <a:prstGeom prst="rect">
            <a:avLst/>
          </a:prstGeom>
          <a:noFill/>
          <a:ln/>
        </p:spPr>
        <p:txBody>
          <a:bodyPr wrap="square" lIns="0" tIns="0" rIns="0" bIns="0" rtlCol="0" anchor="ctr"/>
          <a:lstStyle/>
          <a:p>
            <a:pPr indent="0" marL="0">
              <a:buNone/>
            </a:pPr>
            <a:r>
              <a:rPr lang="en-US" sz="800" i="1" dirty="0">
                <a:solidFill>
                  <a:srgbClr val="667E93"/>
                </a:solidFill>
                <a:latin typeface="Calibri" pitchFamily="34" charset="0"/>
                <a:ea typeface="Calibri" pitchFamily="34" charset="-122"/>
                <a:cs typeface="Calibri" pitchFamily="34" charset="-120"/>
              </a:rPr>
              <a:t>không RAG chỉ 1/7</a:t>
            </a:r>
            <a:endParaRPr lang="en-US" sz="800" dirty="0"/>
          </a:p>
        </p:txBody>
      </p:sp>
      <p:sp>
        <p:nvSpPr>
          <p:cNvPr id="12" name="Text 9"/>
          <p:cNvSpPr/>
          <p:nvPr/>
        </p:nvSpPr>
        <p:spPr>
          <a:xfrm>
            <a:off x="8769096" y="2816352"/>
            <a:ext cx="2651760" cy="219456"/>
          </a:xfrm>
          <a:prstGeom prst="rect">
            <a:avLst/>
          </a:prstGeom>
          <a:noFill/>
          <a:ln/>
        </p:spPr>
        <p:txBody>
          <a:bodyPr wrap="square" lIns="0" tIns="0" rIns="0" bIns="0" rtlCol="0" anchor="ctr"/>
          <a:lstStyle/>
          <a:p>
            <a:pPr indent="0" marL="0">
              <a:buNone/>
            </a:pPr>
            <a:r>
              <a:rPr lang="en-US" sz="900" dirty="0">
                <a:solidFill>
                  <a:srgbClr val="667E93"/>
                </a:solidFill>
                <a:latin typeface="Calibri" pitchFamily="34" charset="0"/>
                <a:ea typeface="Calibri" pitchFamily="34" charset="-122"/>
                <a:cs typeface="Calibri" pitchFamily="34" charset="-120"/>
              </a:rPr>
              <a:t>Bị đánh giá thấp hơn mức chuẩn</a:t>
            </a:r>
            <a:endParaRPr lang="en-US" sz="900" dirty="0"/>
          </a:p>
        </p:txBody>
      </p:sp>
      <p:sp>
        <p:nvSpPr>
          <p:cNvPr id="13" name="Text 10"/>
          <p:cNvSpPr/>
          <p:nvPr/>
        </p:nvSpPr>
        <p:spPr>
          <a:xfrm>
            <a:off x="8769096" y="3017520"/>
            <a:ext cx="2651760" cy="256032"/>
          </a:xfrm>
          <a:prstGeom prst="rect">
            <a:avLst/>
          </a:prstGeom>
          <a:noFill/>
          <a:ln/>
        </p:spPr>
        <p:txBody>
          <a:bodyPr wrap="square" lIns="0" tIns="0" rIns="0" bIns="0" rtlCol="0" anchor="ctr"/>
          <a:lstStyle/>
          <a:p>
            <a:pPr indent="0" marL="0">
              <a:buNone/>
            </a:pPr>
            <a:r>
              <a:rPr lang="en-US" sz="1300" b="1" dirty="0">
                <a:solidFill>
                  <a:srgbClr val="B57A16"/>
                </a:solidFill>
                <a:latin typeface="Calibri" pitchFamily="34" charset="0"/>
                <a:ea typeface="Calibri" pitchFamily="34" charset="-122"/>
                <a:cs typeface="Calibri" pitchFamily="34" charset="-120"/>
              </a:rPr>
              <a:t>8/33 — 24,2%</a:t>
            </a:r>
            <a:endParaRPr lang="en-US" sz="1300" dirty="0"/>
          </a:p>
        </p:txBody>
      </p:sp>
      <p:sp>
        <p:nvSpPr>
          <p:cNvPr id="14" name="Text 11"/>
          <p:cNvSpPr/>
          <p:nvPr/>
        </p:nvSpPr>
        <p:spPr>
          <a:xfrm>
            <a:off x="8769096" y="3255264"/>
            <a:ext cx="2651760" cy="182880"/>
          </a:xfrm>
          <a:prstGeom prst="rect">
            <a:avLst/>
          </a:prstGeom>
          <a:noFill/>
          <a:ln/>
        </p:spPr>
        <p:txBody>
          <a:bodyPr wrap="square" lIns="0" tIns="0" rIns="0" bIns="0" rtlCol="0" anchor="ctr"/>
          <a:lstStyle/>
          <a:p>
            <a:pPr indent="0" marL="0">
              <a:buNone/>
            </a:pPr>
            <a:r>
              <a:rPr lang="en-US" sz="800" i="1" dirty="0">
                <a:solidFill>
                  <a:srgbClr val="667E93"/>
                </a:solidFill>
                <a:latin typeface="Calibri" pitchFamily="34" charset="0"/>
                <a:ea typeface="Calibri" pitchFamily="34" charset="-122"/>
                <a:cs typeface="Calibri" pitchFamily="34" charset="-120"/>
              </a:rPr>
              <a:t>hướng sai nguy hiểm nhất</a:t>
            </a:r>
            <a:endParaRPr lang="en-US" sz="800" dirty="0"/>
          </a:p>
        </p:txBody>
      </p:sp>
      <p:sp>
        <p:nvSpPr>
          <p:cNvPr id="15" name="Text 12"/>
          <p:cNvSpPr/>
          <p:nvPr/>
        </p:nvSpPr>
        <p:spPr>
          <a:xfrm>
            <a:off x="8769096" y="3438144"/>
            <a:ext cx="2651760" cy="219456"/>
          </a:xfrm>
          <a:prstGeom prst="rect">
            <a:avLst/>
          </a:prstGeom>
          <a:noFill/>
          <a:ln/>
        </p:spPr>
        <p:txBody>
          <a:bodyPr wrap="square" lIns="0" tIns="0" rIns="0" bIns="0" rtlCol="0" anchor="ctr"/>
          <a:lstStyle/>
          <a:p>
            <a:pPr indent="0" marL="0">
              <a:buNone/>
            </a:pPr>
            <a:r>
              <a:rPr lang="en-US" sz="900" dirty="0">
                <a:solidFill>
                  <a:srgbClr val="667E93"/>
                </a:solidFill>
                <a:latin typeface="Calibri" pitchFamily="34" charset="0"/>
                <a:ea typeface="Calibri" pitchFamily="34" charset="-122"/>
                <a:cs typeface="Calibri" pitchFamily="34" charset="-120"/>
              </a:rPr>
              <a:t>Bị đánh giá cao hơn mức chuẩn</a:t>
            </a:r>
            <a:endParaRPr lang="en-US" sz="900" dirty="0"/>
          </a:p>
        </p:txBody>
      </p:sp>
      <p:sp>
        <p:nvSpPr>
          <p:cNvPr id="16" name="Text 13"/>
          <p:cNvSpPr/>
          <p:nvPr/>
        </p:nvSpPr>
        <p:spPr>
          <a:xfrm>
            <a:off x="8769096" y="3639312"/>
            <a:ext cx="2651760" cy="256032"/>
          </a:xfrm>
          <a:prstGeom prst="rect">
            <a:avLst/>
          </a:prstGeom>
          <a:noFill/>
          <a:ln/>
        </p:spPr>
        <p:txBody>
          <a:bodyPr wrap="square" lIns="0" tIns="0" rIns="0" bIns="0" rtlCol="0" anchor="ctr"/>
          <a:lstStyle/>
          <a:p>
            <a:pPr indent="0" marL="0">
              <a:buNone/>
            </a:pPr>
            <a:r>
              <a:rPr lang="en-US" sz="1300" b="1" dirty="0">
                <a:solidFill>
                  <a:srgbClr val="0E6B5A"/>
                </a:solidFill>
                <a:latin typeface="Calibri" pitchFamily="34" charset="0"/>
                <a:ea typeface="Calibri" pitchFamily="34" charset="-122"/>
                <a:cs typeface="Calibri" pitchFamily="34" charset="-120"/>
              </a:rPr>
              <a:t>2/33 — 6,1%</a:t>
            </a:r>
            <a:endParaRPr lang="en-US" sz="1300" dirty="0"/>
          </a:p>
        </p:txBody>
      </p:sp>
      <p:sp>
        <p:nvSpPr>
          <p:cNvPr id="17" name="Text 14"/>
          <p:cNvSpPr/>
          <p:nvPr/>
        </p:nvSpPr>
        <p:spPr>
          <a:xfrm>
            <a:off x="8769096" y="3877056"/>
            <a:ext cx="2651760" cy="182880"/>
          </a:xfrm>
          <a:prstGeom prst="rect">
            <a:avLst/>
          </a:prstGeom>
          <a:noFill/>
          <a:ln/>
        </p:spPr>
        <p:txBody>
          <a:bodyPr wrap="square" lIns="0" tIns="0" rIns="0" bIns="0" rtlCol="0" anchor="ctr"/>
          <a:lstStyle/>
          <a:p>
            <a:pPr indent="0" marL="0">
              <a:buNone/>
            </a:pPr>
            <a:r>
              <a:rPr lang="en-US" sz="800" i="1" dirty="0">
                <a:solidFill>
                  <a:srgbClr val="667E93"/>
                </a:solidFill>
                <a:latin typeface="Calibri" pitchFamily="34" charset="0"/>
                <a:ea typeface="Calibri" pitchFamily="34" charset="-122"/>
                <a:cs typeface="Calibri" pitchFamily="34" charset="-120"/>
              </a:rPr>
              <a:t>ít hơn 4 lần</a:t>
            </a:r>
            <a:endParaRPr lang="en-US" sz="800" dirty="0"/>
          </a:p>
        </p:txBody>
      </p:sp>
      <p:sp>
        <p:nvSpPr>
          <p:cNvPr id="18" name="Text 15"/>
          <p:cNvSpPr/>
          <p:nvPr/>
        </p:nvSpPr>
        <p:spPr>
          <a:xfrm>
            <a:off x="8769096" y="4059936"/>
            <a:ext cx="2651760" cy="219456"/>
          </a:xfrm>
          <a:prstGeom prst="rect">
            <a:avLst/>
          </a:prstGeom>
          <a:noFill/>
          <a:ln/>
        </p:spPr>
        <p:txBody>
          <a:bodyPr wrap="square" lIns="0" tIns="0" rIns="0" bIns="0" rtlCol="0" anchor="ctr"/>
          <a:lstStyle/>
          <a:p>
            <a:pPr indent="0" marL="0">
              <a:buNone/>
            </a:pPr>
            <a:r>
              <a:rPr lang="en-US" sz="900" dirty="0">
                <a:solidFill>
                  <a:srgbClr val="667E93"/>
                </a:solidFill>
                <a:latin typeface="Calibri" pitchFamily="34" charset="0"/>
                <a:ea typeface="Calibri" pitchFamily="34" charset="-122"/>
                <a:cs typeface="Calibri" pitchFamily="34" charset="-120"/>
              </a:rPr>
              <a:t>Từ chối phân loại</a:t>
            </a:r>
            <a:endParaRPr lang="en-US" sz="900" dirty="0"/>
          </a:p>
        </p:txBody>
      </p:sp>
      <p:sp>
        <p:nvSpPr>
          <p:cNvPr id="19" name="Text 16"/>
          <p:cNvSpPr/>
          <p:nvPr/>
        </p:nvSpPr>
        <p:spPr>
          <a:xfrm>
            <a:off x="8769096" y="4261104"/>
            <a:ext cx="2651760" cy="25603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1/33 — 3,0%</a:t>
            </a:r>
            <a:endParaRPr lang="en-US" sz="1300" dirty="0"/>
          </a:p>
        </p:txBody>
      </p:sp>
      <p:sp>
        <p:nvSpPr>
          <p:cNvPr id="20" name="Text 17"/>
          <p:cNvSpPr/>
          <p:nvPr/>
        </p:nvSpPr>
        <p:spPr>
          <a:xfrm>
            <a:off x="8769096" y="4498848"/>
            <a:ext cx="2651760" cy="182880"/>
          </a:xfrm>
          <a:prstGeom prst="rect">
            <a:avLst/>
          </a:prstGeom>
          <a:noFill/>
          <a:ln/>
        </p:spPr>
        <p:txBody>
          <a:bodyPr wrap="square" lIns="0" tIns="0" rIns="0" bIns="0" rtlCol="0" anchor="ctr"/>
          <a:lstStyle/>
          <a:p>
            <a:pPr indent="0" marL="0">
              <a:buNone/>
            </a:pPr>
            <a:r>
              <a:rPr lang="en-US" sz="800" i="1" dirty="0">
                <a:solidFill>
                  <a:srgbClr val="667E93"/>
                </a:solidFill>
                <a:latin typeface="Calibri" pitchFamily="34" charset="0"/>
                <a:ea typeface="Calibri" pitchFamily="34" charset="-122"/>
                <a:cs typeface="Calibri" pitchFamily="34" charset="-120"/>
              </a:rPr>
              <a:t>giữ nguyên trong mẫu</a:t>
            </a:r>
            <a:endParaRPr lang="en-US" sz="800" dirty="0"/>
          </a:p>
        </p:txBody>
      </p:sp>
      <p:sp>
        <p:nvSpPr>
          <p:cNvPr id="21" name="Shape 18"/>
          <p:cNvSpPr/>
          <p:nvPr/>
        </p:nvSpPr>
        <p:spPr>
          <a:xfrm>
            <a:off x="548640" y="4992624"/>
            <a:ext cx="7818120" cy="1316736"/>
          </a:xfrm>
          <a:prstGeom prst="roundRect">
            <a:avLst>
              <a:gd name="adj" fmla="val 6250"/>
            </a:avLst>
          </a:prstGeom>
          <a:solidFill>
            <a:srgbClr val="F2F6FA"/>
          </a:solidFill>
          <a:ln w="9525">
            <a:solidFill>
              <a:srgbClr val="D7E2EC"/>
            </a:solidFill>
            <a:prstDash val="solid"/>
          </a:ln>
        </p:spPr>
      </p:sp>
      <p:sp>
        <p:nvSpPr>
          <p:cNvPr id="22" name="Text 19"/>
          <p:cNvSpPr/>
          <p:nvPr/>
        </p:nvSpPr>
        <p:spPr>
          <a:xfrm>
            <a:off x="768096" y="4992624"/>
            <a:ext cx="7406640" cy="1316736"/>
          </a:xfrm>
          <a:prstGeom prst="rect">
            <a:avLst/>
          </a:prstGeom>
          <a:noFill/>
          <a:ln/>
        </p:spPr>
        <p:txBody>
          <a:bodyPr wrap="square" lIns="0" tIns="0" rIns="0" bIns="0" rtlCol="0" anchor="ctr"/>
          <a:lstStyle/>
          <a:p>
            <a:pPr indent="0" marL="0">
              <a:lnSpc>
                <a:spcPct val="105000"/>
              </a:lnSpc>
              <a:buNone/>
            </a:pPr>
            <a:r>
              <a:rPr lang="en-US" sz="1000" b="1" dirty="0">
                <a:solidFill>
                  <a:srgbClr val="0D1B2A"/>
                </a:solidFill>
                <a:latin typeface="Calibri" pitchFamily="34" charset="0"/>
                <a:ea typeface="Calibri" pitchFamily="34" charset="-122"/>
                <a:cs typeface="Calibri" pitchFamily="34" charset="-120"/>
              </a:rPr>
              <a:t>Vì sao ma trận có 3 hàng nhưng 4 cột:  </a:t>
            </a:r>
            <a:pPr indent="0" marL="0">
              <a:lnSpc>
                <a:spcPct val="105000"/>
              </a:lnSpc>
              <a:buNone/>
            </a:pPr>
            <a:r>
              <a:rPr lang="en-US" sz="1000" dirty="0">
                <a:solidFill>
                  <a:srgbClr val="667E93"/>
                </a:solidFill>
                <a:latin typeface="Calibri" pitchFamily="34" charset="0"/>
                <a:ea typeface="Calibri" pitchFamily="34" charset="-122"/>
                <a:cs typeface="Calibri" pitchFamily="34" charset="-120"/>
              </a:rPr>
              <a:t>hàng là mức nghiêm trọng mà cảnh báo thực sự thuộc về — luôn nằm trong ba mức do người gán. Cột là quyết định của hệ thống, gồm cả khả năng từ chối phân loại khi bằng chứng không đủ. Đây là dạng chuẩn của bài toán phân loại có quyền từ chối.</a:t>
            </a:r>
            <a:endParaRPr lang="en-US" sz="1000" dirty="0"/>
          </a:p>
        </p:txBody>
      </p:sp>
      <p:sp>
        <p:nvSpPr>
          <p:cNvPr id="23" name="Shape 20"/>
          <p:cNvSpPr/>
          <p:nvPr/>
        </p:nvSpPr>
        <p:spPr>
          <a:xfrm>
            <a:off x="8549640" y="4901184"/>
            <a:ext cx="3063240" cy="1408176"/>
          </a:xfrm>
          <a:prstGeom prst="roundRect">
            <a:avLst>
              <a:gd name="adj" fmla="val 5844"/>
            </a:avLst>
          </a:prstGeom>
          <a:solidFill>
            <a:srgbClr val="0D1B2A"/>
          </a:solidFill>
          <a:ln w="9525">
            <a:solidFill>
              <a:srgbClr val="0D1B2A"/>
            </a:solidFill>
            <a:prstDash val="solid"/>
          </a:ln>
        </p:spPr>
      </p:sp>
      <p:sp>
        <p:nvSpPr>
          <p:cNvPr id="24" name="Text 21"/>
          <p:cNvSpPr/>
          <p:nvPr/>
        </p:nvSpPr>
        <p:spPr>
          <a:xfrm>
            <a:off x="8769096" y="4901184"/>
            <a:ext cx="2651760" cy="1408176"/>
          </a:xfrm>
          <a:prstGeom prst="rect">
            <a:avLst/>
          </a:prstGeom>
          <a:noFill/>
          <a:ln/>
        </p:spPr>
        <p:txBody>
          <a:bodyPr wrap="square" lIns="0" tIns="0" rIns="0" bIns="0" rtlCol="0" anchor="ctr"/>
          <a:lstStyle/>
          <a:p>
            <a:pPr indent="0" marL="0">
              <a:lnSpc>
                <a:spcPct val="106000"/>
              </a:lnSpc>
              <a:buNone/>
            </a:pPr>
            <a:r>
              <a:rPr lang="en-US" sz="950" dirty="0">
                <a:solidFill>
                  <a:srgbClr val="A8C6DD"/>
                </a:solidFill>
                <a:latin typeface="Calibri" pitchFamily="34" charset="0"/>
                <a:ea typeface="Calibri" pitchFamily="34" charset="-122"/>
                <a:cs typeface="Calibri" pitchFamily="34" charset="-120"/>
              </a:rPr>
              <a:t>Nếu loại case từ chối phân loại khỏi mẫu, tỷ lệ đúng sẽ là 22/32 = 68,8% thay vì 66,7%.
</a:t>
            </a:r>
            <a:pPr indent="0" marL="0">
              <a:lnSpc>
                <a:spcPct val="106000"/>
              </a:lnSpc>
              <a:buNone/>
            </a:pPr>
            <a:r>
              <a:rPr lang="en-US" sz="950" b="1" dirty="0">
                <a:solidFill>
                  <a:srgbClr val="1F9E86"/>
                </a:solidFill>
                <a:latin typeface="Calibri" pitchFamily="34" charset="0"/>
                <a:ea typeface="Calibri" pitchFamily="34" charset="-122"/>
                <a:cs typeface="Calibri" pitchFamily="34" charset="-120"/>
              </a:rPr>
              <a:t>Nhóm giữ nguyên trong mẫu vì con số cao hơn sẽ che mất một dạng thất bại có thật.</a:t>
            </a:r>
            <a:endParaRPr lang="en-US" sz="950" dirty="0"/>
          </a:p>
        </p:txBody>
      </p:sp>
      <p:sp>
        <p:nvSpPr>
          <p:cNvPr id="25" name="Text 22"/>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244144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244144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CHẤT LƯỢNG DIỄN GIẢI</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Điểm trung bình cao ở phần diễn đạt lại, thấp ở phần đòi hỏi phán quyết</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6492240" cy="914400"/>
        </p:xfrm>
        <a:graphic>
          <a:graphicData uri="http://schemas.openxmlformats.org/drawingml/2006/table">
            <a:tbl>
              <a:tblPr/>
              <a:tblGrid>
                <a:gridCol w="3200400"/>
                <a:gridCol w="1097280"/>
                <a:gridCol w="1097280"/>
                <a:gridCol w="1097280"/>
              </a:tblGrid>
              <a:tr h="42062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Tiêu chí</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Không RAG</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Có RAG</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Chênh lệch</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20624">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Tính chính xác của tóm tắt</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Ánh xạ kỹ thuật MITRE ATT&amp;CK</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4,36</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4,21</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BE4B3B"/>
                          </a:solidFill>
                          <a:latin typeface="Calibri" pitchFamily="34" charset="0"/>
                          <a:ea typeface="Calibri" pitchFamily="34" charset="-122"/>
                          <a:cs typeface="Calibri" pitchFamily="34" charset="-120"/>
                        </a:rPr>
                        <a:t>−0,15</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20624">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Tính hữu dụng của bước kiểm tra</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3,64</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3,85</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0E6B5A"/>
                          </a:solidFill>
                          <a:latin typeface="Calibri" pitchFamily="34" charset="0"/>
                          <a:ea typeface="Calibri" pitchFamily="34" charset="-122"/>
                          <a:cs typeface="Calibri" pitchFamily="34" charset="-120"/>
                        </a:rPr>
                        <a:t>+0,21</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Tính đúng đắn của giải thích nguyên nhân</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3,06</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dirty="0">
                          <a:solidFill>
                            <a:srgbClr val="BE4B3B"/>
                          </a:solidFill>
                          <a:latin typeface="Calibri" pitchFamily="34" charset="0"/>
                          <a:ea typeface="Calibri" pitchFamily="34" charset="-122"/>
                          <a:cs typeface="Calibri" pitchFamily="34" charset="-120"/>
                        </a:rPr>
                        <a:t>−0,06</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420624">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Mức độ phù hợp của đánh giá nghiêm trọng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22303F"/>
                          </a:solidFill>
                          <a:latin typeface="Calibri" pitchFamily="34" charset="0"/>
                          <a:ea typeface="Calibri" pitchFamily="34" charset="-122"/>
                          <a:cs typeface="Calibri" pitchFamily="34" charset="-120"/>
                        </a:rPr>
                        <a:t>2,09</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b="1" dirty="0">
                          <a:solidFill>
                            <a:srgbClr val="B57A16"/>
                          </a:solidFill>
                          <a:latin typeface="Calibri" pitchFamily="34" charset="0"/>
                          <a:ea typeface="Calibri" pitchFamily="34" charset="-122"/>
                          <a:cs typeface="Calibri" pitchFamily="34" charset="-120"/>
                        </a:rPr>
                        <a:t>2,21</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000" dirty="0">
                          <a:solidFill>
                            <a:srgbClr val="0E6B5A"/>
                          </a:solidFill>
                          <a:latin typeface="Calibri" pitchFamily="34" charset="0"/>
                          <a:ea typeface="Calibri" pitchFamily="34" charset="-122"/>
                          <a:cs typeface="Calibri" pitchFamily="34" charset="-120"/>
                        </a:rPr>
                        <a:t>+0,12</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Trung bình tổng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3,42</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b="1" dirty="0">
                          <a:solidFill>
                            <a:srgbClr val="0E6B5A"/>
                          </a:solidFill>
                          <a:latin typeface="Calibri" pitchFamily="34" charset="0"/>
                          <a:ea typeface="Calibri" pitchFamily="34" charset="-122"/>
                          <a:cs typeface="Calibri" pitchFamily="34" charset="-120"/>
                        </a:rPr>
                        <a:t>3,44</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000" b="1" dirty="0">
                          <a:solidFill>
                            <a:srgbClr val="22303F"/>
                          </a:solidFill>
                          <a:latin typeface="Calibri" pitchFamily="34" charset="0"/>
                          <a:ea typeface="Calibri" pitchFamily="34" charset="-122"/>
                          <a:cs typeface="Calibri" pitchFamily="34" charset="-120"/>
                        </a:rPr>
                        <a:t>+0,02</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6" name="Shape 3"/>
          <p:cNvSpPr/>
          <p:nvPr/>
        </p:nvSpPr>
        <p:spPr>
          <a:xfrm>
            <a:off x="548640" y="4754880"/>
            <a:ext cx="6492240" cy="822960"/>
          </a:xfrm>
          <a:prstGeom prst="roundRect">
            <a:avLst>
              <a:gd name="adj" fmla="val 10000"/>
            </a:avLst>
          </a:prstGeom>
          <a:solidFill>
            <a:srgbClr val="FBF1DC"/>
          </a:solidFill>
          <a:ln w="9525">
            <a:solidFill>
              <a:srgbClr val="EBD9AE"/>
            </a:solidFill>
            <a:prstDash val="solid"/>
          </a:ln>
        </p:spPr>
      </p:sp>
      <p:sp>
        <p:nvSpPr>
          <p:cNvPr id="7" name="Text 4"/>
          <p:cNvSpPr/>
          <p:nvPr/>
        </p:nvSpPr>
        <p:spPr>
          <a:xfrm>
            <a:off x="768096" y="4754880"/>
            <a:ext cx="6080760" cy="822960"/>
          </a:xfrm>
          <a:prstGeom prst="rect">
            <a:avLst/>
          </a:prstGeom>
          <a:noFill/>
          <a:ln/>
        </p:spPr>
        <p:txBody>
          <a:bodyPr wrap="square" lIns="0" tIns="0" rIns="0" bIns="0" rtlCol="0" anchor="ctr"/>
          <a:lstStyle/>
          <a:p>
            <a:pPr indent="0" marL="0">
              <a:lnSpc>
                <a:spcPct val="104000"/>
              </a:lnSpc>
              <a:buNone/>
            </a:pPr>
            <a:r>
              <a:rPr lang="en-US" sz="1000" b="1" dirty="0">
                <a:solidFill>
                  <a:srgbClr val="B57A16"/>
                </a:solidFill>
                <a:latin typeface="Calibri" pitchFamily="34" charset="0"/>
                <a:ea typeface="Calibri" pitchFamily="34" charset="-122"/>
                <a:cs typeface="Calibri" pitchFamily="34" charset="-120"/>
              </a:rPr>
              <a:t>Tiêu chí thấp nhất là mức nghiêm trọng (2,09–2,21):  </a:t>
            </a:r>
            <a:pPr indent="0" marL="0">
              <a:lnSpc>
                <a:spcPct val="104000"/>
              </a:lnSpc>
              <a:buNone/>
            </a:pPr>
            <a:r>
              <a:rPr lang="en-US" sz="1000" dirty="0">
                <a:solidFill>
                  <a:srgbClr val="22303F"/>
                </a:solidFill>
                <a:latin typeface="Calibri" pitchFamily="34" charset="0"/>
                <a:ea typeface="Calibri" pitchFamily="34" charset="-122"/>
                <a:cs typeface="Calibri" pitchFamily="34" charset="-120"/>
              </a:rPr>
              <a:t>đây là nhiệm vụ duy nhất đòi hỏi mô hình đưa ra phán quyết thay vì diễn đạt lại thông tin đã có sẵn trong cảnh báo.</a:t>
            </a:r>
            <a:endParaRPr lang="en-US" sz="1000" dirty="0"/>
          </a:p>
        </p:txBody>
      </p:sp>
      <p:sp>
        <p:nvSpPr>
          <p:cNvPr id="8" name="Shape 5"/>
          <p:cNvSpPr/>
          <p:nvPr/>
        </p:nvSpPr>
        <p:spPr>
          <a:xfrm>
            <a:off x="7269480" y="1719072"/>
            <a:ext cx="4343400" cy="3858768"/>
          </a:xfrm>
          <a:prstGeom prst="roundRect">
            <a:avLst>
              <a:gd name="adj" fmla="val 2133"/>
            </a:avLst>
          </a:prstGeom>
          <a:solidFill>
            <a:srgbClr val="0D1B2A"/>
          </a:solidFill>
          <a:ln w="9525">
            <a:solidFill>
              <a:srgbClr val="0D1B2A"/>
            </a:solidFill>
            <a:prstDash val="solid"/>
          </a:ln>
        </p:spPr>
      </p:sp>
      <p:sp>
        <p:nvSpPr>
          <p:cNvPr id="9" name="Text 6"/>
          <p:cNvSpPr/>
          <p:nvPr/>
        </p:nvSpPr>
        <p:spPr>
          <a:xfrm>
            <a:off x="7507224" y="1847088"/>
            <a:ext cx="3840480" cy="237744"/>
          </a:xfrm>
          <a:prstGeom prst="rect">
            <a:avLst/>
          </a:prstGeom>
          <a:noFill/>
          <a:ln/>
        </p:spPr>
        <p:txBody>
          <a:bodyPr wrap="square" lIns="0" tIns="0" rIns="0" bIns="0" rtlCol="0" anchor="ctr"/>
          <a:lstStyle/>
          <a:p>
            <a:pPr indent="0" marL="0">
              <a:buNone/>
            </a:pPr>
            <a:r>
              <a:rPr lang="en-US" sz="850" b="1" spc="100" kern="0" dirty="0">
                <a:solidFill>
                  <a:srgbClr val="7794AE"/>
                </a:solidFill>
                <a:latin typeface="Calibri" pitchFamily="34" charset="0"/>
                <a:ea typeface="Calibri" pitchFamily="34" charset="-122"/>
                <a:cs typeface="Calibri" pitchFamily="34" charset="-120"/>
              </a:rPr>
              <a:t>ĐỘ TIN CẬY CỦA CHÍNH PHÉP CHẤM</a:t>
            </a:r>
            <a:endParaRPr lang="en-US" sz="850" dirty="0"/>
          </a:p>
        </p:txBody>
      </p:sp>
      <p:sp>
        <p:nvSpPr>
          <p:cNvPr id="10" name="Text 7"/>
          <p:cNvSpPr/>
          <p:nvPr/>
        </p:nvSpPr>
        <p:spPr>
          <a:xfrm>
            <a:off x="7507224" y="2121408"/>
            <a:ext cx="3886200" cy="457200"/>
          </a:xfrm>
          <a:prstGeom prst="rect">
            <a:avLst/>
          </a:prstGeom>
          <a:noFill/>
          <a:ln/>
        </p:spPr>
        <p:txBody>
          <a:bodyPr wrap="square" lIns="0" tIns="0" rIns="0" bIns="0" rtlCol="0" anchor="ctr"/>
          <a:lstStyle/>
          <a:p>
            <a:pPr indent="0" marL="0">
              <a:buNone/>
            </a:pPr>
            <a:r>
              <a:rPr lang="en-US" sz="2600" b="1" dirty="0">
                <a:solidFill>
                  <a:srgbClr val="FBF1DC"/>
                </a:solidFill>
                <a:latin typeface="Calibri" pitchFamily="34" charset="0"/>
                <a:ea typeface="Calibri" pitchFamily="34" charset="-122"/>
                <a:cs typeface="Calibri" pitchFamily="34" charset="-120"/>
              </a:rPr>
              <a:t>κ = 0,223</a:t>
            </a:r>
            <a:pPr indent="0" marL="0">
              <a:buNone/>
            </a:pPr>
            <a:r>
              <a:rPr lang="en-US" sz="950" dirty="0">
                <a:solidFill>
                  <a:srgbClr val="8FB0C8"/>
                </a:solidFill>
                <a:latin typeface="Calibri" pitchFamily="34" charset="0"/>
                <a:ea typeface="Calibri" pitchFamily="34" charset="-122"/>
                <a:cs typeface="Calibri" pitchFamily="34" charset="-120"/>
              </a:rPr>
              <a:t>   Cohen's Kappa có trọng số bậc hai</a:t>
            </a:r>
            <a:endParaRPr lang="en-US" sz="2600" dirty="0"/>
          </a:p>
        </p:txBody>
      </p:sp>
      <p:sp>
        <p:nvSpPr>
          <p:cNvPr id="11" name="Text 8"/>
          <p:cNvSpPr/>
          <p:nvPr/>
        </p:nvSpPr>
        <p:spPr>
          <a:xfrm>
            <a:off x="7507224" y="2596896"/>
            <a:ext cx="3886200" cy="384048"/>
          </a:xfrm>
          <a:prstGeom prst="rect">
            <a:avLst/>
          </a:prstGeom>
          <a:noFill/>
          <a:ln/>
        </p:spPr>
        <p:txBody>
          <a:bodyPr wrap="square" lIns="0" tIns="0" rIns="0" bIns="0" rtlCol="0" anchor="t"/>
          <a:lstStyle/>
          <a:p>
            <a:pPr indent="0" marL="0">
              <a:lnSpc>
                <a:spcPct val="105000"/>
              </a:lnSpc>
              <a:buNone/>
            </a:pPr>
            <a:r>
              <a:rPr lang="en-US" sz="900" dirty="0">
                <a:solidFill>
                  <a:srgbClr val="8FB0C8"/>
                </a:solidFill>
                <a:latin typeface="Calibri" pitchFamily="34" charset="0"/>
                <a:ea typeface="Calibri" pitchFamily="34" charset="-122"/>
                <a:cs typeface="Calibri" pitchFamily="34" charset="-120"/>
              </a:rPr>
              <a:t>Mức Thấp  ·  20 case × 5 tiêu chí = 100 cặp điểm  ·  đồng thuận quan sát 0,851, kỳ vọng ngẫu nhiên 0,809</a:t>
            </a:r>
            <a:endParaRPr lang="en-US" sz="900" dirty="0"/>
          </a:p>
        </p:txBody>
      </p:sp>
      <p:sp>
        <p:nvSpPr>
          <p:cNvPr id="12" name="Text 9"/>
          <p:cNvSpPr/>
          <p:nvPr/>
        </p:nvSpPr>
        <p:spPr>
          <a:xfrm>
            <a:off x="7507224" y="3072384"/>
            <a:ext cx="1783080" cy="274320"/>
          </a:xfrm>
          <a:prstGeom prst="rect">
            <a:avLst/>
          </a:prstGeom>
          <a:noFill/>
          <a:ln/>
        </p:spPr>
        <p:txBody>
          <a:bodyPr wrap="square" lIns="0" tIns="0" rIns="0" bIns="0" rtlCol="0" anchor="ctr"/>
          <a:lstStyle/>
          <a:p>
            <a:pPr indent="0" marL="0">
              <a:buNone/>
            </a:pPr>
            <a:r>
              <a:rPr lang="en-US" sz="950" dirty="0">
                <a:solidFill>
                  <a:srgbClr val="D5E4F0"/>
                </a:solidFill>
                <a:latin typeface="Calibri" pitchFamily="34" charset="0"/>
                <a:ea typeface="Calibri" pitchFamily="34" charset="-122"/>
                <a:cs typeface="Calibri" pitchFamily="34" charset="-120"/>
              </a:rPr>
              <a:t>Tóm tắt</a:t>
            </a:r>
            <a:endParaRPr lang="en-US" sz="950" dirty="0"/>
          </a:p>
        </p:txBody>
      </p:sp>
      <p:sp>
        <p:nvSpPr>
          <p:cNvPr id="13" name="Shape 10"/>
          <p:cNvSpPr/>
          <p:nvPr/>
        </p:nvSpPr>
        <p:spPr>
          <a:xfrm>
            <a:off x="9418320" y="3145536"/>
            <a:ext cx="646298" cy="137160"/>
          </a:xfrm>
          <a:prstGeom prst="roundRect">
            <a:avLst>
              <a:gd name="adj" fmla="val 46667"/>
            </a:avLst>
          </a:prstGeom>
          <a:solidFill>
            <a:srgbClr val="1F9E86"/>
          </a:solidFill>
          <a:ln w="12700">
            <a:solidFill>
              <a:srgbClr val="1F9E86"/>
            </a:solidFill>
            <a:prstDash val="solid"/>
          </a:ln>
        </p:spPr>
      </p:sp>
      <p:sp>
        <p:nvSpPr>
          <p:cNvPr id="14" name="Text 11"/>
          <p:cNvSpPr/>
          <p:nvPr/>
        </p:nvSpPr>
        <p:spPr>
          <a:xfrm>
            <a:off x="10927080" y="3072384"/>
            <a:ext cx="502920" cy="274320"/>
          </a:xfrm>
          <a:prstGeom prst="rect">
            <a:avLst/>
          </a:prstGeom>
          <a:noFill/>
          <a:ln/>
        </p:spPr>
        <p:txBody>
          <a:bodyPr wrap="square" lIns="0" tIns="0" rIns="0" bIns="0" rtlCol="0" anchor="ctr"/>
          <a:lstStyle/>
          <a:p>
            <a:pPr algn="r" indent="0" marL="0">
              <a:buNone/>
            </a:pPr>
            <a:r>
              <a:rPr lang="en-US" sz="900" b="1" dirty="0">
                <a:solidFill>
                  <a:srgbClr val="A8C6DD"/>
                </a:solidFill>
                <a:latin typeface="Calibri" pitchFamily="34" charset="0"/>
                <a:ea typeface="Calibri" pitchFamily="34" charset="-122"/>
                <a:cs typeface="Calibri" pitchFamily="34" charset="-120"/>
              </a:rPr>
              <a:t>0,456</a:t>
            </a:r>
            <a:endParaRPr lang="en-US" sz="900" dirty="0"/>
          </a:p>
        </p:txBody>
      </p:sp>
      <p:sp>
        <p:nvSpPr>
          <p:cNvPr id="15" name="Text 12"/>
          <p:cNvSpPr/>
          <p:nvPr/>
        </p:nvSpPr>
        <p:spPr>
          <a:xfrm>
            <a:off x="7507224" y="3493008"/>
            <a:ext cx="1783080" cy="274320"/>
          </a:xfrm>
          <a:prstGeom prst="rect">
            <a:avLst/>
          </a:prstGeom>
          <a:noFill/>
          <a:ln/>
        </p:spPr>
        <p:txBody>
          <a:bodyPr wrap="square" lIns="0" tIns="0" rIns="0" bIns="0" rtlCol="0" anchor="ctr"/>
          <a:lstStyle/>
          <a:p>
            <a:pPr indent="0" marL="0">
              <a:buNone/>
            </a:pPr>
            <a:r>
              <a:rPr lang="en-US" sz="950" dirty="0">
                <a:solidFill>
                  <a:srgbClr val="D5E4F0"/>
                </a:solidFill>
                <a:latin typeface="Calibri" pitchFamily="34" charset="0"/>
                <a:ea typeface="Calibri" pitchFamily="34" charset="-122"/>
                <a:cs typeface="Calibri" pitchFamily="34" charset="-120"/>
              </a:rPr>
              <a:t>Mức nghiêm trọng</a:t>
            </a:r>
            <a:endParaRPr lang="en-US" sz="950" dirty="0"/>
          </a:p>
        </p:txBody>
      </p:sp>
      <p:sp>
        <p:nvSpPr>
          <p:cNvPr id="16" name="Shape 13"/>
          <p:cNvSpPr/>
          <p:nvPr/>
        </p:nvSpPr>
        <p:spPr>
          <a:xfrm>
            <a:off x="9418320" y="3566160"/>
            <a:ext cx="599526" cy="137160"/>
          </a:xfrm>
          <a:prstGeom prst="roundRect">
            <a:avLst>
              <a:gd name="adj" fmla="val 46667"/>
            </a:avLst>
          </a:prstGeom>
          <a:solidFill>
            <a:srgbClr val="1F9E86"/>
          </a:solidFill>
          <a:ln w="12700">
            <a:solidFill>
              <a:srgbClr val="1F9E86"/>
            </a:solidFill>
            <a:prstDash val="solid"/>
          </a:ln>
        </p:spPr>
      </p:sp>
      <p:sp>
        <p:nvSpPr>
          <p:cNvPr id="17" name="Text 14"/>
          <p:cNvSpPr/>
          <p:nvPr/>
        </p:nvSpPr>
        <p:spPr>
          <a:xfrm>
            <a:off x="10927080" y="3493008"/>
            <a:ext cx="502920" cy="274320"/>
          </a:xfrm>
          <a:prstGeom prst="rect">
            <a:avLst/>
          </a:prstGeom>
          <a:noFill/>
          <a:ln/>
        </p:spPr>
        <p:txBody>
          <a:bodyPr wrap="square" lIns="0" tIns="0" rIns="0" bIns="0" rtlCol="0" anchor="ctr"/>
          <a:lstStyle/>
          <a:p>
            <a:pPr algn="r" indent="0" marL="0">
              <a:buNone/>
            </a:pPr>
            <a:r>
              <a:rPr lang="en-US" sz="900" b="1" dirty="0">
                <a:solidFill>
                  <a:srgbClr val="A8C6DD"/>
                </a:solidFill>
                <a:latin typeface="Calibri" pitchFamily="34" charset="0"/>
                <a:ea typeface="Calibri" pitchFamily="34" charset="-122"/>
                <a:cs typeface="Calibri" pitchFamily="34" charset="-120"/>
              </a:rPr>
              <a:t>0,423</a:t>
            </a:r>
            <a:endParaRPr lang="en-US" sz="900" dirty="0"/>
          </a:p>
        </p:txBody>
      </p:sp>
      <p:sp>
        <p:nvSpPr>
          <p:cNvPr id="18" name="Text 15"/>
          <p:cNvSpPr/>
          <p:nvPr/>
        </p:nvSpPr>
        <p:spPr>
          <a:xfrm>
            <a:off x="7507224" y="3913632"/>
            <a:ext cx="1783080" cy="274320"/>
          </a:xfrm>
          <a:prstGeom prst="rect">
            <a:avLst/>
          </a:prstGeom>
          <a:noFill/>
          <a:ln/>
        </p:spPr>
        <p:txBody>
          <a:bodyPr wrap="square" lIns="0" tIns="0" rIns="0" bIns="0" rtlCol="0" anchor="ctr"/>
          <a:lstStyle/>
          <a:p>
            <a:pPr indent="0" marL="0">
              <a:buNone/>
            </a:pPr>
            <a:r>
              <a:rPr lang="en-US" sz="950" dirty="0">
                <a:solidFill>
                  <a:srgbClr val="D5E4F0"/>
                </a:solidFill>
                <a:latin typeface="Calibri" pitchFamily="34" charset="0"/>
                <a:ea typeface="Calibri" pitchFamily="34" charset="-122"/>
                <a:cs typeface="Calibri" pitchFamily="34" charset="-120"/>
              </a:rPr>
              <a:t>Bước kiểm tra</a:t>
            </a:r>
            <a:endParaRPr lang="en-US" sz="950" dirty="0"/>
          </a:p>
        </p:txBody>
      </p:sp>
      <p:sp>
        <p:nvSpPr>
          <p:cNvPr id="19" name="Shape 16"/>
          <p:cNvSpPr/>
          <p:nvPr/>
        </p:nvSpPr>
        <p:spPr>
          <a:xfrm>
            <a:off x="9418320" y="3986784"/>
            <a:ext cx="511653" cy="137160"/>
          </a:xfrm>
          <a:prstGeom prst="roundRect">
            <a:avLst>
              <a:gd name="adj" fmla="val 46667"/>
            </a:avLst>
          </a:prstGeom>
          <a:solidFill>
            <a:srgbClr val="2C6E9B"/>
          </a:solidFill>
          <a:ln w="12700">
            <a:solidFill>
              <a:srgbClr val="2C6E9B"/>
            </a:solidFill>
            <a:prstDash val="solid"/>
          </a:ln>
        </p:spPr>
      </p:sp>
      <p:sp>
        <p:nvSpPr>
          <p:cNvPr id="20" name="Text 17"/>
          <p:cNvSpPr/>
          <p:nvPr/>
        </p:nvSpPr>
        <p:spPr>
          <a:xfrm>
            <a:off x="10927080" y="3913632"/>
            <a:ext cx="502920" cy="274320"/>
          </a:xfrm>
          <a:prstGeom prst="rect">
            <a:avLst/>
          </a:prstGeom>
          <a:noFill/>
          <a:ln/>
        </p:spPr>
        <p:txBody>
          <a:bodyPr wrap="square" lIns="0" tIns="0" rIns="0" bIns="0" rtlCol="0" anchor="ctr"/>
          <a:lstStyle/>
          <a:p>
            <a:pPr algn="r" indent="0" marL="0">
              <a:buNone/>
            </a:pPr>
            <a:r>
              <a:rPr lang="en-US" sz="900" b="1" dirty="0">
                <a:solidFill>
                  <a:srgbClr val="A8C6DD"/>
                </a:solidFill>
                <a:latin typeface="Calibri" pitchFamily="34" charset="0"/>
                <a:ea typeface="Calibri" pitchFamily="34" charset="-122"/>
                <a:cs typeface="Calibri" pitchFamily="34" charset="-120"/>
              </a:rPr>
              <a:t>0,361</a:t>
            </a:r>
            <a:endParaRPr lang="en-US" sz="900" dirty="0"/>
          </a:p>
        </p:txBody>
      </p:sp>
      <p:sp>
        <p:nvSpPr>
          <p:cNvPr id="21" name="Text 18"/>
          <p:cNvSpPr/>
          <p:nvPr/>
        </p:nvSpPr>
        <p:spPr>
          <a:xfrm>
            <a:off x="7507224" y="4334256"/>
            <a:ext cx="1783080" cy="274320"/>
          </a:xfrm>
          <a:prstGeom prst="rect">
            <a:avLst/>
          </a:prstGeom>
          <a:noFill/>
          <a:ln/>
        </p:spPr>
        <p:txBody>
          <a:bodyPr wrap="square" lIns="0" tIns="0" rIns="0" bIns="0" rtlCol="0" anchor="ctr"/>
          <a:lstStyle/>
          <a:p>
            <a:pPr indent="0" marL="0">
              <a:buNone/>
            </a:pPr>
            <a:r>
              <a:rPr lang="en-US" sz="950" dirty="0">
                <a:solidFill>
                  <a:srgbClr val="D5E4F0"/>
                </a:solidFill>
                <a:latin typeface="Calibri" pitchFamily="34" charset="0"/>
                <a:ea typeface="Calibri" pitchFamily="34" charset="-122"/>
                <a:cs typeface="Calibri" pitchFamily="34" charset="-120"/>
              </a:rPr>
              <a:t>Ánh xạ MITRE</a:t>
            </a:r>
            <a:endParaRPr lang="en-US" sz="950" dirty="0"/>
          </a:p>
        </p:txBody>
      </p:sp>
      <p:sp>
        <p:nvSpPr>
          <p:cNvPr id="22" name="Shape 19"/>
          <p:cNvSpPr/>
          <p:nvPr/>
        </p:nvSpPr>
        <p:spPr>
          <a:xfrm>
            <a:off x="9418320" y="4407408"/>
            <a:ext cx="119055" cy="137160"/>
          </a:xfrm>
          <a:prstGeom prst="roundRect">
            <a:avLst>
              <a:gd name="adj" fmla="val 53763"/>
            </a:avLst>
          </a:prstGeom>
          <a:solidFill>
            <a:srgbClr val="B57A16"/>
          </a:solidFill>
          <a:ln w="12700">
            <a:solidFill>
              <a:srgbClr val="B57A16"/>
            </a:solidFill>
            <a:prstDash val="solid"/>
          </a:ln>
        </p:spPr>
      </p:sp>
      <p:sp>
        <p:nvSpPr>
          <p:cNvPr id="23" name="Text 20"/>
          <p:cNvSpPr/>
          <p:nvPr/>
        </p:nvSpPr>
        <p:spPr>
          <a:xfrm>
            <a:off x="10927080" y="4334256"/>
            <a:ext cx="502920" cy="274320"/>
          </a:xfrm>
          <a:prstGeom prst="rect">
            <a:avLst/>
          </a:prstGeom>
          <a:noFill/>
          <a:ln/>
        </p:spPr>
        <p:txBody>
          <a:bodyPr wrap="square" lIns="0" tIns="0" rIns="0" bIns="0" rtlCol="0" anchor="ctr"/>
          <a:lstStyle/>
          <a:p>
            <a:pPr algn="r" indent="0" marL="0">
              <a:buNone/>
            </a:pPr>
            <a:r>
              <a:rPr lang="en-US" sz="900" b="1" dirty="0">
                <a:solidFill>
                  <a:srgbClr val="A8C6DD"/>
                </a:solidFill>
                <a:latin typeface="Calibri" pitchFamily="34" charset="0"/>
                <a:ea typeface="Calibri" pitchFamily="34" charset="-122"/>
                <a:cs typeface="Calibri" pitchFamily="34" charset="-120"/>
              </a:rPr>
              <a:t>0,084</a:t>
            </a:r>
            <a:endParaRPr lang="en-US" sz="900" dirty="0"/>
          </a:p>
        </p:txBody>
      </p:sp>
      <p:sp>
        <p:nvSpPr>
          <p:cNvPr id="24" name="Text 21"/>
          <p:cNvSpPr/>
          <p:nvPr/>
        </p:nvSpPr>
        <p:spPr>
          <a:xfrm>
            <a:off x="7507224" y="4754880"/>
            <a:ext cx="1783080" cy="274320"/>
          </a:xfrm>
          <a:prstGeom prst="rect">
            <a:avLst/>
          </a:prstGeom>
          <a:noFill/>
          <a:ln/>
        </p:spPr>
        <p:txBody>
          <a:bodyPr wrap="square" lIns="0" tIns="0" rIns="0" bIns="0" rtlCol="0" anchor="ctr"/>
          <a:lstStyle/>
          <a:p>
            <a:pPr indent="0" marL="0">
              <a:buNone/>
            </a:pPr>
            <a:r>
              <a:rPr lang="en-US" sz="950" dirty="0">
                <a:solidFill>
                  <a:srgbClr val="D5E4F0"/>
                </a:solidFill>
                <a:latin typeface="Calibri" pitchFamily="34" charset="0"/>
                <a:ea typeface="Calibri" pitchFamily="34" charset="-122"/>
                <a:cs typeface="Calibri" pitchFamily="34" charset="-120"/>
              </a:rPr>
              <a:t>Giải thích nguyên nhân</a:t>
            </a:r>
            <a:endParaRPr lang="en-US" sz="950" dirty="0"/>
          </a:p>
        </p:txBody>
      </p:sp>
      <p:sp>
        <p:nvSpPr>
          <p:cNvPr id="25" name="Shape 22"/>
          <p:cNvSpPr/>
          <p:nvPr/>
        </p:nvSpPr>
        <p:spPr>
          <a:xfrm>
            <a:off x="9236903" y="4828032"/>
            <a:ext cx="181417" cy="137160"/>
          </a:xfrm>
          <a:prstGeom prst="roundRect">
            <a:avLst>
              <a:gd name="adj" fmla="val 46667"/>
            </a:avLst>
          </a:prstGeom>
          <a:solidFill>
            <a:srgbClr val="BE4B3B"/>
          </a:solidFill>
          <a:ln w="12700">
            <a:solidFill>
              <a:srgbClr val="BE4B3B"/>
            </a:solidFill>
            <a:prstDash val="solid"/>
          </a:ln>
        </p:spPr>
      </p:sp>
      <p:sp>
        <p:nvSpPr>
          <p:cNvPr id="26" name="Text 23"/>
          <p:cNvSpPr/>
          <p:nvPr/>
        </p:nvSpPr>
        <p:spPr>
          <a:xfrm>
            <a:off x="10927080" y="4754880"/>
            <a:ext cx="502920" cy="274320"/>
          </a:xfrm>
          <a:prstGeom prst="rect">
            <a:avLst/>
          </a:prstGeom>
          <a:noFill/>
          <a:ln/>
        </p:spPr>
        <p:txBody>
          <a:bodyPr wrap="square" lIns="0" tIns="0" rIns="0" bIns="0" rtlCol="0" anchor="ctr"/>
          <a:lstStyle/>
          <a:p>
            <a:pPr algn="r" indent="0" marL="0">
              <a:buNone/>
            </a:pPr>
            <a:r>
              <a:rPr lang="en-US" sz="900" b="1" dirty="0">
                <a:solidFill>
                  <a:srgbClr val="F0A79B"/>
                </a:solidFill>
                <a:latin typeface="Calibri" pitchFamily="34" charset="0"/>
                <a:ea typeface="Calibri" pitchFamily="34" charset="-122"/>
                <a:cs typeface="Calibri" pitchFamily="34" charset="-120"/>
              </a:rPr>
              <a:t>-0,128</a:t>
            </a:r>
            <a:endParaRPr lang="en-US" sz="900" dirty="0"/>
          </a:p>
        </p:txBody>
      </p:sp>
      <p:sp>
        <p:nvSpPr>
          <p:cNvPr id="27" name="Text 24"/>
          <p:cNvSpPr/>
          <p:nvPr/>
        </p:nvSpPr>
        <p:spPr>
          <a:xfrm>
            <a:off x="7507224" y="5138928"/>
            <a:ext cx="3886200" cy="420624"/>
          </a:xfrm>
          <a:prstGeom prst="rect">
            <a:avLst/>
          </a:prstGeom>
          <a:noFill/>
          <a:ln/>
        </p:spPr>
        <p:txBody>
          <a:bodyPr wrap="square" lIns="0" tIns="0" rIns="0" bIns="0" rtlCol="0" anchor="t"/>
          <a:lstStyle/>
          <a:p>
            <a:pPr indent="0" marL="0">
              <a:lnSpc>
                <a:spcPct val="105000"/>
              </a:lnSpc>
              <a:buNone/>
            </a:pPr>
            <a:r>
              <a:rPr lang="en-US" sz="900" i="1" dirty="0">
                <a:solidFill>
                  <a:srgbClr val="8FB0C8"/>
                </a:solidFill>
                <a:latin typeface="Calibri" pitchFamily="34" charset="0"/>
                <a:ea typeface="Calibri" pitchFamily="34" charset="-122"/>
                <a:cs typeface="Calibri" pitchFamily="34" charset="-120"/>
              </a:rPr>
              <a:t>Hai tiêu chí đối chiếu được với dữ liệu khách quan đạt đồng thuận cao nhất; hai tiêu chí đòi hỏi phán đoán mở gần như không đồng thuận.</a:t>
            </a:r>
            <a:endParaRPr lang="en-US" sz="900" dirty="0"/>
          </a:p>
        </p:txBody>
      </p:sp>
      <p:sp>
        <p:nvSpPr>
          <p:cNvPr id="28" name="Shape 25"/>
          <p:cNvSpPr/>
          <p:nvPr/>
        </p:nvSpPr>
        <p:spPr>
          <a:xfrm>
            <a:off x="548640" y="5742432"/>
            <a:ext cx="11064240" cy="566928"/>
          </a:xfrm>
          <a:prstGeom prst="roundRect">
            <a:avLst>
              <a:gd name="adj" fmla="val 12903"/>
            </a:avLst>
          </a:prstGeom>
          <a:solidFill>
            <a:srgbClr val="FAE3DF"/>
          </a:solidFill>
          <a:ln w="9525">
            <a:solidFill>
              <a:srgbClr val="EFC8C1"/>
            </a:solidFill>
            <a:prstDash val="solid"/>
          </a:ln>
        </p:spPr>
      </p:sp>
      <p:sp>
        <p:nvSpPr>
          <p:cNvPr id="29" name="Text 26"/>
          <p:cNvSpPr/>
          <p:nvPr/>
        </p:nvSpPr>
        <p:spPr>
          <a:xfrm>
            <a:off x="804672" y="5742432"/>
            <a:ext cx="10552176" cy="566928"/>
          </a:xfrm>
          <a:prstGeom prst="rect">
            <a:avLst/>
          </a:prstGeom>
          <a:noFill/>
          <a:ln/>
        </p:spPr>
        <p:txBody>
          <a:bodyPr wrap="square" lIns="0" tIns="0" rIns="0" bIns="0" rtlCol="0" anchor="ctr"/>
          <a:lstStyle/>
          <a:p>
            <a:pPr algn="l" indent="0" marL="0">
              <a:buNone/>
            </a:pPr>
            <a:r>
              <a:rPr lang="en-US" sz="1100" b="1" dirty="0">
                <a:solidFill>
                  <a:srgbClr val="BE4B3B"/>
                </a:solidFill>
                <a:latin typeface="Calibri" pitchFamily="34" charset="0"/>
                <a:ea typeface="Calibri" pitchFamily="34" charset="-122"/>
                <a:cs typeface="Calibri" pitchFamily="34" charset="-120"/>
              </a:rPr>
              <a:t>Vì hệ số đồng thuận chỉ ở mức thấp, nhóm chỉ dùng điểm trung bình 3,44/5 làm thông tin tham khảo. Căn cứ chính để kết luận là phép đối chiếu mức nghiêm trọng với nhãn chuẩn ở slide trước.</a:t>
            </a:r>
            <a:endParaRPr lang="en-US" sz="1100" dirty="0"/>
          </a:p>
        </p:txBody>
      </p:sp>
      <p:sp>
        <p:nvSpPr>
          <p:cNvPr id="30" name="Text 2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687068"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687068"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KẾT QUẢ · HIỆU NĂNG</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Chi phí vận hành nằm trọn trong giới hạn phần cứng phổ thông</a:t>
            </a:r>
            <a:endParaRPr lang="en-US" sz="2600" dirty="0"/>
          </a:p>
        </p:txBody>
      </p:sp>
      <p:sp>
        <p:nvSpPr>
          <p:cNvPr id="5" name="Shape 3"/>
          <p:cNvSpPr/>
          <p:nvPr/>
        </p:nvSpPr>
        <p:spPr>
          <a:xfrm>
            <a:off x="548640" y="1719072"/>
            <a:ext cx="3703320" cy="2834640"/>
          </a:xfrm>
          <a:prstGeom prst="roundRect">
            <a:avLst>
              <a:gd name="adj" fmla="val 2903"/>
            </a:avLst>
          </a:prstGeom>
          <a:solidFill>
            <a:srgbClr val="F2F6FA"/>
          </a:solidFill>
          <a:ln w="9525">
            <a:solidFill>
              <a:srgbClr val="D7E2EC"/>
            </a:solidFill>
            <a:prstDash val="solid"/>
          </a:ln>
        </p:spPr>
      </p:sp>
      <p:sp>
        <p:nvSpPr>
          <p:cNvPr id="6" name="Text 4"/>
          <p:cNvSpPr/>
          <p:nvPr/>
        </p:nvSpPr>
        <p:spPr>
          <a:xfrm>
            <a:off x="786384" y="1847088"/>
            <a:ext cx="320040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ĐỘ TRỄ XỬ LÝ MỘT CẢNH BÁO</a:t>
            </a:r>
            <a:endParaRPr lang="en-US" sz="850" dirty="0"/>
          </a:p>
        </p:txBody>
      </p:sp>
      <p:sp>
        <p:nvSpPr>
          <p:cNvPr id="7" name="Text 5"/>
          <p:cNvSpPr/>
          <p:nvPr/>
        </p:nvSpPr>
        <p:spPr>
          <a:xfrm>
            <a:off x="786384" y="2139696"/>
            <a:ext cx="3200400" cy="420624"/>
          </a:xfrm>
          <a:prstGeom prst="rect">
            <a:avLst/>
          </a:prstGeom>
          <a:noFill/>
          <a:ln/>
        </p:spPr>
        <p:txBody>
          <a:bodyPr wrap="square" lIns="0" tIns="0" rIns="0" bIns="0" rtlCol="0" anchor="ctr"/>
          <a:lstStyle/>
          <a:p>
            <a:pPr algn="l" indent="0" marL="0">
              <a:buNone/>
            </a:pPr>
            <a:r>
              <a:rPr lang="en-US" sz="3000" b="1" dirty="0">
                <a:solidFill>
                  <a:srgbClr val="0E6B5A"/>
                </a:solidFill>
                <a:latin typeface="Calibri" pitchFamily="34" charset="0"/>
                <a:ea typeface="Calibri" pitchFamily="34" charset="-122"/>
                <a:cs typeface="Calibri" pitchFamily="34" charset="-120"/>
              </a:rPr>
              <a:t>2,716</a:t>
            </a:r>
            <a:pPr algn="l" indent="0" marL="0">
              <a:buNone/>
            </a:pPr>
            <a:r>
              <a:rPr lang="en-US" sz="1650" b="1" dirty="0">
                <a:solidFill>
                  <a:srgbClr val="0E6B5A"/>
                </a:solidFill>
                <a:latin typeface="Calibri" pitchFamily="34" charset="0"/>
                <a:ea typeface="Calibri" pitchFamily="34" charset="-122"/>
                <a:cs typeface="Calibri" pitchFamily="34" charset="-120"/>
              </a:rPr>
              <a:t> giây</a:t>
            </a:r>
            <a:endParaRPr lang="en-US" sz="3000" dirty="0"/>
          </a:p>
        </p:txBody>
      </p:sp>
      <p:sp>
        <p:nvSpPr>
          <p:cNvPr id="8" name="Text 6"/>
          <p:cNvSpPr/>
          <p:nvPr/>
        </p:nvSpPr>
        <p:spPr>
          <a:xfrm>
            <a:off x="786384" y="2560320"/>
            <a:ext cx="3200400" cy="365760"/>
          </a:xfrm>
          <a:prstGeom prst="rect">
            <a:avLst/>
          </a:prstGeom>
          <a:noFill/>
          <a:ln/>
        </p:spPr>
        <p:txBody>
          <a:bodyPr wrap="square" lIns="0" tIns="0" rIns="0" bIns="0" rtlCol="0" anchor="t"/>
          <a:lstStyle/>
          <a:p>
            <a:pPr algn="l" indent="0" marL="0">
              <a:lnSpc>
                <a:spcPct val="100000"/>
              </a:lnSpc>
              <a:buNone/>
            </a:pPr>
            <a:r>
              <a:rPr lang="en-US" sz="900" dirty="0">
                <a:solidFill>
                  <a:srgbClr val="667E93"/>
                </a:solidFill>
                <a:latin typeface="Calibri" pitchFamily="34" charset="0"/>
                <a:ea typeface="Calibri" pitchFamily="34" charset="-122"/>
                <a:cs typeface="Calibri" pitchFamily="34" charset="-120"/>
              </a:rPr>
              <a:t>trung bình có RAG  ·  trung vị 2,704  ·  p95 3,897</a:t>
            </a:r>
            <a:endParaRPr lang="en-US" sz="900" dirty="0"/>
          </a:p>
        </p:txBody>
      </p:sp>
      <p:sp>
        <p:nvSpPr>
          <p:cNvPr id="9" name="Text 7"/>
          <p:cNvSpPr/>
          <p:nvPr/>
        </p:nvSpPr>
        <p:spPr>
          <a:xfrm>
            <a:off x="786384" y="2999232"/>
            <a:ext cx="141732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Nhanh nhất</a:t>
            </a:r>
            <a:endParaRPr lang="en-US" sz="950" dirty="0"/>
          </a:p>
        </p:txBody>
      </p:sp>
      <p:sp>
        <p:nvSpPr>
          <p:cNvPr id="10" name="Text 8"/>
          <p:cNvSpPr/>
          <p:nvPr/>
        </p:nvSpPr>
        <p:spPr>
          <a:xfrm>
            <a:off x="2194560" y="2999232"/>
            <a:ext cx="8229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1,752 s</a:t>
            </a:r>
            <a:endParaRPr lang="en-US" sz="1000" dirty="0"/>
          </a:p>
        </p:txBody>
      </p:sp>
      <p:sp>
        <p:nvSpPr>
          <p:cNvPr id="11" name="Text 9"/>
          <p:cNvSpPr/>
          <p:nvPr/>
        </p:nvSpPr>
        <p:spPr>
          <a:xfrm>
            <a:off x="3035808" y="2999232"/>
            <a:ext cx="1005840" cy="292608"/>
          </a:xfrm>
          <a:prstGeom prst="rect">
            <a:avLst/>
          </a:prstGeom>
          <a:noFill/>
          <a:ln/>
        </p:spPr>
        <p:txBody>
          <a:bodyPr wrap="square" lIns="0" tIns="0" rIns="0" bIns="0" rtlCol="0" anchor="ctr"/>
          <a:lstStyle/>
          <a:p>
            <a:pPr indent="0" marL="0">
              <a:buNone/>
            </a:pPr>
            <a:r>
              <a:rPr lang="en-US" sz="750" i="1" dirty="0">
                <a:solidFill>
                  <a:srgbClr val="667E93"/>
                </a:solidFill>
                <a:latin typeface="Calibri" pitchFamily="34" charset="0"/>
                <a:ea typeface="Calibri" pitchFamily="34" charset="-122"/>
                <a:cs typeface="Calibri" pitchFamily="34" charset="-120"/>
              </a:rPr>
              <a:t>benign-5502-02</a:t>
            </a:r>
            <a:endParaRPr lang="en-US" sz="750" dirty="0"/>
          </a:p>
        </p:txBody>
      </p:sp>
      <p:sp>
        <p:nvSpPr>
          <p:cNvPr id="12" name="Text 10"/>
          <p:cNvSpPr/>
          <p:nvPr/>
        </p:nvSpPr>
        <p:spPr>
          <a:xfrm>
            <a:off x="786384" y="3364992"/>
            <a:ext cx="141732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Chậm nhất</a:t>
            </a:r>
            <a:endParaRPr lang="en-US" sz="950" dirty="0"/>
          </a:p>
        </p:txBody>
      </p:sp>
      <p:sp>
        <p:nvSpPr>
          <p:cNvPr id="13" name="Text 11"/>
          <p:cNvSpPr/>
          <p:nvPr/>
        </p:nvSpPr>
        <p:spPr>
          <a:xfrm>
            <a:off x="2194560" y="3364992"/>
            <a:ext cx="8229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5,020 s</a:t>
            </a:r>
            <a:endParaRPr lang="en-US" sz="1000" dirty="0"/>
          </a:p>
        </p:txBody>
      </p:sp>
      <p:sp>
        <p:nvSpPr>
          <p:cNvPr id="14" name="Text 12"/>
          <p:cNvSpPr/>
          <p:nvPr/>
        </p:nvSpPr>
        <p:spPr>
          <a:xfrm>
            <a:off x="3035808" y="3364992"/>
            <a:ext cx="1005840" cy="292608"/>
          </a:xfrm>
          <a:prstGeom prst="rect">
            <a:avLst/>
          </a:prstGeom>
          <a:noFill/>
          <a:ln/>
        </p:spPr>
        <p:txBody>
          <a:bodyPr wrap="square" lIns="0" tIns="0" rIns="0" bIns="0" rtlCol="0" anchor="ctr"/>
          <a:lstStyle/>
          <a:p>
            <a:pPr indent="0" marL="0">
              <a:buNone/>
            </a:pPr>
            <a:r>
              <a:rPr lang="en-US" sz="750" i="1" dirty="0">
                <a:solidFill>
                  <a:srgbClr val="667E93"/>
                </a:solidFill>
                <a:latin typeface="Calibri" pitchFamily="34" charset="0"/>
                <a:ea typeface="Calibri" pitchFamily="34" charset="-122"/>
                <a:cs typeface="Calibri" pitchFamily="34" charset="-120"/>
              </a:rPr>
              <a:t>ssh-5503-01</a:t>
            </a:r>
            <a:endParaRPr lang="en-US" sz="750" dirty="0"/>
          </a:p>
        </p:txBody>
      </p:sp>
      <p:sp>
        <p:nvSpPr>
          <p:cNvPr id="15" name="Text 13"/>
          <p:cNvSpPr/>
          <p:nvPr/>
        </p:nvSpPr>
        <p:spPr>
          <a:xfrm>
            <a:off x="786384" y="3730752"/>
            <a:ext cx="141732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Truy xuất tri thức</a:t>
            </a:r>
            <a:endParaRPr lang="en-US" sz="950" dirty="0"/>
          </a:p>
        </p:txBody>
      </p:sp>
      <p:sp>
        <p:nvSpPr>
          <p:cNvPr id="16" name="Text 14"/>
          <p:cNvSpPr/>
          <p:nvPr/>
        </p:nvSpPr>
        <p:spPr>
          <a:xfrm>
            <a:off x="2194560" y="3730752"/>
            <a:ext cx="8229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~0,08 s</a:t>
            </a:r>
            <a:endParaRPr lang="en-US" sz="1000" dirty="0"/>
          </a:p>
        </p:txBody>
      </p:sp>
      <p:sp>
        <p:nvSpPr>
          <p:cNvPr id="17" name="Text 15"/>
          <p:cNvSpPr/>
          <p:nvPr/>
        </p:nvSpPr>
        <p:spPr>
          <a:xfrm>
            <a:off x="3035808" y="3730752"/>
            <a:ext cx="1005840" cy="292608"/>
          </a:xfrm>
          <a:prstGeom prst="rect">
            <a:avLst/>
          </a:prstGeom>
          <a:noFill/>
          <a:ln/>
        </p:spPr>
        <p:txBody>
          <a:bodyPr wrap="square" lIns="0" tIns="0" rIns="0" bIns="0" rtlCol="0" anchor="ctr"/>
          <a:lstStyle/>
          <a:p>
            <a:pPr indent="0" marL="0">
              <a:buNone/>
            </a:pPr>
            <a:r>
              <a:rPr lang="en-US" sz="750" i="1" dirty="0">
                <a:solidFill>
                  <a:srgbClr val="667E93"/>
                </a:solidFill>
                <a:latin typeface="Calibri" pitchFamily="34" charset="0"/>
                <a:ea typeface="Calibri" pitchFamily="34" charset="-122"/>
                <a:cs typeface="Calibri" pitchFamily="34" charset="-120"/>
              </a:rPr>
              <a:t>chỉ 3% tổng thời gian</a:t>
            </a:r>
            <a:endParaRPr lang="en-US" sz="750" dirty="0"/>
          </a:p>
        </p:txBody>
      </p:sp>
      <p:sp>
        <p:nvSpPr>
          <p:cNvPr id="18" name="Text 16"/>
          <p:cNvSpPr/>
          <p:nvPr/>
        </p:nvSpPr>
        <p:spPr>
          <a:xfrm>
            <a:off x="786384" y="4096512"/>
            <a:ext cx="141732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Gọi mô hình</a:t>
            </a:r>
            <a:endParaRPr lang="en-US" sz="950" dirty="0"/>
          </a:p>
        </p:txBody>
      </p:sp>
      <p:sp>
        <p:nvSpPr>
          <p:cNvPr id="19" name="Text 17"/>
          <p:cNvSpPr/>
          <p:nvPr/>
        </p:nvSpPr>
        <p:spPr>
          <a:xfrm>
            <a:off x="2194560" y="4096512"/>
            <a:ext cx="8229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~2,63 s</a:t>
            </a:r>
            <a:endParaRPr lang="en-US" sz="1000" dirty="0"/>
          </a:p>
        </p:txBody>
      </p:sp>
      <p:sp>
        <p:nvSpPr>
          <p:cNvPr id="20" name="Text 18"/>
          <p:cNvSpPr/>
          <p:nvPr/>
        </p:nvSpPr>
        <p:spPr>
          <a:xfrm>
            <a:off x="3035808" y="4096512"/>
            <a:ext cx="1005840" cy="292608"/>
          </a:xfrm>
          <a:prstGeom prst="rect">
            <a:avLst/>
          </a:prstGeom>
          <a:noFill/>
          <a:ln/>
        </p:spPr>
        <p:txBody>
          <a:bodyPr wrap="square" lIns="0" tIns="0" rIns="0" bIns="0" rtlCol="0" anchor="ctr"/>
          <a:lstStyle/>
          <a:p>
            <a:pPr indent="0" marL="0">
              <a:buNone/>
            </a:pPr>
            <a:r>
              <a:rPr lang="en-US" sz="750" i="1" dirty="0">
                <a:solidFill>
                  <a:srgbClr val="667E93"/>
                </a:solidFill>
                <a:latin typeface="Calibri" pitchFamily="34" charset="0"/>
                <a:ea typeface="Calibri" pitchFamily="34" charset="-122"/>
                <a:cs typeface="Calibri" pitchFamily="34" charset="-120"/>
              </a:rPr>
              <a:t>phần chi phối</a:t>
            </a:r>
            <a:endParaRPr lang="en-US" sz="750" dirty="0"/>
          </a:p>
        </p:txBody>
      </p:sp>
      <p:sp>
        <p:nvSpPr>
          <p:cNvPr id="21" name="Shape 19"/>
          <p:cNvSpPr/>
          <p:nvPr/>
        </p:nvSpPr>
        <p:spPr>
          <a:xfrm>
            <a:off x="4434840" y="1719072"/>
            <a:ext cx="3703320" cy="2834640"/>
          </a:xfrm>
          <a:prstGeom prst="roundRect">
            <a:avLst>
              <a:gd name="adj" fmla="val 2903"/>
            </a:avLst>
          </a:prstGeom>
          <a:solidFill>
            <a:srgbClr val="F2F6FA"/>
          </a:solidFill>
          <a:ln w="9525">
            <a:solidFill>
              <a:srgbClr val="D7E2EC"/>
            </a:solidFill>
            <a:prstDash val="solid"/>
          </a:ln>
        </p:spPr>
      </p:sp>
      <p:sp>
        <p:nvSpPr>
          <p:cNvPr id="22" name="Text 20"/>
          <p:cNvSpPr/>
          <p:nvPr/>
        </p:nvSpPr>
        <p:spPr>
          <a:xfrm>
            <a:off x="4672584" y="1847088"/>
            <a:ext cx="320040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TÀI NGUYÊN TIÊU THỤ</a:t>
            </a:r>
            <a:endParaRPr lang="en-US" sz="850" dirty="0"/>
          </a:p>
        </p:txBody>
      </p:sp>
      <p:sp>
        <p:nvSpPr>
          <p:cNvPr id="23" name="Text 21"/>
          <p:cNvSpPr/>
          <p:nvPr/>
        </p:nvSpPr>
        <p:spPr>
          <a:xfrm>
            <a:off x="4672584" y="2139696"/>
            <a:ext cx="3200400" cy="420624"/>
          </a:xfrm>
          <a:prstGeom prst="rect">
            <a:avLst/>
          </a:prstGeom>
          <a:noFill/>
          <a:ln/>
        </p:spPr>
        <p:txBody>
          <a:bodyPr wrap="square" lIns="0" tIns="0" rIns="0" bIns="0" rtlCol="0" anchor="ctr"/>
          <a:lstStyle/>
          <a:p>
            <a:pPr algn="l" indent="0" marL="0">
              <a:buNone/>
            </a:pPr>
            <a:r>
              <a:rPr lang="en-US" sz="3000" b="1" dirty="0">
                <a:solidFill>
                  <a:srgbClr val="2C6E9B"/>
                </a:solidFill>
                <a:latin typeface="Calibri" pitchFamily="34" charset="0"/>
                <a:ea typeface="Calibri" pitchFamily="34" charset="-122"/>
                <a:cs typeface="Calibri" pitchFamily="34" charset="-120"/>
              </a:rPr>
              <a:t>4,7</a:t>
            </a:r>
            <a:pPr algn="l" indent="0" marL="0">
              <a:buNone/>
            </a:pPr>
            <a:r>
              <a:rPr lang="en-US" sz="1650" b="1" dirty="0">
                <a:solidFill>
                  <a:srgbClr val="2C6E9B"/>
                </a:solidFill>
                <a:latin typeface="Calibri" pitchFamily="34" charset="0"/>
                <a:ea typeface="Calibri" pitchFamily="34" charset="-122"/>
                <a:cs typeface="Calibri" pitchFamily="34" charset="-120"/>
              </a:rPr>
              <a:t> GB VRAM</a:t>
            </a:r>
            <a:endParaRPr lang="en-US" sz="3000" dirty="0"/>
          </a:p>
        </p:txBody>
      </p:sp>
      <p:sp>
        <p:nvSpPr>
          <p:cNvPr id="24" name="Text 22"/>
          <p:cNvSpPr/>
          <p:nvPr/>
        </p:nvSpPr>
        <p:spPr>
          <a:xfrm>
            <a:off x="4672584" y="2560320"/>
            <a:ext cx="3200400" cy="365760"/>
          </a:xfrm>
          <a:prstGeom prst="rect">
            <a:avLst/>
          </a:prstGeom>
          <a:noFill/>
          <a:ln/>
        </p:spPr>
        <p:txBody>
          <a:bodyPr wrap="square" lIns="0" tIns="0" rIns="0" bIns="0" rtlCol="0" anchor="t"/>
          <a:lstStyle/>
          <a:p>
            <a:pPr algn="l" indent="0" marL="0">
              <a:lnSpc>
                <a:spcPct val="100000"/>
              </a:lnSpc>
              <a:buNone/>
            </a:pPr>
            <a:r>
              <a:rPr lang="en-US" sz="900" dirty="0">
                <a:solidFill>
                  <a:srgbClr val="667E93"/>
                </a:solidFill>
                <a:latin typeface="Calibri" pitchFamily="34" charset="0"/>
                <a:ea typeface="Calibri" pitchFamily="34" charset="-122"/>
                <a:cs typeface="Calibri" pitchFamily="34" charset="-120"/>
              </a:rPr>
              <a:t>trên card RTX 3070 Ti có 8 GB  ·  RAM 4,5–6,0 GB</a:t>
            </a:r>
            <a:endParaRPr lang="en-US" sz="900" dirty="0"/>
          </a:p>
        </p:txBody>
      </p:sp>
      <p:sp>
        <p:nvSpPr>
          <p:cNvPr id="25" name="Text 23"/>
          <p:cNvSpPr/>
          <p:nvPr/>
        </p:nvSpPr>
        <p:spPr>
          <a:xfrm>
            <a:off x="4672584" y="2999232"/>
            <a:ext cx="173736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Token đầu vào</a:t>
            </a:r>
            <a:endParaRPr lang="en-US" sz="950" dirty="0"/>
          </a:p>
        </p:txBody>
      </p:sp>
      <p:sp>
        <p:nvSpPr>
          <p:cNvPr id="26" name="Text 24"/>
          <p:cNvSpPr/>
          <p:nvPr/>
        </p:nvSpPr>
        <p:spPr>
          <a:xfrm>
            <a:off x="6400800" y="2999232"/>
            <a:ext cx="15087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~520 / cảnh báo</a:t>
            </a:r>
            <a:endParaRPr lang="en-US" sz="1000" dirty="0"/>
          </a:p>
        </p:txBody>
      </p:sp>
      <p:sp>
        <p:nvSpPr>
          <p:cNvPr id="27" name="Text 25"/>
          <p:cNvSpPr/>
          <p:nvPr/>
        </p:nvSpPr>
        <p:spPr>
          <a:xfrm>
            <a:off x="4672584" y="3364992"/>
            <a:ext cx="173736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Token đầu ra</a:t>
            </a:r>
            <a:endParaRPr lang="en-US" sz="950" dirty="0"/>
          </a:p>
        </p:txBody>
      </p:sp>
      <p:sp>
        <p:nvSpPr>
          <p:cNvPr id="28" name="Text 26"/>
          <p:cNvSpPr/>
          <p:nvPr/>
        </p:nvSpPr>
        <p:spPr>
          <a:xfrm>
            <a:off x="6400800" y="3364992"/>
            <a:ext cx="15087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~160 / cảnh báo</a:t>
            </a:r>
            <a:endParaRPr lang="en-US" sz="1000" dirty="0"/>
          </a:p>
        </p:txBody>
      </p:sp>
      <p:sp>
        <p:nvSpPr>
          <p:cNvPr id="29" name="Text 27"/>
          <p:cNvSpPr/>
          <p:nvPr/>
        </p:nvSpPr>
        <p:spPr>
          <a:xfrm>
            <a:off x="4672584" y="3730752"/>
            <a:ext cx="173736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Chi phí của RAG</a:t>
            </a:r>
            <a:endParaRPr lang="en-US" sz="950" dirty="0"/>
          </a:p>
        </p:txBody>
      </p:sp>
      <p:sp>
        <p:nvSpPr>
          <p:cNvPr id="30" name="Text 28"/>
          <p:cNvSpPr/>
          <p:nvPr/>
        </p:nvSpPr>
        <p:spPr>
          <a:xfrm>
            <a:off x="6400800" y="3730752"/>
            <a:ext cx="15087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0,288 s  —  10,6%</a:t>
            </a:r>
            <a:endParaRPr lang="en-US" sz="1000" dirty="0"/>
          </a:p>
        </p:txBody>
      </p:sp>
      <p:sp>
        <p:nvSpPr>
          <p:cNvPr id="31" name="Text 29"/>
          <p:cNvSpPr/>
          <p:nvPr/>
        </p:nvSpPr>
        <p:spPr>
          <a:xfrm>
            <a:off x="4672584" y="4096512"/>
            <a:ext cx="1737360" cy="292608"/>
          </a:xfrm>
          <a:prstGeom prst="rect">
            <a:avLst/>
          </a:prstGeom>
          <a:noFill/>
          <a:ln/>
        </p:spPr>
        <p:txBody>
          <a:bodyPr wrap="square" lIns="0" tIns="0" rIns="0" bIns="0" rtlCol="0" anchor="ctr"/>
          <a:lstStyle/>
          <a:p>
            <a:pPr indent="0" marL="0">
              <a:buNone/>
            </a:pPr>
            <a:r>
              <a:rPr lang="en-US" sz="950" dirty="0">
                <a:solidFill>
                  <a:srgbClr val="667E93"/>
                </a:solidFill>
                <a:latin typeface="Calibri" pitchFamily="34" charset="0"/>
                <a:ea typeface="Calibri" pitchFamily="34" charset="-122"/>
                <a:cs typeface="Calibri" pitchFamily="34" charset="-120"/>
              </a:rPr>
              <a:t>Dung lượng mô hình</a:t>
            </a:r>
            <a:endParaRPr lang="en-US" sz="950" dirty="0"/>
          </a:p>
        </p:txBody>
      </p:sp>
      <p:sp>
        <p:nvSpPr>
          <p:cNvPr id="32" name="Text 30"/>
          <p:cNvSpPr/>
          <p:nvPr/>
        </p:nvSpPr>
        <p:spPr>
          <a:xfrm>
            <a:off x="6400800" y="4096512"/>
            <a:ext cx="1508760" cy="292608"/>
          </a:xfrm>
          <a:prstGeom prst="rect">
            <a:avLst/>
          </a:prstGeom>
          <a:noFill/>
          <a:ln/>
        </p:spPr>
        <p:txBody>
          <a:bodyPr wrap="square" lIns="0" tIns="0" rIns="0" bIns="0"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4,7 GB (Q4_K_M)</a:t>
            </a:r>
            <a:endParaRPr lang="en-US" sz="1000" dirty="0"/>
          </a:p>
        </p:txBody>
      </p:sp>
      <p:sp>
        <p:nvSpPr>
          <p:cNvPr id="33" name="Shape 31"/>
          <p:cNvSpPr/>
          <p:nvPr/>
        </p:nvSpPr>
        <p:spPr>
          <a:xfrm>
            <a:off x="8321040" y="1719072"/>
            <a:ext cx="3291840" cy="2834640"/>
          </a:xfrm>
          <a:prstGeom prst="roundRect">
            <a:avLst>
              <a:gd name="adj" fmla="val 2903"/>
            </a:avLst>
          </a:prstGeom>
          <a:solidFill>
            <a:srgbClr val="DCF0EB"/>
          </a:solidFill>
          <a:ln w="9525">
            <a:solidFill>
              <a:srgbClr val="BCE0D7"/>
            </a:solidFill>
            <a:prstDash val="solid"/>
          </a:ln>
        </p:spPr>
      </p:sp>
      <p:sp>
        <p:nvSpPr>
          <p:cNvPr id="34" name="Text 32"/>
          <p:cNvSpPr/>
          <p:nvPr/>
        </p:nvSpPr>
        <p:spPr>
          <a:xfrm>
            <a:off x="8558784" y="1847088"/>
            <a:ext cx="2834640" cy="237744"/>
          </a:xfrm>
          <a:prstGeom prst="rect">
            <a:avLst/>
          </a:prstGeom>
          <a:noFill/>
          <a:ln/>
        </p:spPr>
        <p:txBody>
          <a:bodyPr wrap="square" lIns="0" tIns="0" rIns="0" bIns="0" rtlCol="0" anchor="ctr"/>
          <a:lstStyle/>
          <a:p>
            <a:pPr indent="0" marL="0">
              <a:buNone/>
            </a:pPr>
            <a:r>
              <a:rPr lang="en-US" sz="850" b="1" spc="100" kern="0" dirty="0">
                <a:solidFill>
                  <a:srgbClr val="0E6B5A"/>
                </a:solidFill>
                <a:latin typeface="Calibri" pitchFamily="34" charset="0"/>
                <a:ea typeface="Calibri" pitchFamily="34" charset="-122"/>
                <a:cs typeface="Calibri" pitchFamily="34" charset="-120"/>
              </a:rPr>
              <a:t>Ý NGHĨA VẬN HÀNH</a:t>
            </a:r>
            <a:endParaRPr lang="en-US" sz="850" dirty="0"/>
          </a:p>
        </p:txBody>
      </p:sp>
      <p:sp>
        <p:nvSpPr>
          <p:cNvPr id="35" name="Text 33"/>
          <p:cNvSpPr/>
          <p:nvPr/>
        </p:nvSpPr>
        <p:spPr>
          <a:xfrm>
            <a:off x="8558784" y="2139696"/>
            <a:ext cx="2834640" cy="420624"/>
          </a:xfrm>
          <a:prstGeom prst="rect">
            <a:avLst/>
          </a:prstGeom>
          <a:noFill/>
          <a:ln/>
        </p:spPr>
        <p:txBody>
          <a:bodyPr wrap="square" lIns="0" tIns="0" rIns="0" bIns="0" rtlCol="0" anchor="ctr"/>
          <a:lstStyle/>
          <a:p>
            <a:pPr algn="l" indent="0" marL="0">
              <a:buNone/>
            </a:pPr>
            <a:r>
              <a:rPr lang="en-US" sz="3000" b="1" dirty="0">
                <a:solidFill>
                  <a:srgbClr val="0E6B5A"/>
                </a:solidFill>
                <a:latin typeface="Calibri" pitchFamily="34" charset="0"/>
                <a:ea typeface="Calibri" pitchFamily="34" charset="-122"/>
                <a:cs typeface="Calibri" pitchFamily="34" charset="-120"/>
              </a:rPr>
              <a:t>1,8</a:t>
            </a:r>
            <a:pPr algn="l" indent="0" marL="0">
              <a:buNone/>
            </a:pPr>
            <a:r>
              <a:rPr lang="en-US" sz="1650" b="1" dirty="0">
                <a:solidFill>
                  <a:srgbClr val="0E6B5A"/>
                </a:solidFill>
                <a:latin typeface="Calibri" pitchFamily="34" charset="0"/>
                <a:ea typeface="Calibri" pitchFamily="34" charset="-122"/>
                <a:cs typeface="Calibri" pitchFamily="34" charset="-120"/>
              </a:rPr>
              <a:t> %</a:t>
            </a:r>
            <a:endParaRPr lang="en-US" sz="3000" dirty="0"/>
          </a:p>
        </p:txBody>
      </p:sp>
      <p:sp>
        <p:nvSpPr>
          <p:cNvPr id="36" name="Text 34"/>
          <p:cNvSpPr/>
          <p:nvPr/>
        </p:nvSpPr>
        <p:spPr>
          <a:xfrm>
            <a:off x="8558784" y="2560320"/>
            <a:ext cx="2834640" cy="329184"/>
          </a:xfrm>
          <a:prstGeom prst="rect">
            <a:avLst/>
          </a:prstGeom>
          <a:noFill/>
          <a:ln/>
        </p:spPr>
        <p:txBody>
          <a:bodyPr wrap="square" lIns="0" tIns="0" rIns="0" bIns="0" rtlCol="0" anchor="t"/>
          <a:lstStyle/>
          <a:p>
            <a:pPr algn="l" indent="0" marL="0">
              <a:lnSpc>
                <a:spcPct val="100000"/>
              </a:lnSpc>
              <a:buNone/>
            </a:pPr>
            <a:r>
              <a:rPr lang="en-US" sz="900" dirty="0">
                <a:solidFill>
                  <a:srgbClr val="667E93"/>
                </a:solidFill>
                <a:latin typeface="Calibri" pitchFamily="34" charset="0"/>
                <a:ea typeface="Calibri" pitchFamily="34" charset="-122"/>
                <a:cs typeface="Calibri" pitchFamily="34" charset="-120"/>
              </a:rPr>
              <a:t>năng lực lý thuyết đang dùng</a:t>
            </a:r>
            <a:endParaRPr lang="en-US" sz="900" dirty="0"/>
          </a:p>
        </p:txBody>
      </p:sp>
      <p:sp>
        <p:nvSpPr>
          <p:cNvPr id="37" name="Text 35"/>
          <p:cNvSpPr/>
          <p:nvPr/>
        </p:nvSpPr>
        <p:spPr>
          <a:xfrm>
            <a:off x="8558784" y="2889504"/>
            <a:ext cx="2834640" cy="1005840"/>
          </a:xfrm>
          <a:prstGeom prst="rect">
            <a:avLst/>
          </a:prstGeom>
          <a:noFill/>
          <a:ln/>
        </p:spPr>
        <p:txBody>
          <a:bodyPr wrap="square" lIns="0" tIns="0" rIns="0" bIns="0" rtlCol="0" anchor="t"/>
          <a:lstStyle/>
          <a:p>
            <a:pPr indent="0" marL="0">
              <a:lnSpc>
                <a:spcPct val="105000"/>
              </a:lnSpc>
              <a:buNone/>
            </a:pPr>
            <a:r>
              <a:rPr lang="en-US" sz="950" dirty="0">
                <a:solidFill>
                  <a:srgbClr val="22303F"/>
                </a:solidFill>
                <a:latin typeface="Calibri" pitchFamily="34" charset="0"/>
                <a:ea typeface="Calibri" pitchFamily="34" charset="-122"/>
                <a:cs typeface="Calibri" pitchFamily="34" charset="-120"/>
              </a:rPr>
              <a:t>Với 2,716 giây mỗi cảnh báo theo phương thức tuần tự, năng lực lý thuyết đạt khoảng 31.800 cảnh báo trong 24 giờ. Khối lượng thực tế ghi nhận trong lab là khoảng 580 cảnh báo mỗi 24 giờ.</a:t>
            </a:r>
            <a:endParaRPr lang="en-US" sz="950" dirty="0"/>
          </a:p>
        </p:txBody>
      </p:sp>
      <p:sp>
        <p:nvSpPr>
          <p:cNvPr id="38" name="Text 36"/>
          <p:cNvSpPr/>
          <p:nvPr/>
        </p:nvSpPr>
        <p:spPr>
          <a:xfrm>
            <a:off x="8558784" y="3931920"/>
            <a:ext cx="2834640" cy="512064"/>
          </a:xfrm>
          <a:prstGeom prst="rect">
            <a:avLst/>
          </a:prstGeom>
          <a:noFill/>
          <a:ln/>
        </p:spPr>
        <p:txBody>
          <a:bodyPr wrap="square" lIns="0" tIns="0" rIns="0" bIns="0" rtlCol="0" anchor="t"/>
          <a:lstStyle/>
          <a:p>
            <a:pPr indent="0" marL="0">
              <a:lnSpc>
                <a:spcPct val="105000"/>
              </a:lnSpc>
              <a:buNone/>
            </a:pPr>
            <a:r>
              <a:rPr lang="en-US" sz="850" i="1" dirty="0">
                <a:solidFill>
                  <a:srgbClr val="667E93"/>
                </a:solidFill>
                <a:latin typeface="Calibri" pitchFamily="34" charset="0"/>
                <a:ea typeface="Calibri" pitchFamily="34" charset="-122"/>
                <a:cs typeface="Calibri" pitchFamily="34" charset="-120"/>
              </a:rPr>
              <a:t>31.800 là giá trị suy ra từ độ trễ đo trên 33 cảnh báo, chưa phải kết quả chạy liên tục 24 giờ.</a:t>
            </a:r>
            <a:endParaRPr lang="en-US" sz="850" dirty="0"/>
          </a:p>
        </p:txBody>
      </p:sp>
      <p:sp>
        <p:nvSpPr>
          <p:cNvPr id="39" name="Shape 37"/>
          <p:cNvSpPr/>
          <p:nvPr/>
        </p:nvSpPr>
        <p:spPr>
          <a:xfrm>
            <a:off x="548640" y="4700016"/>
            <a:ext cx="11064240" cy="1572768"/>
          </a:xfrm>
          <a:prstGeom prst="roundRect">
            <a:avLst>
              <a:gd name="adj" fmla="val 5233"/>
            </a:avLst>
          </a:prstGeom>
          <a:solidFill>
            <a:srgbClr val="0D1B2A"/>
          </a:solidFill>
          <a:ln w="9525">
            <a:solidFill>
              <a:srgbClr val="0D1B2A"/>
            </a:solidFill>
            <a:prstDash val="solid"/>
          </a:ln>
        </p:spPr>
      </p:sp>
      <p:sp>
        <p:nvSpPr>
          <p:cNvPr id="40" name="Text 38"/>
          <p:cNvSpPr/>
          <p:nvPr/>
        </p:nvSpPr>
        <p:spPr>
          <a:xfrm>
            <a:off x="786384" y="4809744"/>
            <a:ext cx="7315200" cy="237744"/>
          </a:xfrm>
          <a:prstGeom prst="rect">
            <a:avLst/>
          </a:prstGeom>
          <a:noFill/>
          <a:ln/>
        </p:spPr>
        <p:txBody>
          <a:bodyPr wrap="square" lIns="0" tIns="0" rIns="0" bIns="0" rtlCol="0" anchor="ctr"/>
          <a:lstStyle/>
          <a:p>
            <a:pPr indent="0" marL="0">
              <a:buNone/>
            </a:pPr>
            <a:r>
              <a:rPr lang="en-US" sz="850" b="1" spc="90" kern="0" dirty="0">
                <a:solidFill>
                  <a:srgbClr val="7794AE"/>
                </a:solidFill>
                <a:latin typeface="Calibri" pitchFamily="34" charset="0"/>
                <a:ea typeface="Calibri" pitchFamily="34" charset="-122"/>
                <a:cs typeface="Calibri" pitchFamily="34" charset="-120"/>
              </a:rPr>
              <a:t>KIỂM THỬ DƯỚI TẢI VẬN HÀNH THỰC TẾ — 40 CẢNH BÁO GỘP TRONG MỘT CỬA SỔ</a:t>
            </a:r>
            <a:endParaRPr lang="en-US" sz="850" dirty="0"/>
          </a:p>
        </p:txBody>
      </p:sp>
      <p:sp>
        <p:nvSpPr>
          <p:cNvPr id="41" name="Shape 39"/>
          <p:cNvSpPr/>
          <p:nvPr/>
        </p:nvSpPr>
        <p:spPr>
          <a:xfrm>
            <a:off x="786384" y="5138928"/>
            <a:ext cx="128016" cy="292608"/>
          </a:xfrm>
          <a:prstGeom prst="roundRect">
            <a:avLst>
              <a:gd name="adj" fmla="val 42857"/>
            </a:avLst>
          </a:prstGeom>
          <a:solidFill>
            <a:srgbClr val="1F9E86"/>
          </a:solidFill>
          <a:ln w="12700">
            <a:solidFill>
              <a:srgbClr val="1F9E86"/>
            </a:solidFill>
            <a:prstDash val="solid"/>
          </a:ln>
        </p:spPr>
      </p:sp>
      <p:sp>
        <p:nvSpPr>
          <p:cNvPr id="42" name="Text 40"/>
          <p:cNvSpPr/>
          <p:nvPr/>
        </p:nvSpPr>
        <p:spPr>
          <a:xfrm>
            <a:off x="1042416" y="5138928"/>
            <a:ext cx="1874520" cy="292608"/>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qwen2.5:7b</a:t>
            </a:r>
            <a:endParaRPr lang="en-US" sz="1050" dirty="0"/>
          </a:p>
        </p:txBody>
      </p:sp>
      <p:sp>
        <p:nvSpPr>
          <p:cNvPr id="43" name="Text 41"/>
          <p:cNvSpPr/>
          <p:nvPr/>
        </p:nvSpPr>
        <p:spPr>
          <a:xfrm>
            <a:off x="3017520" y="5138928"/>
            <a:ext cx="1417320" cy="292608"/>
          </a:xfrm>
          <a:prstGeom prst="rect">
            <a:avLst/>
          </a:prstGeom>
          <a:noFill/>
          <a:ln/>
        </p:spPr>
        <p:txBody>
          <a:bodyPr wrap="square" lIns="0" tIns="0" rIns="0" bIns="0" rtlCol="0" anchor="ctr"/>
          <a:lstStyle/>
          <a:p>
            <a:pPr indent="0" marL="0">
              <a:buNone/>
            </a:pPr>
            <a:r>
              <a:rPr lang="en-US" sz="1000" b="1" dirty="0">
                <a:solidFill>
                  <a:srgbClr val="1F9E86"/>
                </a:solidFill>
                <a:latin typeface="Calibri" pitchFamily="34" charset="0"/>
                <a:ea typeface="Calibri" pitchFamily="34" charset="-122"/>
                <a:cs typeface="Calibri" pitchFamily="34" charset="-120"/>
              </a:rPr>
              <a:t>Thành công</a:t>
            </a:r>
            <a:endParaRPr lang="en-US" sz="1000" dirty="0"/>
          </a:p>
        </p:txBody>
      </p:sp>
      <p:sp>
        <p:nvSpPr>
          <p:cNvPr id="44" name="Text 42"/>
          <p:cNvSpPr/>
          <p:nvPr/>
        </p:nvSpPr>
        <p:spPr>
          <a:xfrm>
            <a:off x="4526280" y="5138928"/>
            <a:ext cx="2606040" cy="292608"/>
          </a:xfrm>
          <a:prstGeom prst="rect">
            <a:avLst/>
          </a:prstGeom>
          <a:noFill/>
          <a:ln/>
        </p:spPr>
        <p:txBody>
          <a:bodyPr wrap="square" lIns="0" tIns="0" rIns="0" bIns="0" rtlCol="0" anchor="ctr"/>
          <a:lstStyle/>
          <a:p>
            <a:pPr indent="0" marL="0">
              <a:buNone/>
            </a:pPr>
            <a:r>
              <a:rPr lang="en-US" sz="1000" dirty="0">
                <a:solidFill>
                  <a:srgbClr val="A8C6DD"/>
                </a:solidFill>
                <a:latin typeface="Calibri" pitchFamily="34" charset="0"/>
                <a:ea typeface="Calibri" pitchFamily="34" charset="-122"/>
                <a:cs typeface="Calibri" pitchFamily="34" charset="-120"/>
              </a:rPr>
              <a:t>Hợp lệ theo lược đồ</a:t>
            </a:r>
            <a:endParaRPr lang="en-US" sz="1000" dirty="0"/>
          </a:p>
        </p:txBody>
      </p:sp>
      <p:sp>
        <p:nvSpPr>
          <p:cNvPr id="45" name="Text 43"/>
          <p:cNvSpPr/>
          <p:nvPr/>
        </p:nvSpPr>
        <p:spPr>
          <a:xfrm>
            <a:off x="7223760" y="5138928"/>
            <a:ext cx="1645920" cy="292608"/>
          </a:xfrm>
          <a:prstGeom prst="rect">
            <a:avLst/>
          </a:prstGeom>
          <a:noFill/>
          <a:ln/>
        </p:spPr>
        <p:txBody>
          <a:bodyPr wrap="square" lIns="0" tIns="0" rIns="0" bIns="0" rtlCol="0" anchor="ctr"/>
          <a:lstStyle/>
          <a:p>
            <a:pPr indent="0" marL="0">
              <a:buNone/>
            </a:pPr>
            <a:r>
              <a:rPr lang="en-US" sz="1000" dirty="0">
                <a:solidFill>
                  <a:srgbClr val="A8C6DD"/>
                </a:solidFill>
                <a:latin typeface="Calibri" pitchFamily="34" charset="0"/>
                <a:ea typeface="Calibri" pitchFamily="34" charset="-122"/>
                <a:cs typeface="Calibri" pitchFamily="34" charset="-120"/>
              </a:rPr>
              <a:t>medium</a:t>
            </a:r>
            <a:endParaRPr lang="en-US" sz="1000" dirty="0"/>
          </a:p>
        </p:txBody>
      </p:sp>
      <p:sp>
        <p:nvSpPr>
          <p:cNvPr id="46" name="Text 44"/>
          <p:cNvSpPr/>
          <p:nvPr/>
        </p:nvSpPr>
        <p:spPr>
          <a:xfrm>
            <a:off x="8961120" y="5138928"/>
            <a:ext cx="10058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13,91 s</a:t>
            </a:r>
            <a:endParaRPr lang="en-US" sz="1000" dirty="0"/>
          </a:p>
        </p:txBody>
      </p:sp>
      <p:sp>
        <p:nvSpPr>
          <p:cNvPr id="47" name="Shape 45"/>
          <p:cNvSpPr/>
          <p:nvPr/>
        </p:nvSpPr>
        <p:spPr>
          <a:xfrm>
            <a:off x="786384" y="5650992"/>
            <a:ext cx="128016" cy="292608"/>
          </a:xfrm>
          <a:prstGeom prst="roundRect">
            <a:avLst>
              <a:gd name="adj" fmla="val 42857"/>
            </a:avLst>
          </a:prstGeom>
          <a:solidFill>
            <a:srgbClr val="BE4B3B"/>
          </a:solidFill>
          <a:ln w="12700">
            <a:solidFill>
              <a:srgbClr val="BE4B3B"/>
            </a:solidFill>
            <a:prstDash val="solid"/>
          </a:ln>
        </p:spPr>
      </p:sp>
      <p:sp>
        <p:nvSpPr>
          <p:cNvPr id="48" name="Text 46"/>
          <p:cNvSpPr/>
          <p:nvPr/>
        </p:nvSpPr>
        <p:spPr>
          <a:xfrm>
            <a:off x="1042416" y="5650992"/>
            <a:ext cx="1874520" cy="292608"/>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notmythos-8b</a:t>
            </a:r>
            <a:endParaRPr lang="en-US" sz="1050" dirty="0"/>
          </a:p>
        </p:txBody>
      </p:sp>
      <p:sp>
        <p:nvSpPr>
          <p:cNvPr id="49" name="Text 47"/>
          <p:cNvSpPr/>
          <p:nvPr/>
        </p:nvSpPr>
        <p:spPr>
          <a:xfrm>
            <a:off x="3017520" y="5650992"/>
            <a:ext cx="1417320" cy="292608"/>
          </a:xfrm>
          <a:prstGeom prst="rect">
            <a:avLst/>
          </a:prstGeom>
          <a:noFill/>
          <a:ln/>
        </p:spPr>
        <p:txBody>
          <a:bodyPr wrap="square" lIns="0" tIns="0" rIns="0" bIns="0" rtlCol="0" anchor="ctr"/>
          <a:lstStyle/>
          <a:p>
            <a:pPr indent="0" marL="0">
              <a:buNone/>
            </a:pPr>
            <a:r>
              <a:rPr lang="en-US" sz="1000" b="1" dirty="0">
                <a:solidFill>
                  <a:srgbClr val="BE4B3B"/>
                </a:solidFill>
                <a:latin typeface="Calibri" pitchFamily="34" charset="0"/>
                <a:ea typeface="Calibri" pitchFamily="34" charset="-122"/>
                <a:cs typeface="Calibri" pitchFamily="34" charset="-120"/>
              </a:rPr>
              <a:t>Một phần</a:t>
            </a:r>
            <a:endParaRPr lang="en-US" sz="1000" dirty="0"/>
          </a:p>
        </p:txBody>
      </p:sp>
      <p:sp>
        <p:nvSpPr>
          <p:cNvPr id="50" name="Text 48"/>
          <p:cNvSpPr/>
          <p:nvPr/>
        </p:nvSpPr>
        <p:spPr>
          <a:xfrm>
            <a:off x="4526280" y="5650992"/>
            <a:ext cx="2606040" cy="292608"/>
          </a:xfrm>
          <a:prstGeom prst="rect">
            <a:avLst/>
          </a:prstGeom>
          <a:noFill/>
          <a:ln/>
        </p:spPr>
        <p:txBody>
          <a:bodyPr wrap="square" lIns="0" tIns="0" rIns="0" bIns="0" rtlCol="0" anchor="ctr"/>
          <a:lstStyle/>
          <a:p>
            <a:pPr indent="0" marL="0">
              <a:buNone/>
            </a:pPr>
            <a:r>
              <a:rPr lang="en-US" sz="1000" dirty="0">
                <a:solidFill>
                  <a:srgbClr val="A8C6DD"/>
                </a:solidFill>
                <a:latin typeface="Calibri" pitchFamily="34" charset="0"/>
                <a:ea typeface="Calibri" pitchFamily="34" charset="-122"/>
                <a:cs typeface="Calibri" pitchFamily="34" charset="-120"/>
              </a:rPr>
              <a:t>Rơi vào cơ chế dự phòng</a:t>
            </a:r>
            <a:endParaRPr lang="en-US" sz="1000" dirty="0"/>
          </a:p>
        </p:txBody>
      </p:sp>
      <p:sp>
        <p:nvSpPr>
          <p:cNvPr id="51" name="Text 49"/>
          <p:cNvSpPr/>
          <p:nvPr/>
        </p:nvSpPr>
        <p:spPr>
          <a:xfrm>
            <a:off x="7223760" y="5650992"/>
            <a:ext cx="1645920" cy="292608"/>
          </a:xfrm>
          <a:prstGeom prst="rect">
            <a:avLst/>
          </a:prstGeom>
          <a:noFill/>
          <a:ln/>
        </p:spPr>
        <p:txBody>
          <a:bodyPr wrap="square" lIns="0" tIns="0" rIns="0" bIns="0" rtlCol="0" anchor="ctr"/>
          <a:lstStyle/>
          <a:p>
            <a:pPr indent="0" marL="0">
              <a:buNone/>
            </a:pPr>
            <a:r>
              <a:rPr lang="en-US" sz="1000" dirty="0">
                <a:solidFill>
                  <a:srgbClr val="A8C6DD"/>
                </a:solidFill>
                <a:latin typeface="Calibri" pitchFamily="34" charset="0"/>
                <a:ea typeface="Calibri" pitchFamily="34" charset="-122"/>
                <a:cs typeface="Calibri" pitchFamily="34" charset="-120"/>
              </a:rPr>
              <a:t>không xác định</a:t>
            </a:r>
            <a:endParaRPr lang="en-US" sz="1000" dirty="0"/>
          </a:p>
        </p:txBody>
      </p:sp>
      <p:sp>
        <p:nvSpPr>
          <p:cNvPr id="52" name="Text 50"/>
          <p:cNvSpPr/>
          <p:nvPr/>
        </p:nvSpPr>
        <p:spPr>
          <a:xfrm>
            <a:off x="8961120" y="5650992"/>
            <a:ext cx="10058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5,53 s</a:t>
            </a:r>
            <a:endParaRPr lang="en-US" sz="1000" dirty="0"/>
          </a:p>
        </p:txBody>
      </p:sp>
      <p:sp>
        <p:nvSpPr>
          <p:cNvPr id="53" name="Text 51"/>
          <p:cNvSpPr/>
          <p:nvPr/>
        </p:nvSpPr>
        <p:spPr>
          <a:xfrm>
            <a:off x="10058400" y="5084064"/>
            <a:ext cx="1417320" cy="1005840"/>
          </a:xfrm>
          <a:prstGeom prst="rect">
            <a:avLst/>
          </a:prstGeom>
          <a:noFill/>
          <a:ln/>
        </p:spPr>
        <p:txBody>
          <a:bodyPr wrap="square" lIns="0" tIns="0" rIns="0" bIns="0" rtlCol="0" anchor="ctr"/>
          <a:lstStyle/>
          <a:p>
            <a:pPr indent="0" marL="0">
              <a:lnSpc>
                <a:spcPct val="105000"/>
              </a:lnSpc>
              <a:buNone/>
            </a:pPr>
            <a:r>
              <a:rPr lang="en-US" sz="850" i="1" dirty="0">
                <a:solidFill>
                  <a:srgbClr val="8FB0C8"/>
                </a:solidFill>
                <a:latin typeface="Calibri" pitchFamily="34" charset="0"/>
                <a:ea typeface="Calibri" pitchFamily="34" charset="-122"/>
                <a:cs typeface="Calibri" pitchFamily="34" charset="-120"/>
              </a:rPr>
              <a:t>Mô hình đối chứng nhanh hơn 20% và nhẹ hơn 53% VRAM trên từng cảnh báo đơn lẻ, nhưng không tuân thủ được lược đồ khi phải xử lý một lô cảnh báo gộp.</a:t>
            </a:r>
            <a:endParaRPr lang="en-US" sz="850" dirty="0"/>
          </a:p>
        </p:txBody>
      </p:sp>
      <p:sp>
        <p:nvSpPr>
          <p:cNvPr id="54" name="Text 52"/>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0E6B5A"/>
          </a:solidFill>
          <a:ln w="12700">
            <a:solidFill>
              <a:srgbClr val="0E6B5A"/>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D5F2EA"/>
                </a:solidFill>
                <a:latin typeface="Calibri" pitchFamily="34" charset="0"/>
                <a:ea typeface="Calibri" pitchFamily="34" charset="-122"/>
                <a:cs typeface="Calibri" pitchFamily="34" charset="-120"/>
              </a:rPr>
              <a:t>DEMO</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FFFFFF"/>
                </a:solidFill>
                <a:latin typeface="Calibri" pitchFamily="34" charset="0"/>
                <a:ea typeface="Calibri" pitchFamily="34" charset="-122"/>
                <a:cs typeface="Calibri" pitchFamily="34" charset="-120"/>
              </a:rPr>
              <a:t>Từ cảnh báo Wazuh đến bản phân tích có thể kiểm chứng</a:t>
            </a:r>
            <a:endParaRPr lang="en-US" sz="2600" dirty="0"/>
          </a:p>
        </p:txBody>
      </p:sp>
      <p:sp>
        <p:nvSpPr>
          <p:cNvPr id="5" name="Shape 3"/>
          <p:cNvSpPr/>
          <p:nvPr/>
        </p:nvSpPr>
        <p:spPr>
          <a:xfrm>
            <a:off x="548640" y="1700784"/>
            <a:ext cx="4663440" cy="4443984"/>
          </a:xfrm>
          <a:prstGeom prst="roundRect">
            <a:avLst>
              <a:gd name="adj" fmla="val 1852"/>
            </a:avLst>
          </a:prstGeom>
          <a:solidFill>
            <a:srgbClr val="16293D"/>
          </a:solidFill>
          <a:ln w="9525">
            <a:solidFill>
              <a:srgbClr val="2B4A66"/>
            </a:solidFill>
            <a:prstDash val="solid"/>
          </a:ln>
        </p:spPr>
      </p:sp>
      <p:sp>
        <p:nvSpPr>
          <p:cNvPr id="6" name="Text 4"/>
          <p:cNvSpPr/>
          <p:nvPr/>
        </p:nvSpPr>
        <p:spPr>
          <a:xfrm>
            <a:off x="786384" y="1828800"/>
            <a:ext cx="3657600" cy="256032"/>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KỊCH BẢN 3 – 4 PHÚT</a:t>
            </a:r>
            <a:endParaRPr lang="en-US" sz="850" dirty="0"/>
          </a:p>
        </p:txBody>
      </p:sp>
      <p:sp>
        <p:nvSpPr>
          <p:cNvPr id="7" name="Shape 5"/>
          <p:cNvSpPr/>
          <p:nvPr/>
        </p:nvSpPr>
        <p:spPr>
          <a:xfrm>
            <a:off x="804672" y="2249424"/>
            <a:ext cx="274320" cy="274320"/>
          </a:xfrm>
          <a:prstGeom prst="roundRect">
            <a:avLst>
              <a:gd name="adj" fmla="val 73333"/>
            </a:avLst>
          </a:prstGeom>
          <a:solidFill>
            <a:srgbClr val="1F9E86"/>
          </a:solidFill>
          <a:ln w="12700">
            <a:solidFill>
              <a:srgbClr val="1F9E86"/>
            </a:solidFill>
            <a:prstDash val="solid"/>
          </a:ln>
        </p:spPr>
      </p:sp>
      <p:sp>
        <p:nvSpPr>
          <p:cNvPr id="8" name="Text 6"/>
          <p:cNvSpPr/>
          <p:nvPr/>
        </p:nvSpPr>
        <p:spPr>
          <a:xfrm>
            <a:off x="804672" y="22494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207008" y="219456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Mở Wazuh Dashboard, chỉ ra nhóm cảnh báo SSH / web / FIM</a:t>
            </a:r>
            <a:endParaRPr lang="en-US" sz="1000" dirty="0"/>
          </a:p>
        </p:txBody>
      </p:sp>
      <p:sp>
        <p:nvSpPr>
          <p:cNvPr id="10" name="Shape 8"/>
          <p:cNvSpPr/>
          <p:nvPr/>
        </p:nvSpPr>
        <p:spPr>
          <a:xfrm>
            <a:off x="804672" y="2798064"/>
            <a:ext cx="274320" cy="274320"/>
          </a:xfrm>
          <a:prstGeom prst="roundRect">
            <a:avLst>
              <a:gd name="adj" fmla="val 73333"/>
            </a:avLst>
          </a:prstGeom>
          <a:solidFill>
            <a:srgbClr val="1F9E86"/>
          </a:solidFill>
          <a:ln w="12700">
            <a:solidFill>
              <a:srgbClr val="1F9E86"/>
            </a:solidFill>
            <a:prstDash val="solid"/>
          </a:ln>
        </p:spPr>
      </p:sp>
      <p:sp>
        <p:nvSpPr>
          <p:cNvPr id="11" name="Text 9"/>
          <p:cNvSpPr/>
          <p:nvPr/>
        </p:nvSpPr>
        <p:spPr>
          <a:xfrm>
            <a:off x="804672" y="2798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1207008" y="274320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Mở giao diện mô-đun, chọn cửa sổ có dữ liệu và qwen2.5:7b</a:t>
            </a:r>
            <a:endParaRPr lang="en-US" sz="1000" dirty="0"/>
          </a:p>
        </p:txBody>
      </p:sp>
      <p:sp>
        <p:nvSpPr>
          <p:cNvPr id="13" name="Shape 11"/>
          <p:cNvSpPr/>
          <p:nvPr/>
        </p:nvSpPr>
        <p:spPr>
          <a:xfrm>
            <a:off x="804672" y="3346704"/>
            <a:ext cx="274320" cy="274320"/>
          </a:xfrm>
          <a:prstGeom prst="roundRect">
            <a:avLst>
              <a:gd name="adj" fmla="val 73333"/>
            </a:avLst>
          </a:prstGeom>
          <a:solidFill>
            <a:srgbClr val="1F9E86"/>
          </a:solidFill>
          <a:ln w="12700">
            <a:solidFill>
              <a:srgbClr val="1F9E86"/>
            </a:solidFill>
            <a:prstDash val="solid"/>
          </a:ln>
        </p:spPr>
      </p:sp>
      <p:sp>
        <p:nvSpPr>
          <p:cNvPr id="14" name="Text 12"/>
          <p:cNvSpPr/>
          <p:nvPr/>
        </p:nvSpPr>
        <p:spPr>
          <a:xfrm>
            <a:off x="804672"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1207008" y="329184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Chạy phân tích, theo dõi từng bước xử lý thật</a:t>
            </a:r>
            <a:endParaRPr lang="en-US" sz="1000" dirty="0"/>
          </a:p>
        </p:txBody>
      </p:sp>
      <p:sp>
        <p:nvSpPr>
          <p:cNvPr id="16" name="Shape 14"/>
          <p:cNvSpPr/>
          <p:nvPr/>
        </p:nvSpPr>
        <p:spPr>
          <a:xfrm>
            <a:off x="804672" y="3895344"/>
            <a:ext cx="274320" cy="274320"/>
          </a:xfrm>
          <a:prstGeom prst="roundRect">
            <a:avLst>
              <a:gd name="adj" fmla="val 73333"/>
            </a:avLst>
          </a:prstGeom>
          <a:solidFill>
            <a:srgbClr val="1F9E86"/>
          </a:solidFill>
          <a:ln w="12700">
            <a:solidFill>
              <a:srgbClr val="1F9E86"/>
            </a:solidFill>
            <a:prstDash val="solid"/>
          </a:ln>
        </p:spPr>
      </p:sp>
      <p:sp>
        <p:nvSpPr>
          <p:cNvPr id="17" name="Text 15"/>
          <p:cNvSpPr/>
          <p:nvPr/>
        </p:nvSpPr>
        <p:spPr>
          <a:xfrm>
            <a:off x="804672" y="38953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1207008" y="384048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Đọc tóm tắt, nguyên nhân, mức nghiêm trọng, MITRE, bước kiểm tra</a:t>
            </a:r>
            <a:endParaRPr lang="en-US" sz="1000" dirty="0"/>
          </a:p>
        </p:txBody>
      </p:sp>
      <p:sp>
        <p:nvSpPr>
          <p:cNvPr id="19" name="Shape 17"/>
          <p:cNvSpPr/>
          <p:nvPr/>
        </p:nvSpPr>
        <p:spPr>
          <a:xfrm>
            <a:off x="804672" y="4443984"/>
            <a:ext cx="274320" cy="274320"/>
          </a:xfrm>
          <a:prstGeom prst="roundRect">
            <a:avLst>
              <a:gd name="adj" fmla="val 73333"/>
            </a:avLst>
          </a:prstGeom>
          <a:solidFill>
            <a:srgbClr val="1F9E86"/>
          </a:solidFill>
          <a:ln w="12700">
            <a:solidFill>
              <a:srgbClr val="1F9E86"/>
            </a:solidFill>
            <a:prstDash val="solid"/>
          </a:ln>
        </p:spPr>
      </p:sp>
      <p:sp>
        <p:nvSpPr>
          <p:cNvPr id="20" name="Text 18"/>
          <p:cNvSpPr/>
          <p:nvPr/>
        </p:nvSpPr>
        <p:spPr>
          <a:xfrm>
            <a:off x="804672" y="4443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Text 19"/>
          <p:cNvSpPr/>
          <p:nvPr/>
        </p:nvSpPr>
        <p:spPr>
          <a:xfrm>
            <a:off x="1207008" y="438912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Mở khối căn cứ đánh giá: quan sát / suy luận / bất định / giới hạn</a:t>
            </a:r>
            <a:endParaRPr lang="en-US" sz="1000" dirty="0"/>
          </a:p>
        </p:txBody>
      </p:sp>
      <p:sp>
        <p:nvSpPr>
          <p:cNvPr id="22" name="Shape 20"/>
          <p:cNvSpPr/>
          <p:nvPr/>
        </p:nvSpPr>
        <p:spPr>
          <a:xfrm>
            <a:off x="804672" y="4992624"/>
            <a:ext cx="274320" cy="274320"/>
          </a:xfrm>
          <a:prstGeom prst="roundRect">
            <a:avLst>
              <a:gd name="adj" fmla="val 73333"/>
            </a:avLst>
          </a:prstGeom>
          <a:solidFill>
            <a:srgbClr val="1F9E86"/>
          </a:solidFill>
          <a:ln w="12700">
            <a:solidFill>
              <a:srgbClr val="1F9E86"/>
            </a:solidFill>
            <a:prstDash val="solid"/>
          </a:ln>
        </p:spPr>
      </p:sp>
      <p:sp>
        <p:nvSpPr>
          <p:cNvPr id="23" name="Text 21"/>
          <p:cNvSpPr/>
          <p:nvPr/>
        </p:nvSpPr>
        <p:spPr>
          <a:xfrm>
            <a:off x="804672" y="49926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4" name="Text 22"/>
          <p:cNvSpPr/>
          <p:nvPr/>
        </p:nvSpPr>
        <p:spPr>
          <a:xfrm>
            <a:off x="1207008" y="493776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Chỉ ra mức mô hình đề xuất hiển thị song song mức do luật quy định</a:t>
            </a:r>
            <a:endParaRPr lang="en-US" sz="1000" dirty="0"/>
          </a:p>
        </p:txBody>
      </p:sp>
      <p:sp>
        <p:nvSpPr>
          <p:cNvPr id="25" name="Shape 23"/>
          <p:cNvSpPr/>
          <p:nvPr/>
        </p:nvSpPr>
        <p:spPr>
          <a:xfrm>
            <a:off x="804672" y="5541264"/>
            <a:ext cx="274320" cy="274320"/>
          </a:xfrm>
          <a:prstGeom prst="roundRect">
            <a:avLst>
              <a:gd name="adj" fmla="val 73333"/>
            </a:avLst>
          </a:prstGeom>
          <a:solidFill>
            <a:srgbClr val="1F9E86"/>
          </a:solidFill>
          <a:ln w="12700">
            <a:solidFill>
              <a:srgbClr val="1F9E86"/>
            </a:solidFill>
            <a:prstDash val="solid"/>
          </a:ln>
        </p:spPr>
      </p:sp>
      <p:sp>
        <p:nvSpPr>
          <p:cNvPr id="26" name="Text 24"/>
          <p:cNvSpPr/>
          <p:nvPr/>
        </p:nvSpPr>
        <p:spPr>
          <a:xfrm>
            <a:off x="804672" y="55412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7" name="Text 25"/>
          <p:cNvSpPr/>
          <p:nvPr/>
        </p:nvSpPr>
        <p:spPr>
          <a:xfrm>
            <a:off x="1207008" y="5486400"/>
            <a:ext cx="3749040" cy="457200"/>
          </a:xfrm>
          <a:prstGeom prst="rect">
            <a:avLst/>
          </a:prstGeom>
          <a:noFill/>
          <a:ln/>
        </p:spPr>
        <p:txBody>
          <a:bodyPr wrap="square" lIns="0" tIns="0" rIns="0" bIns="0" rtlCol="0" anchor="ctr"/>
          <a:lstStyle/>
          <a:p>
            <a:pPr indent="0" marL="0">
              <a:lnSpc>
                <a:spcPct val="98000"/>
              </a:lnSpc>
              <a:buNone/>
            </a:pPr>
            <a:r>
              <a:rPr lang="en-US" sz="1000" dirty="0">
                <a:solidFill>
                  <a:srgbClr val="D5E4F0"/>
                </a:solidFill>
                <a:latin typeface="Calibri" pitchFamily="34" charset="0"/>
                <a:ea typeface="Calibri" pitchFamily="34" charset="-122"/>
                <a:cs typeface="Calibri" pitchFamily="34" charset="-120"/>
              </a:rPr>
              <a:t>Ghi nhận rà soát Case-lite, xuất JSON và mở lại lịch sử job</a:t>
            </a:r>
            <a:endParaRPr lang="en-US" sz="1000" dirty="0"/>
          </a:p>
        </p:txBody>
      </p:sp>
      <p:sp>
        <p:nvSpPr>
          <p:cNvPr id="28" name="Shape 26"/>
          <p:cNvSpPr/>
          <p:nvPr/>
        </p:nvSpPr>
        <p:spPr>
          <a:xfrm>
            <a:off x="5413248" y="1700784"/>
            <a:ext cx="3108960" cy="4443984"/>
          </a:xfrm>
          <a:prstGeom prst="roundRect">
            <a:avLst>
              <a:gd name="adj" fmla="val 2647"/>
            </a:avLst>
          </a:prstGeom>
          <a:solidFill>
            <a:srgbClr val="16293D"/>
          </a:solidFill>
          <a:ln w="9525">
            <a:solidFill>
              <a:srgbClr val="2B4A66"/>
            </a:solidFill>
            <a:prstDash val="solid"/>
          </a:ln>
        </p:spPr>
      </p:sp>
      <p:sp>
        <p:nvSpPr>
          <p:cNvPr id="29" name="Text 27"/>
          <p:cNvSpPr/>
          <p:nvPr/>
        </p:nvSpPr>
        <p:spPr>
          <a:xfrm>
            <a:off x="5650992" y="1828800"/>
            <a:ext cx="2743200" cy="256032"/>
          </a:xfrm>
          <a:prstGeom prst="rect">
            <a:avLst/>
          </a:prstGeom>
          <a:noFill/>
          <a:ln/>
        </p:spPr>
        <p:txBody>
          <a:bodyPr wrap="square" lIns="0" tIns="0" rIns="0" bIns="0" rtlCol="0" anchor="ctr"/>
          <a:lstStyle/>
          <a:p>
            <a:pPr indent="0" marL="0">
              <a:buNone/>
            </a:pPr>
            <a:r>
              <a:rPr lang="en-US" sz="850" b="1" spc="110" kern="0" dirty="0">
                <a:solidFill>
                  <a:srgbClr val="7794AE"/>
                </a:solidFill>
                <a:latin typeface="Calibri" pitchFamily="34" charset="0"/>
                <a:ea typeface="Calibri" pitchFamily="34" charset="-122"/>
                <a:cs typeface="Calibri" pitchFamily="34" charset="-120"/>
              </a:rPr>
              <a:t>TIÊU CHÍ THÀNH CÔNG</a:t>
            </a:r>
            <a:endParaRPr lang="en-US" sz="850" dirty="0"/>
          </a:p>
        </p:txBody>
      </p:sp>
      <p:sp>
        <p:nvSpPr>
          <p:cNvPr id="30" name="Shape 28"/>
          <p:cNvSpPr/>
          <p:nvPr/>
        </p:nvSpPr>
        <p:spPr>
          <a:xfrm>
            <a:off x="5669280" y="2340864"/>
            <a:ext cx="137160" cy="137160"/>
          </a:xfrm>
          <a:prstGeom prst="roundRect">
            <a:avLst>
              <a:gd name="adj" fmla="val 53333"/>
            </a:avLst>
          </a:prstGeom>
          <a:solidFill>
            <a:srgbClr val="1F9E86"/>
          </a:solidFill>
          <a:ln w="12700">
            <a:solidFill>
              <a:srgbClr val="1F9E86"/>
            </a:solidFill>
            <a:prstDash val="solid"/>
          </a:ln>
        </p:spPr>
      </p:sp>
      <p:sp>
        <p:nvSpPr>
          <p:cNvPr id="31" name="Text 29"/>
          <p:cNvSpPr/>
          <p:nvPr/>
        </p:nvSpPr>
        <p:spPr>
          <a:xfrm>
            <a:off x="5943600" y="2231136"/>
            <a:ext cx="2377440" cy="603504"/>
          </a:xfrm>
          <a:prstGeom prst="rect">
            <a:avLst/>
          </a:prstGeom>
          <a:noFill/>
          <a:ln/>
        </p:spPr>
        <p:txBody>
          <a:bodyPr wrap="square" lIns="0" tIns="0" rIns="0" bIns="0" rtlCol="0" anchor="t"/>
          <a:lstStyle/>
          <a:p>
            <a:pPr indent="0" marL="0">
              <a:lnSpc>
                <a:spcPct val="102000"/>
              </a:lnSpc>
              <a:buNone/>
            </a:pPr>
            <a:r>
              <a:rPr lang="en-US" sz="1050" dirty="0">
                <a:solidFill>
                  <a:srgbClr val="D5E4F0"/>
                </a:solidFill>
                <a:latin typeface="Calibri" pitchFamily="34" charset="0"/>
                <a:ea typeface="Calibri" pitchFamily="34" charset="-122"/>
                <a:cs typeface="Calibri" pitchFamily="34" charset="-120"/>
              </a:rPr>
              <a:t>Job kết thúc ở trạng thái thành công</a:t>
            </a:r>
            <a:endParaRPr lang="en-US" sz="1050" dirty="0"/>
          </a:p>
        </p:txBody>
      </p:sp>
      <p:sp>
        <p:nvSpPr>
          <p:cNvPr id="32" name="Shape 30"/>
          <p:cNvSpPr/>
          <p:nvPr/>
        </p:nvSpPr>
        <p:spPr>
          <a:xfrm>
            <a:off x="5669280" y="3127248"/>
            <a:ext cx="137160" cy="137160"/>
          </a:xfrm>
          <a:prstGeom prst="roundRect">
            <a:avLst>
              <a:gd name="adj" fmla="val 53333"/>
            </a:avLst>
          </a:prstGeom>
          <a:solidFill>
            <a:srgbClr val="1F9E86"/>
          </a:solidFill>
          <a:ln w="12700">
            <a:solidFill>
              <a:srgbClr val="1F9E86"/>
            </a:solidFill>
            <a:prstDash val="solid"/>
          </a:ln>
        </p:spPr>
      </p:sp>
      <p:sp>
        <p:nvSpPr>
          <p:cNvPr id="33" name="Text 31"/>
          <p:cNvSpPr/>
          <p:nvPr/>
        </p:nvSpPr>
        <p:spPr>
          <a:xfrm>
            <a:off x="5943600" y="3017520"/>
            <a:ext cx="2377440" cy="603504"/>
          </a:xfrm>
          <a:prstGeom prst="rect">
            <a:avLst/>
          </a:prstGeom>
          <a:noFill/>
          <a:ln/>
        </p:spPr>
        <p:txBody>
          <a:bodyPr wrap="square" lIns="0" tIns="0" rIns="0" bIns="0" rtlCol="0" anchor="t"/>
          <a:lstStyle/>
          <a:p>
            <a:pPr indent="0" marL="0">
              <a:lnSpc>
                <a:spcPct val="102000"/>
              </a:lnSpc>
              <a:buNone/>
            </a:pPr>
            <a:r>
              <a:rPr lang="en-US" sz="1050" dirty="0">
                <a:solidFill>
                  <a:srgbClr val="D5E4F0"/>
                </a:solidFill>
                <a:latin typeface="Calibri" pitchFamily="34" charset="0"/>
                <a:ea typeface="Calibri" pitchFamily="34" charset="-122"/>
                <a:cs typeface="Calibri" pitchFamily="34" charset="-120"/>
              </a:rPr>
              <a:t>Số cảnh báo khớp cửa sổ đã chọn</a:t>
            </a:r>
            <a:endParaRPr lang="en-US" sz="1050" dirty="0"/>
          </a:p>
        </p:txBody>
      </p:sp>
      <p:sp>
        <p:nvSpPr>
          <p:cNvPr id="34" name="Shape 32"/>
          <p:cNvSpPr/>
          <p:nvPr/>
        </p:nvSpPr>
        <p:spPr>
          <a:xfrm>
            <a:off x="5669280" y="3913632"/>
            <a:ext cx="137160" cy="137160"/>
          </a:xfrm>
          <a:prstGeom prst="roundRect">
            <a:avLst>
              <a:gd name="adj" fmla="val 53333"/>
            </a:avLst>
          </a:prstGeom>
          <a:solidFill>
            <a:srgbClr val="1F9E86"/>
          </a:solidFill>
          <a:ln w="12700">
            <a:solidFill>
              <a:srgbClr val="1F9E86"/>
            </a:solidFill>
            <a:prstDash val="solid"/>
          </a:ln>
        </p:spPr>
      </p:sp>
      <p:sp>
        <p:nvSpPr>
          <p:cNvPr id="35" name="Text 33"/>
          <p:cNvSpPr/>
          <p:nvPr/>
        </p:nvSpPr>
        <p:spPr>
          <a:xfrm>
            <a:off x="5943600" y="3803904"/>
            <a:ext cx="2377440" cy="603504"/>
          </a:xfrm>
          <a:prstGeom prst="rect">
            <a:avLst/>
          </a:prstGeom>
          <a:noFill/>
          <a:ln/>
        </p:spPr>
        <p:txBody>
          <a:bodyPr wrap="square" lIns="0" tIns="0" rIns="0" bIns="0" rtlCol="0" anchor="t"/>
          <a:lstStyle/>
          <a:p>
            <a:pPr indent="0" marL="0">
              <a:lnSpc>
                <a:spcPct val="102000"/>
              </a:lnSpc>
              <a:buNone/>
            </a:pPr>
            <a:r>
              <a:rPr lang="en-US" sz="1050" dirty="0">
                <a:solidFill>
                  <a:srgbClr val="D5E4F0"/>
                </a:solidFill>
                <a:latin typeface="Calibri" pitchFamily="34" charset="0"/>
                <a:ea typeface="Calibri" pitchFamily="34" charset="-122"/>
                <a:cs typeface="Calibri" pitchFamily="34" charset="-120"/>
              </a:rPr>
              <a:t>Đầu ra đúng lược đồ, đủ sáu khối</a:t>
            </a:r>
            <a:endParaRPr lang="en-US" sz="1050" dirty="0"/>
          </a:p>
        </p:txBody>
      </p:sp>
      <p:sp>
        <p:nvSpPr>
          <p:cNvPr id="36" name="Shape 34"/>
          <p:cNvSpPr/>
          <p:nvPr/>
        </p:nvSpPr>
        <p:spPr>
          <a:xfrm>
            <a:off x="5669280" y="4700016"/>
            <a:ext cx="137160" cy="137160"/>
          </a:xfrm>
          <a:prstGeom prst="roundRect">
            <a:avLst>
              <a:gd name="adj" fmla="val 53333"/>
            </a:avLst>
          </a:prstGeom>
          <a:solidFill>
            <a:srgbClr val="1F9E86"/>
          </a:solidFill>
          <a:ln w="12700">
            <a:solidFill>
              <a:srgbClr val="1F9E86"/>
            </a:solidFill>
            <a:prstDash val="solid"/>
          </a:ln>
        </p:spPr>
      </p:sp>
      <p:sp>
        <p:nvSpPr>
          <p:cNvPr id="37" name="Text 35"/>
          <p:cNvSpPr/>
          <p:nvPr/>
        </p:nvSpPr>
        <p:spPr>
          <a:xfrm>
            <a:off x="5943600" y="4590288"/>
            <a:ext cx="2377440" cy="603504"/>
          </a:xfrm>
          <a:prstGeom prst="rect">
            <a:avLst/>
          </a:prstGeom>
          <a:noFill/>
          <a:ln/>
        </p:spPr>
        <p:txBody>
          <a:bodyPr wrap="square" lIns="0" tIns="0" rIns="0" bIns="0" rtlCol="0" anchor="t"/>
          <a:lstStyle/>
          <a:p>
            <a:pPr indent="0" marL="0">
              <a:lnSpc>
                <a:spcPct val="102000"/>
              </a:lnSpc>
              <a:buNone/>
            </a:pPr>
            <a:r>
              <a:rPr lang="en-US" sz="1050" dirty="0">
                <a:solidFill>
                  <a:srgbClr val="D5E4F0"/>
                </a:solidFill>
                <a:latin typeface="Calibri" pitchFamily="34" charset="0"/>
                <a:ea typeface="Calibri" pitchFamily="34" charset="-122"/>
                <a:cs typeface="Calibri" pitchFamily="34" charset="-120"/>
              </a:rPr>
              <a:t>Có ghi vết băm, không lộ thông tin xác thực</a:t>
            </a:r>
            <a:endParaRPr lang="en-US" sz="1050" dirty="0"/>
          </a:p>
        </p:txBody>
      </p:sp>
      <p:sp>
        <p:nvSpPr>
          <p:cNvPr id="38" name="Shape 36"/>
          <p:cNvSpPr/>
          <p:nvPr/>
        </p:nvSpPr>
        <p:spPr>
          <a:xfrm>
            <a:off x="5669280" y="5486400"/>
            <a:ext cx="137160" cy="137160"/>
          </a:xfrm>
          <a:prstGeom prst="roundRect">
            <a:avLst>
              <a:gd name="adj" fmla="val 53333"/>
            </a:avLst>
          </a:prstGeom>
          <a:solidFill>
            <a:srgbClr val="1F9E86"/>
          </a:solidFill>
          <a:ln w="12700">
            <a:solidFill>
              <a:srgbClr val="1F9E86"/>
            </a:solidFill>
            <a:prstDash val="solid"/>
          </a:ln>
        </p:spPr>
      </p:sp>
      <p:sp>
        <p:nvSpPr>
          <p:cNvPr id="39" name="Text 37"/>
          <p:cNvSpPr/>
          <p:nvPr/>
        </p:nvSpPr>
        <p:spPr>
          <a:xfrm>
            <a:off x="5943600" y="5376672"/>
            <a:ext cx="2377440" cy="603504"/>
          </a:xfrm>
          <a:prstGeom prst="rect">
            <a:avLst/>
          </a:prstGeom>
          <a:noFill/>
          <a:ln/>
        </p:spPr>
        <p:txBody>
          <a:bodyPr wrap="square" lIns="0" tIns="0" rIns="0" bIns="0" rtlCol="0" anchor="t"/>
          <a:lstStyle/>
          <a:p>
            <a:pPr indent="0" marL="0">
              <a:lnSpc>
                <a:spcPct val="102000"/>
              </a:lnSpc>
              <a:buNone/>
            </a:pPr>
            <a:r>
              <a:rPr lang="en-US" sz="1050" dirty="0">
                <a:solidFill>
                  <a:srgbClr val="D5E4F0"/>
                </a:solidFill>
                <a:latin typeface="Calibri" pitchFamily="34" charset="0"/>
                <a:ea typeface="Calibri" pitchFamily="34" charset="-122"/>
                <a:cs typeface="Calibri" pitchFamily="34" charset="-120"/>
              </a:rPr>
              <a:t>Kết quả còn nguyên sau khi tải lại trang</a:t>
            </a:r>
            <a:endParaRPr lang="en-US" sz="1050" dirty="0"/>
          </a:p>
        </p:txBody>
      </p:sp>
      <p:sp>
        <p:nvSpPr>
          <p:cNvPr id="40" name="Shape 38"/>
          <p:cNvSpPr/>
          <p:nvPr/>
        </p:nvSpPr>
        <p:spPr>
          <a:xfrm>
            <a:off x="8723376" y="1700784"/>
            <a:ext cx="2889504" cy="4443984"/>
          </a:xfrm>
          <a:prstGeom prst="roundRect">
            <a:avLst>
              <a:gd name="adj" fmla="val 2848"/>
            </a:avLst>
          </a:prstGeom>
          <a:solidFill>
            <a:srgbClr val="3A2A1E"/>
          </a:solidFill>
          <a:ln w="9525">
            <a:solidFill>
              <a:srgbClr val="6B4E2E"/>
            </a:solidFill>
            <a:prstDash val="solid"/>
          </a:ln>
        </p:spPr>
      </p:sp>
      <p:sp>
        <p:nvSpPr>
          <p:cNvPr id="41" name="Text 39"/>
          <p:cNvSpPr/>
          <p:nvPr/>
        </p:nvSpPr>
        <p:spPr>
          <a:xfrm>
            <a:off x="8942832" y="1828800"/>
            <a:ext cx="2743200" cy="256032"/>
          </a:xfrm>
          <a:prstGeom prst="rect">
            <a:avLst/>
          </a:prstGeom>
          <a:noFill/>
          <a:ln/>
        </p:spPr>
        <p:txBody>
          <a:bodyPr wrap="square" lIns="0" tIns="0" rIns="0" bIns="0" rtlCol="0" anchor="ctr"/>
          <a:lstStyle/>
          <a:p>
            <a:pPr indent="0" marL="0">
              <a:buNone/>
            </a:pPr>
            <a:r>
              <a:rPr lang="en-US" sz="850" b="1" spc="110" kern="0" dirty="0">
                <a:solidFill>
                  <a:srgbClr val="D9B778"/>
                </a:solidFill>
                <a:latin typeface="Calibri" pitchFamily="34" charset="0"/>
                <a:ea typeface="Calibri" pitchFamily="34" charset="-122"/>
                <a:cs typeface="Calibri" pitchFamily="34" charset="-120"/>
              </a:rPr>
              <a:t>PHƯƠNG ÁN DỰ PHÒNG</a:t>
            </a:r>
            <a:endParaRPr lang="en-US" sz="850" dirty="0"/>
          </a:p>
        </p:txBody>
      </p:sp>
      <p:sp>
        <p:nvSpPr>
          <p:cNvPr id="42" name="Shape 40"/>
          <p:cNvSpPr/>
          <p:nvPr/>
        </p:nvSpPr>
        <p:spPr>
          <a:xfrm>
            <a:off x="8961120" y="2340864"/>
            <a:ext cx="137160" cy="137160"/>
          </a:xfrm>
          <a:prstGeom prst="roundRect">
            <a:avLst>
              <a:gd name="adj" fmla="val 53333"/>
            </a:avLst>
          </a:prstGeom>
          <a:solidFill>
            <a:srgbClr val="D9B778"/>
          </a:solidFill>
          <a:ln w="12700">
            <a:solidFill>
              <a:srgbClr val="D9B778"/>
            </a:solidFill>
            <a:prstDash val="solid"/>
          </a:ln>
        </p:spPr>
      </p:sp>
      <p:sp>
        <p:nvSpPr>
          <p:cNvPr id="43" name="Text 41"/>
          <p:cNvSpPr/>
          <p:nvPr/>
        </p:nvSpPr>
        <p:spPr>
          <a:xfrm>
            <a:off x="9235440" y="2231136"/>
            <a:ext cx="2212848" cy="804672"/>
          </a:xfrm>
          <a:prstGeom prst="rect">
            <a:avLst/>
          </a:prstGeom>
          <a:noFill/>
          <a:ln/>
        </p:spPr>
        <p:txBody>
          <a:bodyPr wrap="square" lIns="0" tIns="0" rIns="0" bIns="0" rtlCol="0" anchor="t"/>
          <a:lstStyle/>
          <a:p>
            <a:pPr indent="0" marL="0">
              <a:lnSpc>
                <a:spcPct val="102000"/>
              </a:lnSpc>
              <a:buNone/>
            </a:pPr>
            <a:r>
              <a:rPr lang="en-US" sz="1050" dirty="0">
                <a:solidFill>
                  <a:srgbClr val="EBD8B8"/>
                </a:solidFill>
                <a:latin typeface="Calibri" pitchFamily="34" charset="0"/>
                <a:ea typeface="Calibri" pitchFamily="34" charset="-122"/>
                <a:cs typeface="Calibri" pitchFamily="34" charset="-120"/>
              </a:rPr>
              <a:t>Một cửa sổ dữ liệu đã biết chắc có cảnh báo</a:t>
            </a:r>
            <a:endParaRPr lang="en-US" sz="1050" dirty="0"/>
          </a:p>
        </p:txBody>
      </p:sp>
      <p:sp>
        <p:nvSpPr>
          <p:cNvPr id="44" name="Shape 42"/>
          <p:cNvSpPr/>
          <p:nvPr/>
        </p:nvSpPr>
        <p:spPr>
          <a:xfrm>
            <a:off x="8961120" y="3328416"/>
            <a:ext cx="137160" cy="137160"/>
          </a:xfrm>
          <a:prstGeom prst="roundRect">
            <a:avLst>
              <a:gd name="adj" fmla="val 53333"/>
            </a:avLst>
          </a:prstGeom>
          <a:solidFill>
            <a:srgbClr val="D9B778"/>
          </a:solidFill>
          <a:ln w="12700">
            <a:solidFill>
              <a:srgbClr val="D9B778"/>
            </a:solidFill>
            <a:prstDash val="solid"/>
          </a:ln>
        </p:spPr>
      </p:sp>
      <p:sp>
        <p:nvSpPr>
          <p:cNvPr id="45" name="Text 43"/>
          <p:cNvSpPr/>
          <p:nvPr/>
        </p:nvSpPr>
        <p:spPr>
          <a:xfrm>
            <a:off x="9235440" y="3218688"/>
            <a:ext cx="2212848" cy="804672"/>
          </a:xfrm>
          <a:prstGeom prst="rect">
            <a:avLst/>
          </a:prstGeom>
          <a:noFill/>
          <a:ln/>
        </p:spPr>
        <p:txBody>
          <a:bodyPr wrap="square" lIns="0" tIns="0" rIns="0" bIns="0" rtlCol="0" anchor="t"/>
          <a:lstStyle/>
          <a:p>
            <a:pPr indent="0" marL="0">
              <a:lnSpc>
                <a:spcPct val="102000"/>
              </a:lnSpc>
              <a:buNone/>
            </a:pPr>
            <a:r>
              <a:rPr lang="en-US" sz="1050" dirty="0">
                <a:solidFill>
                  <a:srgbClr val="EBD8B8"/>
                </a:solidFill>
                <a:latin typeface="Calibri" pitchFamily="34" charset="0"/>
                <a:ea typeface="Calibri" pitchFamily="34" charset="-122"/>
                <a:cs typeface="Calibri" pitchFamily="34" charset="-120"/>
              </a:rPr>
              <a:t>Một job đã hoàn tất, mở lại được ngay</a:t>
            </a:r>
            <a:endParaRPr lang="en-US" sz="1050" dirty="0"/>
          </a:p>
        </p:txBody>
      </p:sp>
      <p:sp>
        <p:nvSpPr>
          <p:cNvPr id="46" name="Shape 44"/>
          <p:cNvSpPr/>
          <p:nvPr/>
        </p:nvSpPr>
        <p:spPr>
          <a:xfrm>
            <a:off x="8961120" y="4315968"/>
            <a:ext cx="137160" cy="137160"/>
          </a:xfrm>
          <a:prstGeom prst="roundRect">
            <a:avLst>
              <a:gd name="adj" fmla="val 53333"/>
            </a:avLst>
          </a:prstGeom>
          <a:solidFill>
            <a:srgbClr val="D9B778"/>
          </a:solidFill>
          <a:ln w="12700">
            <a:solidFill>
              <a:srgbClr val="D9B778"/>
            </a:solidFill>
            <a:prstDash val="solid"/>
          </a:ln>
        </p:spPr>
      </p:sp>
      <p:sp>
        <p:nvSpPr>
          <p:cNvPr id="47" name="Text 45"/>
          <p:cNvSpPr/>
          <p:nvPr/>
        </p:nvSpPr>
        <p:spPr>
          <a:xfrm>
            <a:off x="9235440" y="4206240"/>
            <a:ext cx="2212848" cy="804672"/>
          </a:xfrm>
          <a:prstGeom prst="rect">
            <a:avLst/>
          </a:prstGeom>
          <a:noFill/>
          <a:ln/>
        </p:spPr>
        <p:txBody>
          <a:bodyPr wrap="square" lIns="0" tIns="0" rIns="0" bIns="0" rtlCol="0" anchor="t"/>
          <a:lstStyle/>
          <a:p>
            <a:pPr indent="0" marL="0">
              <a:lnSpc>
                <a:spcPct val="102000"/>
              </a:lnSpc>
              <a:buNone/>
            </a:pPr>
            <a:r>
              <a:rPr lang="en-US" sz="1050" dirty="0">
                <a:solidFill>
                  <a:srgbClr val="EBD8B8"/>
                </a:solidFill>
                <a:latin typeface="Calibri" pitchFamily="34" charset="0"/>
                <a:ea typeface="Calibri" pitchFamily="34" charset="-122"/>
                <a:cs typeface="Calibri" pitchFamily="34" charset="-120"/>
              </a:rPr>
              <a:t>Video quay sẵn 60 – 90 giây</a:t>
            </a:r>
            <a:endParaRPr lang="en-US" sz="1050" dirty="0"/>
          </a:p>
        </p:txBody>
      </p:sp>
      <p:sp>
        <p:nvSpPr>
          <p:cNvPr id="48" name="Shape 46"/>
          <p:cNvSpPr/>
          <p:nvPr/>
        </p:nvSpPr>
        <p:spPr>
          <a:xfrm>
            <a:off x="8961120" y="5303520"/>
            <a:ext cx="137160" cy="137160"/>
          </a:xfrm>
          <a:prstGeom prst="roundRect">
            <a:avLst>
              <a:gd name="adj" fmla="val 53333"/>
            </a:avLst>
          </a:prstGeom>
          <a:solidFill>
            <a:srgbClr val="D9B778"/>
          </a:solidFill>
          <a:ln w="12700">
            <a:solidFill>
              <a:srgbClr val="D9B778"/>
            </a:solidFill>
            <a:prstDash val="solid"/>
          </a:ln>
        </p:spPr>
      </p:sp>
      <p:sp>
        <p:nvSpPr>
          <p:cNvPr id="49" name="Text 47"/>
          <p:cNvSpPr/>
          <p:nvPr/>
        </p:nvSpPr>
        <p:spPr>
          <a:xfrm>
            <a:off x="9235440" y="5193792"/>
            <a:ext cx="2212848" cy="804672"/>
          </a:xfrm>
          <a:prstGeom prst="rect">
            <a:avLst/>
          </a:prstGeom>
          <a:noFill/>
          <a:ln/>
        </p:spPr>
        <p:txBody>
          <a:bodyPr wrap="square" lIns="0" tIns="0" rIns="0" bIns="0" rtlCol="0" anchor="t"/>
          <a:lstStyle/>
          <a:p>
            <a:pPr indent="0" marL="0">
              <a:lnSpc>
                <a:spcPct val="102000"/>
              </a:lnSpc>
              <a:buNone/>
            </a:pPr>
            <a:r>
              <a:rPr lang="en-US" sz="1050" dirty="0">
                <a:solidFill>
                  <a:srgbClr val="EBD8B8"/>
                </a:solidFill>
                <a:latin typeface="Calibri" pitchFamily="34" charset="0"/>
                <a:ea typeface="Calibri" pitchFamily="34" charset="-122"/>
                <a:cs typeface="Calibri" pitchFamily="34" charset="-120"/>
              </a:rPr>
              <a:t>Không phụ thuộc việc gửi Telegram hay Gmail trực tiếp trong buổi bảo vệ</a:t>
            </a:r>
            <a:endParaRPr lang="en-US" sz="1050" dirty="0"/>
          </a:p>
        </p:txBody>
      </p:sp>
      <p:sp>
        <p:nvSpPr>
          <p:cNvPr id="50" name="Text 48"/>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2B4A6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 y="1133856"/>
            <a:ext cx="1417320" cy="292608"/>
          </a:xfrm>
          <a:prstGeom prst="roundRect">
            <a:avLst>
              <a:gd name="adj" fmla="val 50000"/>
            </a:avLst>
          </a:prstGeom>
          <a:solidFill>
            <a:srgbClr val="0E6B5A"/>
          </a:solidFill>
          <a:ln w="12700">
            <a:solidFill>
              <a:srgbClr val="0E6B5A"/>
            </a:solidFill>
            <a:prstDash val="solid"/>
          </a:ln>
        </p:spPr>
      </p:sp>
      <p:sp>
        <p:nvSpPr>
          <p:cNvPr id="3" name="Text 1"/>
          <p:cNvSpPr/>
          <p:nvPr/>
        </p:nvSpPr>
        <p:spPr>
          <a:xfrm>
            <a:off x="685800" y="1133856"/>
            <a:ext cx="1417320" cy="292608"/>
          </a:xfrm>
          <a:prstGeom prst="rect">
            <a:avLst/>
          </a:prstGeom>
          <a:noFill/>
          <a:ln/>
        </p:spPr>
        <p:txBody>
          <a:bodyPr wrap="square" lIns="0" tIns="0" rIns="0" bIns="0" rtlCol="0" anchor="ctr"/>
          <a:lstStyle/>
          <a:p>
            <a:pPr algn="ctr" indent="0" marL="0">
              <a:buNone/>
            </a:pPr>
            <a:r>
              <a:rPr lang="en-US" sz="900" b="1" spc="110" kern="0" dirty="0">
                <a:solidFill>
                  <a:srgbClr val="D5F2EA"/>
                </a:solidFill>
                <a:latin typeface="Calibri" pitchFamily="34" charset="0"/>
                <a:ea typeface="Calibri" pitchFamily="34" charset="-122"/>
                <a:cs typeface="Calibri" pitchFamily="34" charset="-120"/>
              </a:rPr>
              <a:t>PHỤ LỤC</a:t>
            </a:r>
            <a:endParaRPr lang="en-US" sz="900" dirty="0"/>
          </a:p>
        </p:txBody>
      </p:sp>
      <p:sp>
        <p:nvSpPr>
          <p:cNvPr id="4" name="Text 2"/>
          <p:cNvSpPr/>
          <p:nvPr/>
        </p:nvSpPr>
        <p:spPr>
          <a:xfrm>
            <a:off x="658368" y="155448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Chuẩn bị sẵn, không trình bày mặc định</a:t>
            </a:r>
            <a:endParaRPr lang="en-US" sz="3400" dirty="0"/>
          </a:p>
        </p:txBody>
      </p:sp>
      <p:sp>
        <p:nvSpPr>
          <p:cNvPr id="5" name="Text 3"/>
          <p:cNvSpPr/>
          <p:nvPr/>
        </p:nvSpPr>
        <p:spPr>
          <a:xfrm>
            <a:off x="685800" y="2249424"/>
            <a:ext cx="7315200" cy="365760"/>
          </a:xfrm>
          <a:prstGeom prst="rect">
            <a:avLst/>
          </a:prstGeom>
          <a:noFill/>
          <a:ln/>
        </p:spPr>
        <p:txBody>
          <a:bodyPr wrap="square" lIns="0" tIns="0" rIns="0" bIns="0" rtlCol="0" anchor="ctr"/>
          <a:lstStyle/>
          <a:p>
            <a:pPr indent="0" marL="0">
              <a:buNone/>
            </a:pPr>
            <a:r>
              <a:rPr lang="en-US" sz="1300" dirty="0">
                <a:solidFill>
                  <a:srgbClr val="8FB0C8"/>
                </a:solidFill>
                <a:latin typeface="Calibri" pitchFamily="34" charset="0"/>
                <a:ea typeface="Calibri" pitchFamily="34" charset="-122"/>
                <a:cs typeface="Calibri" pitchFamily="34" charset="-120"/>
              </a:rPr>
              <a:t>Mười nội dung dưới đây chỉ mở khi hội đồng hỏi tới.</a:t>
            </a:r>
            <a:endParaRPr lang="en-US" sz="1300" dirty="0"/>
          </a:p>
        </p:txBody>
      </p:sp>
      <p:sp>
        <p:nvSpPr>
          <p:cNvPr id="6" name="Shape 4"/>
          <p:cNvSpPr/>
          <p:nvPr/>
        </p:nvSpPr>
        <p:spPr>
          <a:xfrm>
            <a:off x="685800" y="2980944"/>
            <a:ext cx="658368" cy="310896"/>
          </a:xfrm>
          <a:prstGeom prst="roundRect">
            <a:avLst>
              <a:gd name="adj" fmla="val 50000"/>
            </a:avLst>
          </a:prstGeom>
          <a:solidFill>
            <a:srgbClr val="16293D"/>
          </a:solidFill>
          <a:ln w="9525">
            <a:solidFill>
              <a:srgbClr val="2B4A66"/>
            </a:solidFill>
            <a:prstDash val="solid"/>
          </a:ln>
        </p:spPr>
      </p:sp>
      <p:sp>
        <p:nvSpPr>
          <p:cNvPr id="7" name="Text 5"/>
          <p:cNvSpPr/>
          <p:nvPr/>
        </p:nvSpPr>
        <p:spPr>
          <a:xfrm>
            <a:off x="685800" y="2980944"/>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PL-1</a:t>
            </a:r>
            <a:endParaRPr lang="en-US" sz="900" dirty="0"/>
          </a:p>
        </p:txBody>
      </p:sp>
      <p:sp>
        <p:nvSpPr>
          <p:cNvPr id="8" name="Text 6"/>
          <p:cNvSpPr/>
          <p:nvPr/>
        </p:nvSpPr>
        <p:spPr>
          <a:xfrm>
            <a:off x="1508760" y="2944368"/>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Cấu hình phần cứng và phiên bản phần mềm</a:t>
            </a:r>
            <a:endParaRPr lang="en-US" sz="1150" dirty="0"/>
          </a:p>
        </p:txBody>
      </p:sp>
      <p:sp>
        <p:nvSpPr>
          <p:cNvPr id="9" name="Shape 7"/>
          <p:cNvSpPr/>
          <p:nvPr/>
        </p:nvSpPr>
        <p:spPr>
          <a:xfrm>
            <a:off x="6309360" y="2980944"/>
            <a:ext cx="658368" cy="310896"/>
          </a:xfrm>
          <a:prstGeom prst="roundRect">
            <a:avLst>
              <a:gd name="adj" fmla="val 50000"/>
            </a:avLst>
          </a:prstGeom>
          <a:solidFill>
            <a:srgbClr val="16293D"/>
          </a:solidFill>
          <a:ln w="9525">
            <a:solidFill>
              <a:srgbClr val="2B4A66"/>
            </a:solidFill>
            <a:prstDash val="solid"/>
          </a:ln>
        </p:spPr>
      </p:sp>
      <p:sp>
        <p:nvSpPr>
          <p:cNvPr id="10" name="Text 8"/>
          <p:cNvSpPr/>
          <p:nvPr/>
        </p:nvSpPr>
        <p:spPr>
          <a:xfrm>
            <a:off x="6309360" y="2980944"/>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PL-2</a:t>
            </a:r>
            <a:endParaRPr lang="en-US" sz="900" dirty="0"/>
          </a:p>
        </p:txBody>
      </p:sp>
      <p:sp>
        <p:nvSpPr>
          <p:cNvPr id="11" name="Text 9"/>
          <p:cNvSpPr/>
          <p:nvPr/>
        </p:nvSpPr>
        <p:spPr>
          <a:xfrm>
            <a:off x="7132320" y="2944368"/>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Yêu cầu chức năng FR-01 … FR-13 và phi chức năng</a:t>
            </a:r>
            <a:endParaRPr lang="en-US" sz="1150" dirty="0"/>
          </a:p>
        </p:txBody>
      </p:sp>
      <p:sp>
        <p:nvSpPr>
          <p:cNvPr id="12" name="Shape 10"/>
          <p:cNvSpPr/>
          <p:nvPr/>
        </p:nvSpPr>
        <p:spPr>
          <a:xfrm>
            <a:off x="685800" y="3694176"/>
            <a:ext cx="658368" cy="310896"/>
          </a:xfrm>
          <a:prstGeom prst="roundRect">
            <a:avLst>
              <a:gd name="adj" fmla="val 50000"/>
            </a:avLst>
          </a:prstGeom>
          <a:solidFill>
            <a:srgbClr val="16293D"/>
          </a:solidFill>
          <a:ln w="9525">
            <a:solidFill>
              <a:srgbClr val="2B4A66"/>
            </a:solidFill>
            <a:prstDash val="solid"/>
          </a:ln>
        </p:spPr>
      </p:sp>
      <p:sp>
        <p:nvSpPr>
          <p:cNvPr id="13" name="Text 11"/>
          <p:cNvSpPr/>
          <p:nvPr/>
        </p:nvSpPr>
        <p:spPr>
          <a:xfrm>
            <a:off x="685800" y="3694176"/>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PL-3</a:t>
            </a:r>
            <a:endParaRPr lang="en-US" sz="900" dirty="0"/>
          </a:p>
        </p:txBody>
      </p:sp>
      <p:sp>
        <p:nvSpPr>
          <p:cNvPr id="14" name="Text 12"/>
          <p:cNvSpPr/>
          <p:nvPr/>
        </p:nvSpPr>
        <p:spPr>
          <a:xfrm>
            <a:off x="1508760" y="3657600"/>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Danh sách 33 case và nhãn tham chiếu</a:t>
            </a:r>
            <a:endParaRPr lang="en-US" sz="1150" dirty="0"/>
          </a:p>
        </p:txBody>
      </p:sp>
      <p:sp>
        <p:nvSpPr>
          <p:cNvPr id="15" name="Shape 13"/>
          <p:cNvSpPr/>
          <p:nvPr/>
        </p:nvSpPr>
        <p:spPr>
          <a:xfrm>
            <a:off x="6309360" y="3694176"/>
            <a:ext cx="658368" cy="310896"/>
          </a:xfrm>
          <a:prstGeom prst="roundRect">
            <a:avLst>
              <a:gd name="adj" fmla="val 50000"/>
            </a:avLst>
          </a:prstGeom>
          <a:solidFill>
            <a:srgbClr val="16293D"/>
          </a:solidFill>
          <a:ln w="9525">
            <a:solidFill>
              <a:srgbClr val="2B4A66"/>
            </a:solidFill>
            <a:prstDash val="solid"/>
          </a:ln>
        </p:spPr>
      </p:sp>
      <p:sp>
        <p:nvSpPr>
          <p:cNvPr id="16" name="Text 14"/>
          <p:cNvSpPr/>
          <p:nvPr/>
        </p:nvSpPr>
        <p:spPr>
          <a:xfrm>
            <a:off x="6309360" y="3694176"/>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PL-4</a:t>
            </a:r>
            <a:endParaRPr lang="en-US" sz="900" dirty="0"/>
          </a:p>
        </p:txBody>
      </p:sp>
      <p:sp>
        <p:nvSpPr>
          <p:cNvPr id="17" name="Text 15"/>
          <p:cNvSpPr/>
          <p:nvPr/>
        </p:nvSpPr>
        <p:spPr>
          <a:xfrm>
            <a:off x="7132320" y="3657600"/>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Case truy xuất tăng cường làm tốt hơn / tệ hơn</a:t>
            </a:r>
            <a:endParaRPr lang="en-US" sz="1150" dirty="0"/>
          </a:p>
        </p:txBody>
      </p:sp>
      <p:sp>
        <p:nvSpPr>
          <p:cNvPr id="18" name="Shape 16"/>
          <p:cNvSpPr/>
          <p:nvPr/>
        </p:nvSpPr>
        <p:spPr>
          <a:xfrm>
            <a:off x="685800" y="4407408"/>
            <a:ext cx="658368" cy="310896"/>
          </a:xfrm>
          <a:prstGeom prst="roundRect">
            <a:avLst>
              <a:gd name="adj" fmla="val 50000"/>
            </a:avLst>
          </a:prstGeom>
          <a:solidFill>
            <a:srgbClr val="16293D"/>
          </a:solidFill>
          <a:ln w="9525">
            <a:solidFill>
              <a:srgbClr val="2B4A66"/>
            </a:solidFill>
            <a:prstDash val="solid"/>
          </a:ln>
        </p:spPr>
      </p:sp>
      <p:sp>
        <p:nvSpPr>
          <p:cNvPr id="19" name="Text 17"/>
          <p:cNvSpPr/>
          <p:nvPr/>
        </p:nvSpPr>
        <p:spPr>
          <a:xfrm>
            <a:off x="685800" y="4407408"/>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PL-5</a:t>
            </a:r>
            <a:endParaRPr lang="en-US" sz="900" dirty="0"/>
          </a:p>
        </p:txBody>
      </p:sp>
      <p:sp>
        <p:nvSpPr>
          <p:cNvPr id="20" name="Text 18"/>
          <p:cNvSpPr/>
          <p:nvPr/>
        </p:nvSpPr>
        <p:spPr>
          <a:xfrm>
            <a:off x="1508760" y="4370832"/>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Cách tính McNemar và khoảng tin cậy Wilson</a:t>
            </a:r>
            <a:endParaRPr lang="en-US" sz="1150" dirty="0"/>
          </a:p>
        </p:txBody>
      </p:sp>
      <p:sp>
        <p:nvSpPr>
          <p:cNvPr id="21" name="Shape 19"/>
          <p:cNvSpPr/>
          <p:nvPr/>
        </p:nvSpPr>
        <p:spPr>
          <a:xfrm>
            <a:off x="6309360" y="4407408"/>
            <a:ext cx="658368" cy="310896"/>
          </a:xfrm>
          <a:prstGeom prst="roundRect">
            <a:avLst>
              <a:gd name="adj" fmla="val 50000"/>
            </a:avLst>
          </a:prstGeom>
          <a:solidFill>
            <a:srgbClr val="16293D"/>
          </a:solidFill>
          <a:ln w="9525">
            <a:solidFill>
              <a:srgbClr val="2B4A66"/>
            </a:solidFill>
            <a:prstDash val="solid"/>
          </a:ln>
        </p:spPr>
      </p:sp>
      <p:sp>
        <p:nvSpPr>
          <p:cNvPr id="22" name="Text 20"/>
          <p:cNvSpPr/>
          <p:nvPr/>
        </p:nvSpPr>
        <p:spPr>
          <a:xfrm>
            <a:off x="6309360" y="4407408"/>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PL-6</a:t>
            </a:r>
            <a:endParaRPr lang="en-US" sz="900" dirty="0"/>
          </a:p>
        </p:txBody>
      </p:sp>
      <p:sp>
        <p:nvSpPr>
          <p:cNvPr id="23" name="Text 21"/>
          <p:cNvSpPr/>
          <p:nvPr/>
        </p:nvSpPr>
        <p:spPr>
          <a:xfrm>
            <a:off x="7132320" y="4370832"/>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Ranh giới tin cậy và năm nhóm rủi ro khi dùng LLM</a:t>
            </a:r>
            <a:endParaRPr lang="en-US" sz="1150" dirty="0"/>
          </a:p>
        </p:txBody>
      </p:sp>
      <p:sp>
        <p:nvSpPr>
          <p:cNvPr id="24" name="Shape 22"/>
          <p:cNvSpPr/>
          <p:nvPr/>
        </p:nvSpPr>
        <p:spPr>
          <a:xfrm>
            <a:off x="685800" y="5120640"/>
            <a:ext cx="658368" cy="310896"/>
          </a:xfrm>
          <a:prstGeom prst="roundRect">
            <a:avLst>
              <a:gd name="adj" fmla="val 50000"/>
            </a:avLst>
          </a:prstGeom>
          <a:solidFill>
            <a:srgbClr val="16293D"/>
          </a:solidFill>
          <a:ln w="9525">
            <a:solidFill>
              <a:srgbClr val="2B4A66"/>
            </a:solidFill>
            <a:prstDash val="solid"/>
          </a:ln>
        </p:spPr>
      </p:sp>
      <p:sp>
        <p:nvSpPr>
          <p:cNvPr id="25" name="Text 23"/>
          <p:cNvSpPr/>
          <p:nvPr/>
        </p:nvSpPr>
        <p:spPr>
          <a:xfrm>
            <a:off x="685800" y="5120640"/>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PL-7</a:t>
            </a:r>
            <a:endParaRPr lang="en-US" sz="900" dirty="0"/>
          </a:p>
        </p:txBody>
      </p:sp>
      <p:sp>
        <p:nvSpPr>
          <p:cNvPr id="26" name="Text 24"/>
          <p:cNvSpPr/>
          <p:nvPr/>
        </p:nvSpPr>
        <p:spPr>
          <a:xfrm>
            <a:off x="1508760" y="5084064"/>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Sơ đồ mạng lab và cây thư mục mã nguồn</a:t>
            </a:r>
            <a:endParaRPr lang="en-US" sz="1150" dirty="0"/>
          </a:p>
        </p:txBody>
      </p:sp>
      <p:sp>
        <p:nvSpPr>
          <p:cNvPr id="27" name="Shape 25"/>
          <p:cNvSpPr/>
          <p:nvPr/>
        </p:nvSpPr>
        <p:spPr>
          <a:xfrm>
            <a:off x="6309360" y="5120640"/>
            <a:ext cx="658368" cy="310896"/>
          </a:xfrm>
          <a:prstGeom prst="roundRect">
            <a:avLst>
              <a:gd name="adj" fmla="val 50000"/>
            </a:avLst>
          </a:prstGeom>
          <a:solidFill>
            <a:srgbClr val="16293D"/>
          </a:solidFill>
          <a:ln w="9525">
            <a:solidFill>
              <a:srgbClr val="2B4A66"/>
            </a:solidFill>
            <a:prstDash val="solid"/>
          </a:ln>
        </p:spPr>
      </p:sp>
      <p:sp>
        <p:nvSpPr>
          <p:cNvPr id="28" name="Text 26"/>
          <p:cNvSpPr/>
          <p:nvPr/>
        </p:nvSpPr>
        <p:spPr>
          <a:xfrm>
            <a:off x="6309360" y="5120640"/>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PL-8</a:t>
            </a:r>
            <a:endParaRPr lang="en-US" sz="900" dirty="0"/>
          </a:p>
        </p:txBody>
      </p:sp>
      <p:sp>
        <p:nvSpPr>
          <p:cNvPr id="29" name="Text 27"/>
          <p:cNvSpPr/>
          <p:nvPr/>
        </p:nvSpPr>
        <p:spPr>
          <a:xfrm>
            <a:off x="7132320" y="5084064"/>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Sáu sự cố khi triển khai và cách khắc phục</a:t>
            </a:r>
            <a:endParaRPr lang="en-US" sz="1150" dirty="0"/>
          </a:p>
        </p:txBody>
      </p:sp>
      <p:sp>
        <p:nvSpPr>
          <p:cNvPr id="30" name="Shape 28"/>
          <p:cNvSpPr/>
          <p:nvPr/>
        </p:nvSpPr>
        <p:spPr>
          <a:xfrm>
            <a:off x="685800" y="5833872"/>
            <a:ext cx="658368" cy="310896"/>
          </a:xfrm>
          <a:prstGeom prst="roundRect">
            <a:avLst>
              <a:gd name="adj" fmla="val 50000"/>
            </a:avLst>
          </a:prstGeom>
          <a:solidFill>
            <a:srgbClr val="16293D"/>
          </a:solidFill>
          <a:ln w="9525">
            <a:solidFill>
              <a:srgbClr val="2B4A66"/>
            </a:solidFill>
            <a:prstDash val="solid"/>
          </a:ln>
        </p:spPr>
      </p:sp>
      <p:sp>
        <p:nvSpPr>
          <p:cNvPr id="31" name="Text 29"/>
          <p:cNvSpPr/>
          <p:nvPr/>
        </p:nvSpPr>
        <p:spPr>
          <a:xfrm>
            <a:off x="685800" y="5833872"/>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PL-9</a:t>
            </a:r>
            <a:endParaRPr lang="en-US" sz="900" dirty="0"/>
          </a:p>
        </p:txBody>
      </p:sp>
      <p:sp>
        <p:nvSpPr>
          <p:cNvPr id="32" name="Text 30"/>
          <p:cNvSpPr/>
          <p:nvPr/>
        </p:nvSpPr>
        <p:spPr>
          <a:xfrm>
            <a:off x="1508760" y="5797296"/>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Các lỗi thường gặp trong nội dung mô hình sinh ra</a:t>
            </a:r>
            <a:endParaRPr lang="en-US" sz="1150" dirty="0"/>
          </a:p>
        </p:txBody>
      </p:sp>
      <p:sp>
        <p:nvSpPr>
          <p:cNvPr id="33" name="Shape 31"/>
          <p:cNvSpPr/>
          <p:nvPr/>
        </p:nvSpPr>
        <p:spPr>
          <a:xfrm>
            <a:off x="6309360" y="5833872"/>
            <a:ext cx="658368" cy="310896"/>
          </a:xfrm>
          <a:prstGeom prst="roundRect">
            <a:avLst>
              <a:gd name="adj" fmla="val 50000"/>
            </a:avLst>
          </a:prstGeom>
          <a:solidFill>
            <a:srgbClr val="16293D"/>
          </a:solidFill>
          <a:ln w="9525">
            <a:solidFill>
              <a:srgbClr val="2B4A66"/>
            </a:solidFill>
            <a:prstDash val="solid"/>
          </a:ln>
        </p:spPr>
      </p:sp>
      <p:sp>
        <p:nvSpPr>
          <p:cNvPr id="34" name="Text 32"/>
          <p:cNvSpPr/>
          <p:nvPr/>
        </p:nvSpPr>
        <p:spPr>
          <a:xfrm>
            <a:off x="6309360" y="5833872"/>
            <a:ext cx="658368" cy="310896"/>
          </a:xfrm>
          <a:prstGeom prst="rect">
            <a:avLst/>
          </a:prstGeom>
          <a:noFill/>
          <a:ln/>
        </p:spPr>
        <p:txBody>
          <a:bodyPr wrap="square" lIns="0" tIns="0" rIns="0" bIns="0" rtlCol="0" anchor="ctr"/>
          <a:lstStyle/>
          <a:p>
            <a:pPr algn="ctr" indent="0" marL="0">
              <a:buNone/>
            </a:pPr>
            <a:r>
              <a:rPr lang="en-US" sz="900" b="1" dirty="0">
                <a:solidFill>
                  <a:srgbClr val="1F9E86"/>
                </a:solidFill>
                <a:latin typeface="Calibri" pitchFamily="34" charset="0"/>
                <a:ea typeface="Calibri" pitchFamily="34" charset="-122"/>
                <a:cs typeface="Calibri" pitchFamily="34" charset="-120"/>
              </a:rPr>
              <a:t>PL-10</a:t>
            </a:r>
            <a:endParaRPr lang="en-US" sz="900" dirty="0"/>
          </a:p>
        </p:txBody>
      </p:sp>
      <p:sp>
        <p:nvSpPr>
          <p:cNvPr id="35" name="Text 33"/>
          <p:cNvSpPr/>
          <p:nvPr/>
        </p:nvSpPr>
        <p:spPr>
          <a:xfrm>
            <a:off x="7132320" y="5797296"/>
            <a:ext cx="4617720" cy="384048"/>
          </a:xfrm>
          <a:prstGeom prst="rect">
            <a:avLst/>
          </a:prstGeom>
          <a:noFill/>
          <a:ln/>
        </p:spPr>
        <p:txBody>
          <a:bodyPr wrap="square" lIns="0" tIns="0" rIns="0" bIns="0" rtlCol="0" anchor="ctr"/>
          <a:lstStyle/>
          <a:p>
            <a:pPr indent="0" marL="0">
              <a:buNone/>
            </a:pPr>
            <a:r>
              <a:rPr lang="en-US" sz="1150" dirty="0">
                <a:solidFill>
                  <a:srgbClr val="D5E4F0"/>
                </a:solidFill>
                <a:latin typeface="Calibri" pitchFamily="34" charset="0"/>
                <a:ea typeface="Calibri" pitchFamily="34" charset="-122"/>
                <a:cs typeface="Calibri" pitchFamily="34" charset="-120"/>
              </a:rPr>
              <a:t>Hạn chế và bốn hướng phát triển tiếp theo</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1</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Cấu hình phần cứng, phần mềm và hai mô hình ngôn ngữ</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5394960" cy="914400"/>
        </p:xfrm>
        <a:graphic>
          <a:graphicData uri="http://schemas.openxmlformats.org/drawingml/2006/table">
            <a:tbl>
              <a:tblPr/>
              <a:tblGrid>
                <a:gridCol w="2331720"/>
                <a:gridCol w="3063240"/>
              </a:tblGrid>
              <a:tr h="3017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Máy chủ AI (máy vật lý)</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Thông số</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Bộ xử lý</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Intel Core i7 gen 12 — 12700</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Bộ nhớ RAM</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32 GB</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Card đồ họa / VRAM</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NVIDIA GeForce RTX 3070 Ti — 8 GB</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Hệ điều hành</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Windows 11 Pro (build 10.0.26200)</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Phục vụ mô hình</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Ollama 0.6.2</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Ngôn ngữ</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Python 3.12.7</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Ảo hóa</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VMware Workstation 17 Pro</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Container</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50" dirty="0">
                          <a:solidFill>
                            <a:srgbClr val="22303F"/>
                          </a:solidFill>
                          <a:latin typeface="Calibri" pitchFamily="34" charset="0"/>
                          <a:ea typeface="Calibri" pitchFamily="34" charset="-122"/>
                          <a:cs typeface="Calibri" pitchFamily="34" charset="-120"/>
                        </a:rPr>
                        <a:t>Docker Engine 29.6.1 / Compose v5.3.1</a:t>
                      </a:r>
                      <a:endParaRPr lang="en-US" sz="95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719072"/>
          <a:ext cx="5394960" cy="914400"/>
        </p:xfrm>
        <a:graphic>
          <a:graphicData uri="http://schemas.openxmlformats.org/drawingml/2006/table">
            <a:tbl>
              <a:tblPr/>
              <a:tblGrid>
                <a:gridCol w="2103120"/>
                <a:gridCol w="1737360"/>
                <a:gridCol w="1554480"/>
              </a:tblGrid>
              <a:tr h="30175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Chỉ số</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Mô hình chính (A, 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Đối chứng (C)</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Tên định danh Ollama</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qwen2.5:7b</a:t>
                      </a:r>
                      <a:endParaRPr lang="en-US" sz="850" dirty="0">
                        <a:latin typeface="Courier New" charset="0"/>
                        <a:ea typeface="Courier New" charset="0"/>
                        <a:cs typeface="Courier New"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00" dirty="0">
                          <a:solidFill>
                            <a:srgbClr val="22303F"/>
                          </a:solidFill>
                          <a:latin typeface="Courier New" pitchFamily="34" charset="0"/>
                          <a:ea typeface="Courier New" pitchFamily="34" charset="-122"/>
                          <a:cs typeface="Courier New" pitchFamily="34" charset="-120"/>
                        </a:rPr>
                        <a:t>CyberCrew/notmythos-8b</a:t>
                      </a:r>
                      <a:endParaRPr lang="en-US" sz="800" dirty="0">
                        <a:latin typeface="Courier New" charset="0"/>
                        <a:ea typeface="Courier New" charset="0"/>
                        <a:cs typeface="Courier New"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Số tham số</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b="1" dirty="0">
                          <a:solidFill>
                            <a:srgbClr val="22303F"/>
                          </a:solidFill>
                          <a:latin typeface="Calibri" pitchFamily="34" charset="0"/>
                          <a:ea typeface="Calibri" pitchFamily="34" charset="-122"/>
                          <a:cs typeface="Calibri" pitchFamily="34" charset="-120"/>
                        </a:rPr>
                        <a:t>7,61 tỷ</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b="1" dirty="0">
                          <a:solidFill>
                            <a:srgbClr val="BE4B3B"/>
                          </a:solidFill>
                          <a:latin typeface="Calibri" pitchFamily="34" charset="0"/>
                          <a:ea typeface="Calibri" pitchFamily="34" charset="-122"/>
                          <a:cs typeface="Calibri" pitchFamily="34" charset="-120"/>
                        </a:rPr>
                        <a:t>~3,2 tỷ</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Mô hình nền</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Qwen 2</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Llama 3.2 — 3B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Mức lượng tử hóa</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Q4_K_M</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Q4_K_M</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Dung lượng tệp mô hình</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4,7 GB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2,0 GB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VRAM tiêu thụ</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4,7 GB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2,5 GB</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Thời gian trung bình</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2,716 s</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2,173 s</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3017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Tỷ lệ đầu ra hợp lệ</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97,0%</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7" name="Shape 3"/>
          <p:cNvSpPr/>
          <p:nvPr/>
        </p:nvSpPr>
        <p:spPr>
          <a:xfrm>
            <a:off x="548640" y="4773168"/>
            <a:ext cx="11064240" cy="786384"/>
          </a:xfrm>
          <a:prstGeom prst="roundRect">
            <a:avLst>
              <a:gd name="adj" fmla="val 10465"/>
            </a:avLst>
          </a:prstGeom>
          <a:solidFill>
            <a:srgbClr val="FBF1DC"/>
          </a:solidFill>
          <a:ln w="9525">
            <a:solidFill>
              <a:srgbClr val="EBD9AE"/>
            </a:solidFill>
            <a:prstDash val="solid"/>
          </a:ln>
        </p:spPr>
      </p:sp>
      <p:sp>
        <p:nvSpPr>
          <p:cNvPr id="8" name="Text 4"/>
          <p:cNvSpPr/>
          <p:nvPr/>
        </p:nvSpPr>
        <p:spPr>
          <a:xfrm>
            <a:off x="804672" y="4773168"/>
            <a:ext cx="10552176" cy="786384"/>
          </a:xfrm>
          <a:prstGeom prst="rect">
            <a:avLst/>
          </a:prstGeom>
          <a:noFill/>
          <a:ln/>
        </p:spPr>
        <p:txBody>
          <a:bodyPr wrap="square" lIns="0" tIns="0" rIns="0" bIns="0" rtlCol="0" anchor="ctr"/>
          <a:lstStyle/>
          <a:p>
            <a:pPr indent="0" marL="0">
              <a:lnSpc>
                <a:spcPct val="105000"/>
              </a:lnSpc>
              <a:buNone/>
            </a:pPr>
            <a:r>
              <a:rPr lang="en-US" sz="1050" b="1" dirty="0">
                <a:solidFill>
                  <a:srgbClr val="B57A16"/>
                </a:solidFill>
                <a:latin typeface="Calibri" pitchFamily="34" charset="0"/>
                <a:ea typeface="Calibri" pitchFamily="34" charset="-122"/>
                <a:cs typeface="Calibri" pitchFamily="34" charset="-120"/>
              </a:rPr>
              <a:t>Lưu ý về tên gọi mô hình đối chứng:  </a:t>
            </a:r>
            <a:pPr indent="0" marL="0">
              <a:lnSpc>
                <a:spcPct val="105000"/>
              </a:lnSpc>
              <a:buNone/>
            </a:pPr>
            <a:r>
              <a:rPr lang="en-US" sz="1050" dirty="0">
                <a:solidFill>
                  <a:srgbClr val="22303F"/>
                </a:solidFill>
                <a:latin typeface="Calibri" pitchFamily="34" charset="0"/>
                <a:ea typeface="Calibri" pitchFamily="34" charset="-122"/>
                <a:cs typeface="Calibri" pitchFamily="34" charset="-120"/>
              </a:rPr>
              <a:t>tuy tên tag mang hậu tố "-8b", lệnh ollama show --modelfile xác nhận mô hình gốc là Llama 3.2 bản 3B với khoảng 3,2 tỷ tham số. Lượng tử hóa chỉ thay đổi số bit biểu diễn mỗi trọng số, không làm thay đổi số tham số của mạng. Tên biến thể mô hình không phải lúc nào cũng phản ánh đúng quy mô thật.</a:t>
            </a:r>
            <a:endParaRPr lang="en-US" sz="1050" dirty="0"/>
          </a:p>
        </p:txBody>
      </p:sp>
      <p:sp>
        <p:nvSpPr>
          <p:cNvPr id="9" name="Shape 5"/>
          <p:cNvSpPr/>
          <p:nvPr/>
        </p:nvSpPr>
        <p:spPr>
          <a:xfrm>
            <a:off x="548640" y="5669280"/>
            <a:ext cx="11064240" cy="640080"/>
          </a:xfrm>
          <a:prstGeom prst="roundRect">
            <a:avLst>
              <a:gd name="adj" fmla="val 12857"/>
            </a:avLst>
          </a:prstGeom>
          <a:solidFill>
            <a:srgbClr val="F2F6FA"/>
          </a:solidFill>
          <a:ln w="9525">
            <a:solidFill>
              <a:srgbClr val="D7E2EC"/>
            </a:solidFill>
            <a:prstDash val="solid"/>
          </a:ln>
        </p:spPr>
      </p:sp>
      <p:sp>
        <p:nvSpPr>
          <p:cNvPr id="10" name="Text 6"/>
          <p:cNvSpPr/>
          <p:nvPr/>
        </p:nvSpPr>
        <p:spPr>
          <a:xfrm>
            <a:off x="804672" y="5669280"/>
            <a:ext cx="10552176" cy="640080"/>
          </a:xfrm>
          <a:prstGeom prst="rect">
            <a:avLst/>
          </a:prstGeom>
          <a:noFill/>
          <a:ln/>
        </p:spPr>
        <p:txBody>
          <a:bodyPr wrap="square" lIns="0" tIns="0" rIns="0" bIns="0" rtlCol="0" anchor="ctr"/>
          <a:lstStyle/>
          <a:p>
            <a:pPr indent="0" marL="0">
              <a:lnSpc>
                <a:spcPct val="104000"/>
              </a:lnSpc>
              <a:buNone/>
            </a:pPr>
            <a:r>
              <a:rPr lang="en-US" sz="1000" b="1" dirty="0">
                <a:solidFill>
                  <a:srgbClr val="0D1B2A"/>
                </a:solidFill>
                <a:latin typeface="Calibri" pitchFamily="34" charset="0"/>
                <a:ea typeface="Calibri" pitchFamily="34" charset="-122"/>
                <a:cs typeface="Calibri" pitchFamily="34" charset="-120"/>
              </a:rPr>
              <a:t>Bốn máy ảo trên mạng host-only 192.168.100.0/24:  </a:t>
            </a:r>
            <a:pPr indent="0" marL="0">
              <a:lnSpc>
                <a:spcPct val="104000"/>
              </a:lnSpc>
              <a:buNone/>
            </a:pPr>
            <a:r>
              <a:rPr lang="en-US" sz="1000" dirty="0">
                <a:solidFill>
                  <a:srgbClr val="667E93"/>
                </a:solidFill>
                <a:latin typeface="Calibri" pitchFamily="34" charset="0"/>
                <a:ea typeface="Calibri" pitchFamily="34" charset="-122"/>
                <a:cs typeface="Calibri" pitchFamily="34" charset="-120"/>
              </a:rPr>
              <a:t>SIEM Ubuntu Server .10 (6 GB, Wazuh 4.9.0 Docker)  ·  nạn nhân Ubuntu .20 (2 GB, agent 4.9.0)  ·  Kali .30 (2–3 GB, không cài agent)  ·  nạn nhân phụ Windows 10 .40 (4 GB, agent 4.9.0). Mô-đun AI đặt trên máy vật lý .1 để dùng trực tiếp GPU.</a:t>
            </a:r>
            <a:endParaRPr lang="en-US" sz="1000" dirty="0"/>
          </a:p>
        </p:txBody>
      </p:sp>
      <p:sp>
        <p:nvSpPr>
          <p:cNvPr id="11" name="Text 7"/>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2</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Yêu cầu chức năng FR-01 … FR-13 và yêu cầu phi chức năng</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7360920" cy="914400"/>
        </p:xfrm>
        <a:graphic>
          <a:graphicData uri="http://schemas.openxmlformats.org/drawingml/2006/table">
            <a:tbl>
              <a:tblPr/>
              <a:tblGrid>
                <a:gridCol w="731520"/>
                <a:gridCol w="4617720"/>
                <a:gridCol w="1005840"/>
                <a:gridCol w="1005840"/>
              </a:tblGrid>
              <a:tr h="265176">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Mã</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Yêu cầu chức năng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Ca kiểm thử</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Kết quả</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FR-01</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Đọc cảnh báo từ Indexer, không thao tác thủ công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TC-01</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FR-02</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Trích xuất đúng tập trường đã cấu hình</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TC-01</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FR-03</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Truy xuất tri thức tham chiếu (mô tả luật, MITRE)</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TC-03</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FR-04</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Sinh diễn giải đủ trường theo lược đồ</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TC-01</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FR-05</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Xác thực đầu ra, dự phòng nếu sai</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TC-04</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FR-06</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Đổi mô hình qua tham số cấu hình</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TC-05</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FR-07</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Chạy theo lô, tổng hợp kết quả</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TC-02</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FR-08</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Ghi vết xử lý (băm đầu vào/ra, phiên bản, thời điểm)</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TC-06</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b="1" dirty="0">
                          <a:solidFill>
                            <a:srgbClr val="0E6B5A"/>
                          </a:solidFill>
                          <a:latin typeface="Calibri" pitchFamily="34" charset="0"/>
                          <a:ea typeface="Calibri" pitchFamily="34" charset="-122"/>
                          <a:cs typeface="Calibri" pitchFamily="34" charset="-120"/>
                        </a:rPr>
                        <a:t>Đạt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FR-09</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Tạo và lập lịch job phân tích theo lô từ dashboard</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67E93"/>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FR-10</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Lưu trữ kết quả và cho phép tra cứu lại theo lịch sử</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dirty="0">
                          <a:solidFill>
                            <a:srgbClr val="667E93"/>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FR-11</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Ghi nhận đánh giá của người phân tích, tách khỏi khuyến nghị AI</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67E93"/>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FR-12</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Xuất kết quả phân tích kèm dấu vết SOC và nguồn gốc</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algn="ctr" indent="0" marL="0">
                        <a:buNone/>
                      </a:pPr>
                      <a:r>
                        <a:rPr lang="en-US" sz="850" dirty="0">
                          <a:solidFill>
                            <a:srgbClr val="667E93"/>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65176">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FR-13</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Gửi thông báo tóm tắt đã lọc qua kênh ngoài (tùy chọn)</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67E93"/>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bl>
          </a:graphicData>
        </a:graphic>
      </p:graphicFrame>
      <p:sp>
        <p:nvSpPr>
          <p:cNvPr id="6" name="Shape 3"/>
          <p:cNvSpPr/>
          <p:nvPr/>
        </p:nvSpPr>
        <p:spPr>
          <a:xfrm>
            <a:off x="8138160" y="1719072"/>
            <a:ext cx="3474720" cy="3950208"/>
          </a:xfrm>
          <a:prstGeom prst="roundRect">
            <a:avLst>
              <a:gd name="adj" fmla="val 2368"/>
            </a:avLst>
          </a:prstGeom>
          <a:solidFill>
            <a:srgbClr val="F2F6FA"/>
          </a:solidFill>
          <a:ln w="9525">
            <a:solidFill>
              <a:srgbClr val="D7E2EC"/>
            </a:solidFill>
            <a:prstDash val="solid"/>
          </a:ln>
        </p:spPr>
      </p:sp>
      <p:sp>
        <p:nvSpPr>
          <p:cNvPr id="7" name="Text 4"/>
          <p:cNvSpPr/>
          <p:nvPr/>
        </p:nvSpPr>
        <p:spPr>
          <a:xfrm>
            <a:off x="8375904" y="1847088"/>
            <a:ext cx="301752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YÊU CẦU PHI CHỨC NĂNG</a:t>
            </a:r>
            <a:endParaRPr lang="en-US" sz="850" dirty="0"/>
          </a:p>
        </p:txBody>
      </p:sp>
      <p:sp>
        <p:nvSpPr>
          <p:cNvPr id="8" name="Text 5"/>
          <p:cNvSpPr/>
          <p:nvPr/>
        </p:nvSpPr>
        <p:spPr>
          <a:xfrm>
            <a:off x="8375904" y="2176272"/>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NFR-01</a:t>
            </a:r>
            <a:endParaRPr lang="en-US" sz="850" dirty="0"/>
          </a:p>
        </p:txBody>
      </p:sp>
      <p:sp>
        <p:nvSpPr>
          <p:cNvPr id="9" name="Text 6"/>
          <p:cNvSpPr/>
          <p:nvPr/>
        </p:nvSpPr>
        <p:spPr>
          <a:xfrm>
            <a:off x="9162288" y="2176272"/>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Dữ liệu không rời hạ tầng nội bộ</a:t>
            </a:r>
            <a:endParaRPr lang="en-US" sz="900" dirty="0"/>
          </a:p>
        </p:txBody>
      </p:sp>
      <p:sp>
        <p:nvSpPr>
          <p:cNvPr id="10" name="Text 7"/>
          <p:cNvSpPr/>
          <p:nvPr/>
        </p:nvSpPr>
        <p:spPr>
          <a:xfrm>
            <a:off x="8375904" y="2596896"/>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NFR-02</a:t>
            </a:r>
            <a:endParaRPr lang="en-US" sz="850" dirty="0"/>
          </a:p>
        </p:txBody>
      </p:sp>
      <p:sp>
        <p:nvSpPr>
          <p:cNvPr id="11" name="Text 8"/>
          <p:cNvSpPr/>
          <p:nvPr/>
        </p:nvSpPr>
        <p:spPr>
          <a:xfrm>
            <a:off x="9162288" y="2596896"/>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Chống chèn chỉ dẫn từ dữ liệu đầu vào</a:t>
            </a:r>
            <a:endParaRPr lang="en-US" sz="900" dirty="0"/>
          </a:p>
        </p:txBody>
      </p:sp>
      <p:sp>
        <p:nvSpPr>
          <p:cNvPr id="12" name="Text 9"/>
          <p:cNvSpPr/>
          <p:nvPr/>
        </p:nvSpPr>
        <p:spPr>
          <a:xfrm>
            <a:off x="8375904" y="3017520"/>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NFR-03</a:t>
            </a:r>
            <a:endParaRPr lang="en-US" sz="850" dirty="0"/>
          </a:p>
        </p:txBody>
      </p:sp>
      <p:sp>
        <p:nvSpPr>
          <p:cNvPr id="13" name="Text 10"/>
          <p:cNvSpPr/>
          <p:nvPr/>
        </p:nvSpPr>
        <p:spPr>
          <a:xfrm>
            <a:off x="9162288" y="3017520"/>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Kết quả nhất quán giữa các lần chạy</a:t>
            </a:r>
            <a:endParaRPr lang="en-US" sz="900" dirty="0"/>
          </a:p>
        </p:txBody>
      </p:sp>
      <p:sp>
        <p:nvSpPr>
          <p:cNvPr id="14" name="Text 11"/>
          <p:cNvSpPr/>
          <p:nvPr/>
        </p:nvSpPr>
        <p:spPr>
          <a:xfrm>
            <a:off x="8375904" y="3438144"/>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NFR-04</a:t>
            </a:r>
            <a:endParaRPr lang="en-US" sz="850" dirty="0"/>
          </a:p>
        </p:txBody>
      </p:sp>
      <p:sp>
        <p:nvSpPr>
          <p:cNvPr id="15" name="Text 12"/>
          <p:cNvSpPr/>
          <p:nvPr/>
        </p:nvSpPr>
        <p:spPr>
          <a:xfrm>
            <a:off x="9162288" y="3438144"/>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Xử lý đủ nhanh, gần thời gian thực</a:t>
            </a:r>
            <a:endParaRPr lang="en-US" sz="900" dirty="0"/>
          </a:p>
        </p:txBody>
      </p:sp>
      <p:sp>
        <p:nvSpPr>
          <p:cNvPr id="16" name="Text 13"/>
          <p:cNvSpPr/>
          <p:nvPr/>
        </p:nvSpPr>
        <p:spPr>
          <a:xfrm>
            <a:off x="8375904" y="3858768"/>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NFR-05</a:t>
            </a:r>
            <a:endParaRPr lang="en-US" sz="850" dirty="0"/>
          </a:p>
        </p:txBody>
      </p:sp>
      <p:sp>
        <p:nvSpPr>
          <p:cNvPr id="17" name="Text 14"/>
          <p:cNvSpPr/>
          <p:nvPr/>
        </p:nvSpPr>
        <p:spPr>
          <a:xfrm>
            <a:off x="9162288" y="3858768"/>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Mở rộng cấu hình không sửa mã lõi</a:t>
            </a:r>
            <a:endParaRPr lang="en-US" sz="900" dirty="0"/>
          </a:p>
        </p:txBody>
      </p:sp>
      <p:sp>
        <p:nvSpPr>
          <p:cNvPr id="18" name="Text 15"/>
          <p:cNvSpPr/>
          <p:nvPr/>
        </p:nvSpPr>
        <p:spPr>
          <a:xfrm>
            <a:off x="8375904" y="4279392"/>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NFR-06</a:t>
            </a:r>
            <a:endParaRPr lang="en-US" sz="850" dirty="0"/>
          </a:p>
        </p:txBody>
      </p:sp>
      <p:sp>
        <p:nvSpPr>
          <p:cNvPr id="19" name="Text 16"/>
          <p:cNvSpPr/>
          <p:nvPr/>
        </p:nvSpPr>
        <p:spPr>
          <a:xfrm>
            <a:off x="9162288" y="4279392"/>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Ghi vết không lưu nội dung nhạy cảm thô</a:t>
            </a:r>
            <a:endParaRPr lang="en-US" sz="900" dirty="0"/>
          </a:p>
        </p:txBody>
      </p:sp>
      <p:sp>
        <p:nvSpPr>
          <p:cNvPr id="20" name="Text 17"/>
          <p:cNvSpPr/>
          <p:nvPr/>
        </p:nvSpPr>
        <p:spPr>
          <a:xfrm>
            <a:off x="8375904" y="4700016"/>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NFR-07</a:t>
            </a:r>
            <a:endParaRPr lang="en-US" sz="850" dirty="0"/>
          </a:p>
        </p:txBody>
      </p:sp>
      <p:sp>
        <p:nvSpPr>
          <p:cNvPr id="21" name="Text 18"/>
          <p:cNvSpPr/>
          <p:nvPr/>
        </p:nvSpPr>
        <p:spPr>
          <a:xfrm>
            <a:off x="9162288" y="4700016"/>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Giới hạn quyền: chỉ đọc, không ghi / thực thi</a:t>
            </a:r>
            <a:endParaRPr lang="en-US" sz="900" dirty="0"/>
          </a:p>
        </p:txBody>
      </p:sp>
      <p:sp>
        <p:nvSpPr>
          <p:cNvPr id="22" name="Text 19"/>
          <p:cNvSpPr/>
          <p:nvPr/>
        </p:nvSpPr>
        <p:spPr>
          <a:xfrm>
            <a:off x="8375904" y="5120640"/>
            <a:ext cx="777240" cy="329184"/>
          </a:xfrm>
          <a:prstGeom prst="rect">
            <a:avLst/>
          </a:prstGeom>
          <a:noFill/>
          <a:ln/>
        </p:spPr>
        <p:txBody>
          <a:bodyPr wrap="square" lIns="0" tIns="0" rIns="0" bIns="0" rtlCol="0" anchor="ctr"/>
          <a:lstStyle/>
          <a:p>
            <a:pPr indent="0" marL="0">
              <a:buNone/>
            </a:pPr>
            <a:r>
              <a:rPr lang="en-US" sz="850" b="1" dirty="0">
                <a:solidFill>
                  <a:srgbClr val="2C6E9B"/>
                </a:solidFill>
                <a:latin typeface="Courier New" pitchFamily="34" charset="0"/>
                <a:ea typeface="Courier New" pitchFamily="34" charset="-122"/>
                <a:cs typeface="Courier New" pitchFamily="34" charset="-120"/>
              </a:rPr>
              <a:t>NFR-08</a:t>
            </a:r>
            <a:endParaRPr lang="en-US" sz="850" dirty="0"/>
          </a:p>
        </p:txBody>
      </p:sp>
      <p:sp>
        <p:nvSpPr>
          <p:cNvPr id="23" name="Text 20"/>
          <p:cNvSpPr/>
          <p:nvPr/>
        </p:nvSpPr>
        <p:spPr>
          <a:xfrm>
            <a:off x="9162288" y="5120640"/>
            <a:ext cx="2240280" cy="329184"/>
          </a:xfrm>
          <a:prstGeom prst="rect">
            <a:avLst/>
          </a:prstGeom>
          <a:noFill/>
          <a:ln/>
        </p:spPr>
        <p:txBody>
          <a:bodyPr wrap="square" lIns="0" tIns="0" rIns="0" bIns="0" rtlCol="0" anchor="ctr"/>
          <a:lstStyle/>
          <a:p>
            <a:pPr indent="0" marL="0">
              <a:lnSpc>
                <a:spcPct val="98000"/>
              </a:lnSpc>
              <a:buNone/>
            </a:pPr>
            <a:r>
              <a:rPr lang="en-US" sz="900" dirty="0">
                <a:solidFill>
                  <a:srgbClr val="22303F"/>
                </a:solidFill>
                <a:latin typeface="Calibri" pitchFamily="34" charset="0"/>
                <a:ea typeface="Calibri" pitchFamily="34" charset="-122"/>
                <a:cs typeface="Calibri" pitchFamily="34" charset="-120"/>
              </a:rPr>
              <a:t>Phục hồi khi lỗi: trả trạng thái rõ ràng</a:t>
            </a:r>
            <a:endParaRPr lang="en-US" sz="900" dirty="0"/>
          </a:p>
        </p:txBody>
      </p:sp>
      <p:sp>
        <p:nvSpPr>
          <p:cNvPr id="24" name="Shape 21"/>
          <p:cNvSpPr/>
          <p:nvPr/>
        </p:nvSpPr>
        <p:spPr>
          <a:xfrm>
            <a:off x="548640" y="5797296"/>
            <a:ext cx="11064240" cy="512064"/>
          </a:xfrm>
          <a:prstGeom prst="roundRect">
            <a:avLst>
              <a:gd name="adj" fmla="val 14286"/>
            </a:avLst>
          </a:prstGeom>
          <a:solidFill>
            <a:srgbClr val="FBF1DC"/>
          </a:solidFill>
          <a:ln w="9525">
            <a:solidFill>
              <a:srgbClr val="EBD9AE"/>
            </a:solidFill>
            <a:prstDash val="solid"/>
          </a:ln>
        </p:spPr>
      </p:sp>
      <p:sp>
        <p:nvSpPr>
          <p:cNvPr id="25" name="Text 22"/>
          <p:cNvSpPr/>
          <p:nvPr/>
        </p:nvSpPr>
        <p:spPr>
          <a:xfrm>
            <a:off x="804672" y="5797296"/>
            <a:ext cx="10552176" cy="512064"/>
          </a:xfrm>
          <a:prstGeom prst="rect">
            <a:avLst/>
          </a:prstGeom>
          <a:noFill/>
          <a:ln/>
        </p:spPr>
        <p:txBody>
          <a:bodyPr wrap="square" lIns="0" tIns="0" rIns="0" bIns="0" rtlCol="0" anchor="ctr"/>
          <a:lstStyle/>
          <a:p>
            <a:pPr algn="l" indent="0" marL="0">
              <a:buNone/>
            </a:pPr>
            <a:r>
              <a:rPr lang="en-US" sz="1050" b="1" dirty="0">
                <a:solidFill>
                  <a:srgbClr val="B57A16"/>
                </a:solidFill>
                <a:latin typeface="Calibri" pitchFamily="34" charset="0"/>
                <a:ea typeface="Calibri" pitchFamily="34" charset="-122"/>
                <a:cs typeface="Calibri" pitchFamily="34" charset="-120"/>
              </a:rPr>
              <a:t>FR-09 đến FR-13 thuộc phần giao diện vận hành, đã cài đặt và chạy được nhưng không đưa vào bộ ca kiểm thử nhị phân của chương 4 — nhóm không tính chúng vào con số 8/8 đạt.</a:t>
            </a:r>
            <a:endParaRPr lang="en-US" sz="1050" dirty="0"/>
          </a:p>
        </p:txBody>
      </p:sp>
      <p:sp>
        <p:nvSpPr>
          <p:cNvPr id="26" name="Text 2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3</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Danh sách 33 case, nhãn tham chiếu và dự đoán hai cấu hình</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5440680" cy="914400"/>
        </p:xfrm>
        <a:graphic>
          <a:graphicData uri="http://schemas.openxmlformats.org/drawingml/2006/table">
            <a:tbl>
              <a:tblPr/>
              <a:tblGrid>
                <a:gridCol w="1828800"/>
                <a:gridCol w="731520"/>
                <a:gridCol w="914400"/>
                <a:gridCol w="960120"/>
                <a:gridCol w="1005840"/>
              </a:tblGrid>
              <a:tr h="214884">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Case</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Luật</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Mức chuẩn</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 (có RAG)</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B (không RAG)</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ssh-5503-01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ssh-5503-02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ssh-5503-03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ssh-5760-01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5760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ssh-5760-02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5760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ssh-5760-03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5760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ssh-5710-01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5710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ssh-5710-02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5710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ssh-2502-01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ssh-5712-01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5712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ssh-40112-01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40112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ssh-40112-02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40112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fim-554-01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554</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fim-554-02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554</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fim-553-01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benign-5715-01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5715</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benign-5501-01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172200" y="1719072"/>
          <a:ext cx="5440680" cy="914400"/>
        </p:xfrm>
        <a:graphic>
          <a:graphicData uri="http://schemas.openxmlformats.org/drawingml/2006/table">
            <a:tbl>
              <a:tblPr/>
              <a:tblGrid>
                <a:gridCol w="1828800"/>
                <a:gridCol w="731520"/>
                <a:gridCol w="914400"/>
                <a:gridCol w="960120"/>
                <a:gridCol w="1005840"/>
              </a:tblGrid>
              <a:tr h="214884">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Case</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Luật</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Mức chuẩn</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 (có RAG)</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B (không RAG)</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benign-5501-02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benign-5502-01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benign-5502-02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benign-5402-01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5402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benign-503-01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B57A16"/>
                          </a:solidFill>
                          <a:latin typeface="Calibri" pitchFamily="34" charset="0"/>
                          <a:ea typeface="Calibri" pitchFamily="34" charset="-122"/>
                          <a:cs typeface="Calibri" pitchFamily="34" charset="-120"/>
                        </a:rPr>
                        <a:t>từ chối</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benign-23502-03</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benign-23502-04</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benign-23502-05</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benign-23502-06</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23502</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ambiguous-506-01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506</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ambiguous-510-01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510</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web-31101-01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31101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web-31151-01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31151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BE4B3B"/>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214884">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web-31105-01</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ourier New" pitchFamily="34" charset="0"/>
                          <a:ea typeface="Courier New" pitchFamily="34" charset="-122"/>
                          <a:cs typeface="Courier New" pitchFamily="34" charset="-120"/>
                        </a:rPr>
                        <a:t>31105</a:t>
                      </a:r>
                      <a:endParaRPr lang="en-US" sz="850" dirty="0">
                        <a:latin typeface="Courier New" charset="0"/>
                        <a:ea typeface="Courier New" charset="0"/>
                        <a:cs typeface="Courier New"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b="1" dirty="0">
                          <a:solidFill>
                            <a:srgbClr val="22303F"/>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0E6B5A"/>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63500" marR="63500" marT="12700" marB="127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7" name="Shape 3"/>
          <p:cNvSpPr/>
          <p:nvPr/>
        </p:nvSpPr>
        <p:spPr>
          <a:xfrm>
            <a:off x="548640" y="5888736"/>
            <a:ext cx="11064240" cy="420624"/>
          </a:xfrm>
          <a:prstGeom prst="roundRect">
            <a:avLst>
              <a:gd name="adj" fmla="val 19565"/>
            </a:avLst>
          </a:prstGeom>
          <a:solidFill>
            <a:srgbClr val="F2F6FA"/>
          </a:solidFill>
          <a:ln w="9525">
            <a:solidFill>
              <a:srgbClr val="D7E2EC"/>
            </a:solidFill>
            <a:prstDash val="solid"/>
          </a:ln>
        </p:spPr>
      </p:sp>
      <p:sp>
        <p:nvSpPr>
          <p:cNvPr id="8" name="Text 4"/>
          <p:cNvSpPr/>
          <p:nvPr/>
        </p:nvSpPr>
        <p:spPr>
          <a:xfrm>
            <a:off x="804672" y="5888736"/>
            <a:ext cx="10515600" cy="420624"/>
          </a:xfrm>
          <a:prstGeom prst="rect">
            <a:avLst/>
          </a:prstGeom>
          <a:noFill/>
          <a:ln/>
        </p:spPr>
        <p:txBody>
          <a:bodyPr wrap="square" lIns="0" tIns="0" rIns="0" bIns="0" rtlCol="0" anchor="ctr"/>
          <a:lstStyle/>
          <a:p>
            <a:pPr indent="0" marL="0">
              <a:buNone/>
            </a:pPr>
            <a:r>
              <a:rPr lang="en-US" sz="950" b="1" dirty="0">
                <a:solidFill>
                  <a:srgbClr val="0E6B5A"/>
                </a:solidFill>
                <a:latin typeface="Calibri" pitchFamily="34" charset="0"/>
                <a:ea typeface="Calibri" pitchFamily="34" charset="-122"/>
                <a:cs typeface="Calibri" pitchFamily="34" charset="-120"/>
              </a:rPr>
              <a:t>Xanh</a:t>
            </a:r>
            <a:pPr indent="0" marL="0">
              <a:buNone/>
            </a:pPr>
            <a:r>
              <a:rPr lang="en-US" sz="950" dirty="0">
                <a:solidFill>
                  <a:srgbClr val="667E93"/>
                </a:solidFill>
                <a:latin typeface="Calibri" pitchFamily="34" charset="0"/>
                <a:ea typeface="Calibri" pitchFamily="34" charset="-122"/>
                <a:cs typeface="Calibri" pitchFamily="34" charset="-120"/>
              </a:rPr>
              <a:t> = khớp mức chuẩn    </a:t>
            </a:r>
            <a:pPr indent="0" marL="0">
              <a:buNone/>
            </a:pPr>
            <a:r>
              <a:rPr lang="en-US" sz="950" b="1" dirty="0">
                <a:solidFill>
                  <a:srgbClr val="BE4B3B"/>
                </a:solidFill>
                <a:latin typeface="Calibri" pitchFamily="34" charset="0"/>
                <a:ea typeface="Calibri" pitchFamily="34" charset="-122"/>
                <a:cs typeface="Calibri" pitchFamily="34" charset="-120"/>
              </a:rPr>
              <a:t>Đỏ</a:t>
            </a:r>
            <a:pPr indent="0" marL="0">
              <a:buNone/>
            </a:pPr>
            <a:r>
              <a:rPr lang="en-US" sz="950" dirty="0">
                <a:solidFill>
                  <a:srgbClr val="667E93"/>
                </a:solidFill>
                <a:latin typeface="Calibri" pitchFamily="34" charset="0"/>
                <a:ea typeface="Calibri" pitchFamily="34" charset="-122"/>
                <a:cs typeface="Calibri" pitchFamily="34" charset="-120"/>
              </a:rPr>
              <a:t> = lệch mức    ·    Phân bố nhãn: 13 thấp · 13 trung bình · 7 cao    ·    A đúng 22/33, B đúng 19/33, hòa 20 case</a:t>
            </a:r>
            <a:endParaRPr lang="en-US" sz="950" dirty="0"/>
          </a:p>
        </p:txBody>
      </p:sp>
      <p:sp>
        <p:nvSpPr>
          <p:cNvPr id="9" name="Text 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4</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Case truy xuất tăng cường làm tốt hơn và làm tệ hơn</a:t>
            </a:r>
            <a:endParaRPr lang="en-US" sz="2600" dirty="0"/>
          </a:p>
        </p:txBody>
      </p:sp>
      <p:sp>
        <p:nvSpPr>
          <p:cNvPr id="5" name="Shape 3"/>
          <p:cNvSpPr/>
          <p:nvPr/>
        </p:nvSpPr>
        <p:spPr>
          <a:xfrm>
            <a:off x="548640" y="1719072"/>
            <a:ext cx="5577840" cy="3749040"/>
          </a:xfrm>
          <a:prstGeom prst="roundRect">
            <a:avLst>
              <a:gd name="adj" fmla="val 2195"/>
            </a:avLst>
          </a:prstGeom>
          <a:solidFill>
            <a:srgbClr val="DCF0EB"/>
          </a:solidFill>
          <a:ln w="9525">
            <a:solidFill>
              <a:srgbClr val="BCE0D7"/>
            </a:solidFill>
            <a:prstDash val="solid"/>
          </a:ln>
        </p:spPr>
      </p:sp>
      <p:sp>
        <p:nvSpPr>
          <p:cNvPr id="6" name="Text 4"/>
          <p:cNvSpPr/>
          <p:nvPr/>
        </p:nvSpPr>
        <p:spPr>
          <a:xfrm>
            <a:off x="786384" y="1847088"/>
            <a:ext cx="5120640" cy="256032"/>
          </a:xfrm>
          <a:prstGeom prst="rect">
            <a:avLst/>
          </a:prstGeom>
          <a:noFill/>
          <a:ln/>
        </p:spPr>
        <p:txBody>
          <a:bodyPr wrap="square" lIns="0" tIns="0" rIns="0" bIns="0" rtlCol="0" anchor="ctr"/>
          <a:lstStyle/>
          <a:p>
            <a:pPr indent="0" marL="0">
              <a:buNone/>
            </a:pPr>
            <a:r>
              <a:rPr lang="en-US" sz="900" b="1" spc="100" kern="0" dirty="0">
                <a:solidFill>
                  <a:srgbClr val="0E6B5A"/>
                </a:solidFill>
                <a:latin typeface="Calibri" pitchFamily="34" charset="0"/>
                <a:ea typeface="Calibri" pitchFamily="34" charset="-122"/>
                <a:cs typeface="Calibri" pitchFamily="34" charset="-120"/>
              </a:rPr>
              <a:t>A ĐÚNG · B SAI — 8 CASE</a:t>
            </a:r>
            <a:endParaRPr lang="en-US" sz="900" dirty="0"/>
          </a:p>
        </p:txBody>
      </p:sp>
      <p:sp>
        <p:nvSpPr>
          <p:cNvPr id="7" name="Text 5"/>
          <p:cNvSpPr/>
          <p:nvPr/>
        </p:nvSpPr>
        <p:spPr>
          <a:xfrm>
            <a:off x="804672" y="2212848"/>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ssh-2502-01</a:t>
            </a:r>
            <a:endParaRPr lang="en-US" sz="900" dirty="0"/>
          </a:p>
        </p:txBody>
      </p:sp>
      <p:sp>
        <p:nvSpPr>
          <p:cNvPr id="8" name="Shape 6"/>
          <p:cNvSpPr/>
          <p:nvPr/>
        </p:nvSpPr>
        <p:spPr>
          <a:xfrm>
            <a:off x="2615184" y="2240280"/>
            <a:ext cx="969264" cy="274320"/>
          </a:xfrm>
          <a:prstGeom prst="roundRect">
            <a:avLst>
              <a:gd name="adj" fmla="val 53333"/>
            </a:avLst>
          </a:prstGeom>
          <a:solidFill>
            <a:srgbClr val="FFFFFF"/>
          </a:solidFill>
          <a:ln w="9525">
            <a:solidFill>
              <a:srgbClr val="BCE0D7"/>
            </a:solidFill>
            <a:prstDash val="solid"/>
          </a:ln>
        </p:spPr>
      </p:sp>
      <p:sp>
        <p:nvSpPr>
          <p:cNvPr id="9" name="Text 7"/>
          <p:cNvSpPr/>
          <p:nvPr/>
        </p:nvSpPr>
        <p:spPr>
          <a:xfrm>
            <a:off x="2615184" y="2240280"/>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cao</a:t>
            </a:r>
            <a:endParaRPr lang="en-US" sz="800" dirty="0"/>
          </a:p>
        </p:txBody>
      </p:sp>
      <p:sp>
        <p:nvSpPr>
          <p:cNvPr id="10" name="Text 8"/>
          <p:cNvSpPr/>
          <p:nvPr/>
        </p:nvSpPr>
        <p:spPr>
          <a:xfrm>
            <a:off x="3694176" y="2212848"/>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giữ đúng mức cao; B hạ xuống trung bình</a:t>
            </a:r>
            <a:endParaRPr lang="en-US" sz="850" dirty="0"/>
          </a:p>
        </p:txBody>
      </p:sp>
      <p:sp>
        <p:nvSpPr>
          <p:cNvPr id="11" name="Text 9"/>
          <p:cNvSpPr/>
          <p:nvPr/>
        </p:nvSpPr>
        <p:spPr>
          <a:xfrm>
            <a:off x="804672" y="2615184"/>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ssh-40112-01</a:t>
            </a:r>
            <a:endParaRPr lang="en-US" sz="900" dirty="0"/>
          </a:p>
        </p:txBody>
      </p:sp>
      <p:sp>
        <p:nvSpPr>
          <p:cNvPr id="12" name="Shape 10"/>
          <p:cNvSpPr/>
          <p:nvPr/>
        </p:nvSpPr>
        <p:spPr>
          <a:xfrm>
            <a:off x="2615184" y="2642616"/>
            <a:ext cx="969264" cy="274320"/>
          </a:xfrm>
          <a:prstGeom prst="roundRect">
            <a:avLst>
              <a:gd name="adj" fmla="val 53333"/>
            </a:avLst>
          </a:prstGeom>
          <a:solidFill>
            <a:srgbClr val="FFFFFF"/>
          </a:solidFill>
          <a:ln w="9525">
            <a:solidFill>
              <a:srgbClr val="BCE0D7"/>
            </a:solidFill>
            <a:prstDash val="solid"/>
          </a:ln>
        </p:spPr>
      </p:sp>
      <p:sp>
        <p:nvSpPr>
          <p:cNvPr id="13" name="Text 11"/>
          <p:cNvSpPr/>
          <p:nvPr/>
        </p:nvSpPr>
        <p:spPr>
          <a:xfrm>
            <a:off x="2615184" y="2642616"/>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cao</a:t>
            </a:r>
            <a:endParaRPr lang="en-US" sz="800" dirty="0"/>
          </a:p>
        </p:txBody>
      </p:sp>
      <p:sp>
        <p:nvSpPr>
          <p:cNvPr id="14" name="Text 12"/>
          <p:cNvSpPr/>
          <p:nvPr/>
        </p:nvSpPr>
        <p:spPr>
          <a:xfrm>
            <a:off x="3694176" y="2615184"/>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giữ đúng mức cao; B hạ xuống trung bình</a:t>
            </a:r>
            <a:endParaRPr lang="en-US" sz="850" dirty="0"/>
          </a:p>
        </p:txBody>
      </p:sp>
      <p:sp>
        <p:nvSpPr>
          <p:cNvPr id="15" name="Text 13"/>
          <p:cNvSpPr/>
          <p:nvPr/>
        </p:nvSpPr>
        <p:spPr>
          <a:xfrm>
            <a:off x="804672" y="3017520"/>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ssh-40112-02</a:t>
            </a:r>
            <a:endParaRPr lang="en-US" sz="900" dirty="0"/>
          </a:p>
        </p:txBody>
      </p:sp>
      <p:sp>
        <p:nvSpPr>
          <p:cNvPr id="16" name="Shape 14"/>
          <p:cNvSpPr/>
          <p:nvPr/>
        </p:nvSpPr>
        <p:spPr>
          <a:xfrm>
            <a:off x="2615184" y="3044952"/>
            <a:ext cx="969264" cy="274320"/>
          </a:xfrm>
          <a:prstGeom prst="roundRect">
            <a:avLst>
              <a:gd name="adj" fmla="val 53333"/>
            </a:avLst>
          </a:prstGeom>
          <a:solidFill>
            <a:srgbClr val="FFFFFF"/>
          </a:solidFill>
          <a:ln w="9525">
            <a:solidFill>
              <a:srgbClr val="BCE0D7"/>
            </a:solidFill>
            <a:prstDash val="solid"/>
          </a:ln>
        </p:spPr>
      </p:sp>
      <p:sp>
        <p:nvSpPr>
          <p:cNvPr id="17" name="Text 15"/>
          <p:cNvSpPr/>
          <p:nvPr/>
        </p:nvSpPr>
        <p:spPr>
          <a:xfrm>
            <a:off x="2615184" y="3044952"/>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cao</a:t>
            </a:r>
            <a:endParaRPr lang="en-US" sz="800" dirty="0"/>
          </a:p>
        </p:txBody>
      </p:sp>
      <p:sp>
        <p:nvSpPr>
          <p:cNvPr id="18" name="Text 16"/>
          <p:cNvSpPr/>
          <p:nvPr/>
        </p:nvSpPr>
        <p:spPr>
          <a:xfrm>
            <a:off x="3694176" y="3017520"/>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giữ đúng mức cao; B hạ xuống trung bình</a:t>
            </a:r>
            <a:endParaRPr lang="en-US" sz="850" dirty="0"/>
          </a:p>
        </p:txBody>
      </p:sp>
      <p:sp>
        <p:nvSpPr>
          <p:cNvPr id="19" name="Text 17"/>
          <p:cNvSpPr/>
          <p:nvPr/>
        </p:nvSpPr>
        <p:spPr>
          <a:xfrm>
            <a:off x="804672" y="3419856"/>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ssh-5760-03</a:t>
            </a:r>
            <a:endParaRPr lang="en-US" sz="900" dirty="0"/>
          </a:p>
        </p:txBody>
      </p:sp>
      <p:sp>
        <p:nvSpPr>
          <p:cNvPr id="20" name="Shape 18"/>
          <p:cNvSpPr/>
          <p:nvPr/>
        </p:nvSpPr>
        <p:spPr>
          <a:xfrm>
            <a:off x="2615184" y="3447288"/>
            <a:ext cx="969264" cy="274320"/>
          </a:xfrm>
          <a:prstGeom prst="roundRect">
            <a:avLst>
              <a:gd name="adj" fmla="val 53333"/>
            </a:avLst>
          </a:prstGeom>
          <a:solidFill>
            <a:srgbClr val="FFFFFF"/>
          </a:solidFill>
          <a:ln w="9525">
            <a:solidFill>
              <a:srgbClr val="BCE0D7"/>
            </a:solidFill>
            <a:prstDash val="solid"/>
          </a:ln>
        </p:spPr>
      </p:sp>
      <p:sp>
        <p:nvSpPr>
          <p:cNvPr id="21" name="Text 19"/>
          <p:cNvSpPr/>
          <p:nvPr/>
        </p:nvSpPr>
        <p:spPr>
          <a:xfrm>
            <a:off x="2615184" y="3447288"/>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trung bình</a:t>
            </a:r>
            <a:endParaRPr lang="en-US" sz="800" dirty="0"/>
          </a:p>
        </p:txBody>
      </p:sp>
      <p:sp>
        <p:nvSpPr>
          <p:cNvPr id="22" name="Text 20"/>
          <p:cNvSpPr/>
          <p:nvPr/>
        </p:nvSpPr>
        <p:spPr>
          <a:xfrm>
            <a:off x="3694176" y="3419856"/>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B hạ xuống mức thấp</a:t>
            </a:r>
            <a:endParaRPr lang="en-US" sz="850" dirty="0"/>
          </a:p>
        </p:txBody>
      </p:sp>
      <p:sp>
        <p:nvSpPr>
          <p:cNvPr id="23" name="Text 21"/>
          <p:cNvSpPr/>
          <p:nvPr/>
        </p:nvSpPr>
        <p:spPr>
          <a:xfrm>
            <a:off x="804672" y="3822192"/>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benign-5501-01</a:t>
            </a:r>
            <a:endParaRPr lang="en-US" sz="900" dirty="0"/>
          </a:p>
        </p:txBody>
      </p:sp>
      <p:sp>
        <p:nvSpPr>
          <p:cNvPr id="24" name="Shape 22"/>
          <p:cNvSpPr/>
          <p:nvPr/>
        </p:nvSpPr>
        <p:spPr>
          <a:xfrm>
            <a:off x="2615184" y="3849624"/>
            <a:ext cx="969264" cy="274320"/>
          </a:xfrm>
          <a:prstGeom prst="roundRect">
            <a:avLst>
              <a:gd name="adj" fmla="val 53333"/>
            </a:avLst>
          </a:prstGeom>
          <a:solidFill>
            <a:srgbClr val="FFFFFF"/>
          </a:solidFill>
          <a:ln w="9525">
            <a:solidFill>
              <a:srgbClr val="BCE0D7"/>
            </a:solidFill>
            <a:prstDash val="solid"/>
          </a:ln>
        </p:spPr>
      </p:sp>
      <p:sp>
        <p:nvSpPr>
          <p:cNvPr id="25" name="Text 23"/>
          <p:cNvSpPr/>
          <p:nvPr/>
        </p:nvSpPr>
        <p:spPr>
          <a:xfrm>
            <a:off x="2615184" y="3849624"/>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thấp</a:t>
            </a:r>
            <a:endParaRPr lang="en-US" sz="800" dirty="0"/>
          </a:p>
        </p:txBody>
      </p:sp>
      <p:sp>
        <p:nvSpPr>
          <p:cNvPr id="26" name="Text 24"/>
          <p:cNvSpPr/>
          <p:nvPr/>
        </p:nvSpPr>
        <p:spPr>
          <a:xfrm>
            <a:off x="3694176" y="3822192"/>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B nâng lên mức trung bình</a:t>
            </a:r>
            <a:endParaRPr lang="en-US" sz="850" dirty="0"/>
          </a:p>
        </p:txBody>
      </p:sp>
      <p:sp>
        <p:nvSpPr>
          <p:cNvPr id="27" name="Text 25"/>
          <p:cNvSpPr/>
          <p:nvPr/>
        </p:nvSpPr>
        <p:spPr>
          <a:xfrm>
            <a:off x="804672" y="4224528"/>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benign-5402-01</a:t>
            </a:r>
            <a:endParaRPr lang="en-US" sz="900" dirty="0"/>
          </a:p>
        </p:txBody>
      </p:sp>
      <p:sp>
        <p:nvSpPr>
          <p:cNvPr id="28" name="Shape 26"/>
          <p:cNvSpPr/>
          <p:nvPr/>
        </p:nvSpPr>
        <p:spPr>
          <a:xfrm>
            <a:off x="2615184" y="4251960"/>
            <a:ext cx="969264" cy="274320"/>
          </a:xfrm>
          <a:prstGeom prst="roundRect">
            <a:avLst>
              <a:gd name="adj" fmla="val 53333"/>
            </a:avLst>
          </a:prstGeom>
          <a:solidFill>
            <a:srgbClr val="FFFFFF"/>
          </a:solidFill>
          <a:ln w="9525">
            <a:solidFill>
              <a:srgbClr val="BCE0D7"/>
            </a:solidFill>
            <a:prstDash val="solid"/>
          </a:ln>
        </p:spPr>
      </p:sp>
      <p:sp>
        <p:nvSpPr>
          <p:cNvPr id="29" name="Text 27"/>
          <p:cNvSpPr/>
          <p:nvPr/>
        </p:nvSpPr>
        <p:spPr>
          <a:xfrm>
            <a:off x="2615184" y="4251960"/>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thấp</a:t>
            </a:r>
            <a:endParaRPr lang="en-US" sz="800" dirty="0"/>
          </a:p>
        </p:txBody>
      </p:sp>
      <p:sp>
        <p:nvSpPr>
          <p:cNvPr id="30" name="Text 28"/>
          <p:cNvSpPr/>
          <p:nvPr/>
        </p:nvSpPr>
        <p:spPr>
          <a:xfrm>
            <a:off x="3694176" y="4224528"/>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B nâng lên mức trung bình</a:t>
            </a:r>
            <a:endParaRPr lang="en-US" sz="850" dirty="0"/>
          </a:p>
        </p:txBody>
      </p:sp>
      <p:sp>
        <p:nvSpPr>
          <p:cNvPr id="31" name="Text 29"/>
          <p:cNvSpPr/>
          <p:nvPr/>
        </p:nvSpPr>
        <p:spPr>
          <a:xfrm>
            <a:off x="804672" y="4626864"/>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benign-23502-04</a:t>
            </a:r>
            <a:endParaRPr lang="en-US" sz="900" dirty="0"/>
          </a:p>
        </p:txBody>
      </p:sp>
      <p:sp>
        <p:nvSpPr>
          <p:cNvPr id="32" name="Shape 30"/>
          <p:cNvSpPr/>
          <p:nvPr/>
        </p:nvSpPr>
        <p:spPr>
          <a:xfrm>
            <a:off x="2615184" y="4654296"/>
            <a:ext cx="969264" cy="274320"/>
          </a:xfrm>
          <a:prstGeom prst="roundRect">
            <a:avLst>
              <a:gd name="adj" fmla="val 53333"/>
            </a:avLst>
          </a:prstGeom>
          <a:solidFill>
            <a:srgbClr val="FFFFFF"/>
          </a:solidFill>
          <a:ln w="9525">
            <a:solidFill>
              <a:srgbClr val="BCE0D7"/>
            </a:solidFill>
            <a:prstDash val="solid"/>
          </a:ln>
        </p:spPr>
      </p:sp>
      <p:sp>
        <p:nvSpPr>
          <p:cNvPr id="33" name="Text 31"/>
          <p:cNvSpPr/>
          <p:nvPr/>
        </p:nvSpPr>
        <p:spPr>
          <a:xfrm>
            <a:off x="2615184" y="4654296"/>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thấp</a:t>
            </a:r>
            <a:endParaRPr lang="en-US" sz="800" dirty="0"/>
          </a:p>
        </p:txBody>
      </p:sp>
      <p:sp>
        <p:nvSpPr>
          <p:cNvPr id="34" name="Text 32"/>
          <p:cNvSpPr/>
          <p:nvPr/>
        </p:nvSpPr>
        <p:spPr>
          <a:xfrm>
            <a:off x="3694176" y="4626864"/>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B nâng lên mức trung bình</a:t>
            </a:r>
            <a:endParaRPr lang="en-US" sz="850" dirty="0"/>
          </a:p>
        </p:txBody>
      </p:sp>
      <p:sp>
        <p:nvSpPr>
          <p:cNvPr id="35" name="Text 33"/>
          <p:cNvSpPr/>
          <p:nvPr/>
        </p:nvSpPr>
        <p:spPr>
          <a:xfrm>
            <a:off x="804672" y="5029200"/>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ambiguous-506-01</a:t>
            </a:r>
            <a:endParaRPr lang="en-US" sz="900" dirty="0"/>
          </a:p>
        </p:txBody>
      </p:sp>
      <p:sp>
        <p:nvSpPr>
          <p:cNvPr id="36" name="Shape 34"/>
          <p:cNvSpPr/>
          <p:nvPr/>
        </p:nvSpPr>
        <p:spPr>
          <a:xfrm>
            <a:off x="2615184" y="5056632"/>
            <a:ext cx="969264" cy="274320"/>
          </a:xfrm>
          <a:prstGeom prst="roundRect">
            <a:avLst>
              <a:gd name="adj" fmla="val 53333"/>
            </a:avLst>
          </a:prstGeom>
          <a:solidFill>
            <a:srgbClr val="FFFFFF"/>
          </a:solidFill>
          <a:ln w="9525">
            <a:solidFill>
              <a:srgbClr val="BCE0D7"/>
            </a:solidFill>
            <a:prstDash val="solid"/>
          </a:ln>
        </p:spPr>
      </p:sp>
      <p:sp>
        <p:nvSpPr>
          <p:cNvPr id="37" name="Text 35"/>
          <p:cNvSpPr/>
          <p:nvPr/>
        </p:nvSpPr>
        <p:spPr>
          <a:xfrm>
            <a:off x="2615184" y="5056632"/>
            <a:ext cx="969264" cy="274320"/>
          </a:xfrm>
          <a:prstGeom prst="rect">
            <a:avLst/>
          </a:prstGeom>
          <a:noFill/>
          <a:ln/>
        </p:spPr>
        <p:txBody>
          <a:bodyPr wrap="square" lIns="0" tIns="0" rIns="0" bIns="0" rtlCol="0" anchor="ctr"/>
          <a:lstStyle/>
          <a:p>
            <a:pPr algn="ctr" indent="0" marL="0">
              <a:buNone/>
            </a:pPr>
            <a:r>
              <a:rPr lang="en-US" sz="800" b="1" dirty="0">
                <a:solidFill>
                  <a:srgbClr val="0E6B5A"/>
                </a:solidFill>
                <a:latin typeface="Calibri" pitchFamily="34" charset="0"/>
                <a:ea typeface="Calibri" pitchFamily="34" charset="-122"/>
                <a:cs typeface="Calibri" pitchFamily="34" charset="-120"/>
              </a:rPr>
              <a:t>trung bình</a:t>
            </a:r>
            <a:endParaRPr lang="en-US" sz="800" dirty="0"/>
          </a:p>
        </p:txBody>
      </p:sp>
      <p:sp>
        <p:nvSpPr>
          <p:cNvPr id="38" name="Text 36"/>
          <p:cNvSpPr/>
          <p:nvPr/>
        </p:nvSpPr>
        <p:spPr>
          <a:xfrm>
            <a:off x="3694176" y="5029200"/>
            <a:ext cx="2286000"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B hạ xuống mức thấp</a:t>
            </a:r>
            <a:endParaRPr lang="en-US" sz="850" dirty="0"/>
          </a:p>
        </p:txBody>
      </p:sp>
      <p:sp>
        <p:nvSpPr>
          <p:cNvPr id="39" name="Shape 37"/>
          <p:cNvSpPr/>
          <p:nvPr/>
        </p:nvSpPr>
        <p:spPr>
          <a:xfrm>
            <a:off x="6309360" y="1719072"/>
            <a:ext cx="5303520" cy="3749040"/>
          </a:xfrm>
          <a:prstGeom prst="roundRect">
            <a:avLst>
              <a:gd name="adj" fmla="val 2195"/>
            </a:avLst>
          </a:prstGeom>
          <a:solidFill>
            <a:srgbClr val="FAE3DF"/>
          </a:solidFill>
          <a:ln w="9525">
            <a:solidFill>
              <a:srgbClr val="EFC8C1"/>
            </a:solidFill>
            <a:prstDash val="solid"/>
          </a:ln>
        </p:spPr>
      </p:sp>
      <p:sp>
        <p:nvSpPr>
          <p:cNvPr id="40" name="Text 38"/>
          <p:cNvSpPr/>
          <p:nvPr/>
        </p:nvSpPr>
        <p:spPr>
          <a:xfrm>
            <a:off x="6547104" y="1847088"/>
            <a:ext cx="4846320" cy="256032"/>
          </a:xfrm>
          <a:prstGeom prst="rect">
            <a:avLst/>
          </a:prstGeom>
          <a:noFill/>
          <a:ln/>
        </p:spPr>
        <p:txBody>
          <a:bodyPr wrap="square" lIns="0" tIns="0" rIns="0" bIns="0" rtlCol="0" anchor="ctr"/>
          <a:lstStyle/>
          <a:p>
            <a:pPr indent="0" marL="0">
              <a:buNone/>
            </a:pPr>
            <a:r>
              <a:rPr lang="en-US" sz="900" b="1" spc="100" kern="0" dirty="0">
                <a:solidFill>
                  <a:srgbClr val="BE4B3B"/>
                </a:solidFill>
                <a:latin typeface="Calibri" pitchFamily="34" charset="0"/>
                <a:ea typeface="Calibri" pitchFamily="34" charset="-122"/>
                <a:cs typeface="Calibri" pitchFamily="34" charset="-120"/>
              </a:rPr>
              <a:t>A SAI · B ĐÚNG — 5 CASE</a:t>
            </a:r>
            <a:endParaRPr lang="en-US" sz="900" dirty="0"/>
          </a:p>
        </p:txBody>
      </p:sp>
      <p:sp>
        <p:nvSpPr>
          <p:cNvPr id="41" name="Text 39"/>
          <p:cNvSpPr/>
          <p:nvPr/>
        </p:nvSpPr>
        <p:spPr>
          <a:xfrm>
            <a:off x="6565392" y="2212848"/>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ambiguous-510-01</a:t>
            </a:r>
            <a:endParaRPr lang="en-US" sz="900" dirty="0"/>
          </a:p>
        </p:txBody>
      </p:sp>
      <p:sp>
        <p:nvSpPr>
          <p:cNvPr id="42" name="Shape 40"/>
          <p:cNvSpPr/>
          <p:nvPr/>
        </p:nvSpPr>
        <p:spPr>
          <a:xfrm>
            <a:off x="8375904" y="2240280"/>
            <a:ext cx="969264" cy="274320"/>
          </a:xfrm>
          <a:prstGeom prst="roundRect">
            <a:avLst>
              <a:gd name="adj" fmla="val 53333"/>
            </a:avLst>
          </a:prstGeom>
          <a:solidFill>
            <a:srgbClr val="FFFFFF"/>
          </a:solidFill>
          <a:ln w="9525">
            <a:solidFill>
              <a:srgbClr val="EFC8C1"/>
            </a:solidFill>
            <a:prstDash val="solid"/>
          </a:ln>
        </p:spPr>
      </p:sp>
      <p:sp>
        <p:nvSpPr>
          <p:cNvPr id="43" name="Text 41"/>
          <p:cNvSpPr/>
          <p:nvPr/>
        </p:nvSpPr>
        <p:spPr>
          <a:xfrm>
            <a:off x="8375904" y="2240280"/>
            <a:ext cx="969264" cy="274320"/>
          </a:xfrm>
          <a:prstGeom prst="rect">
            <a:avLst/>
          </a:prstGeom>
          <a:noFill/>
          <a:ln/>
        </p:spPr>
        <p:txBody>
          <a:bodyPr wrap="square" lIns="0" tIns="0" rIns="0" bIns="0" rtlCol="0" anchor="ctr"/>
          <a:lstStyle/>
          <a:p>
            <a:pPr algn="ctr" indent="0" marL="0">
              <a:buNone/>
            </a:pPr>
            <a:r>
              <a:rPr lang="en-US" sz="800" b="1" dirty="0">
                <a:solidFill>
                  <a:srgbClr val="BE4B3B"/>
                </a:solidFill>
                <a:latin typeface="Calibri" pitchFamily="34" charset="0"/>
                <a:ea typeface="Calibri" pitchFamily="34" charset="-122"/>
                <a:cs typeface="Calibri" pitchFamily="34" charset="-120"/>
              </a:rPr>
              <a:t>cao</a:t>
            </a:r>
            <a:endParaRPr lang="en-US" sz="800" dirty="0"/>
          </a:p>
        </p:txBody>
      </p:sp>
      <p:sp>
        <p:nvSpPr>
          <p:cNvPr id="44" name="Text 42"/>
          <p:cNvSpPr/>
          <p:nvPr/>
        </p:nvSpPr>
        <p:spPr>
          <a:xfrm>
            <a:off x="9454896" y="2212848"/>
            <a:ext cx="1975104"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hạ xuống trung bình; B đúng</a:t>
            </a:r>
            <a:endParaRPr lang="en-US" sz="850" dirty="0"/>
          </a:p>
        </p:txBody>
      </p:sp>
      <p:sp>
        <p:nvSpPr>
          <p:cNvPr id="45" name="Text 43"/>
          <p:cNvSpPr/>
          <p:nvPr/>
        </p:nvSpPr>
        <p:spPr>
          <a:xfrm>
            <a:off x="6565392" y="2615184"/>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ssh-5710-02</a:t>
            </a:r>
            <a:endParaRPr lang="en-US" sz="900" dirty="0"/>
          </a:p>
        </p:txBody>
      </p:sp>
      <p:sp>
        <p:nvSpPr>
          <p:cNvPr id="46" name="Shape 44"/>
          <p:cNvSpPr/>
          <p:nvPr/>
        </p:nvSpPr>
        <p:spPr>
          <a:xfrm>
            <a:off x="8375904" y="2642616"/>
            <a:ext cx="969264" cy="274320"/>
          </a:xfrm>
          <a:prstGeom prst="roundRect">
            <a:avLst>
              <a:gd name="adj" fmla="val 53333"/>
            </a:avLst>
          </a:prstGeom>
          <a:solidFill>
            <a:srgbClr val="FFFFFF"/>
          </a:solidFill>
          <a:ln w="9525">
            <a:solidFill>
              <a:srgbClr val="EFC8C1"/>
            </a:solidFill>
            <a:prstDash val="solid"/>
          </a:ln>
        </p:spPr>
      </p:sp>
      <p:sp>
        <p:nvSpPr>
          <p:cNvPr id="47" name="Text 45"/>
          <p:cNvSpPr/>
          <p:nvPr/>
        </p:nvSpPr>
        <p:spPr>
          <a:xfrm>
            <a:off x="8375904" y="2642616"/>
            <a:ext cx="969264" cy="274320"/>
          </a:xfrm>
          <a:prstGeom prst="rect">
            <a:avLst/>
          </a:prstGeom>
          <a:noFill/>
          <a:ln/>
        </p:spPr>
        <p:txBody>
          <a:bodyPr wrap="square" lIns="0" tIns="0" rIns="0" bIns="0" rtlCol="0" anchor="ctr"/>
          <a:lstStyle/>
          <a:p>
            <a:pPr algn="ctr" indent="0" marL="0">
              <a:buNone/>
            </a:pPr>
            <a:r>
              <a:rPr lang="en-US" sz="800" b="1" dirty="0">
                <a:solidFill>
                  <a:srgbClr val="BE4B3B"/>
                </a:solidFill>
                <a:latin typeface="Calibri" pitchFamily="34" charset="0"/>
                <a:ea typeface="Calibri" pitchFamily="34" charset="-122"/>
                <a:cs typeface="Calibri" pitchFamily="34" charset="-120"/>
              </a:rPr>
              <a:t>trung bình</a:t>
            </a:r>
            <a:endParaRPr lang="en-US" sz="800" dirty="0"/>
          </a:p>
        </p:txBody>
      </p:sp>
      <p:sp>
        <p:nvSpPr>
          <p:cNvPr id="48" name="Text 46"/>
          <p:cNvSpPr/>
          <p:nvPr/>
        </p:nvSpPr>
        <p:spPr>
          <a:xfrm>
            <a:off x="9454896" y="2615184"/>
            <a:ext cx="1975104"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hạ xuống mức thấp; B đúng</a:t>
            </a:r>
            <a:endParaRPr lang="en-US" sz="850" dirty="0"/>
          </a:p>
        </p:txBody>
      </p:sp>
      <p:sp>
        <p:nvSpPr>
          <p:cNvPr id="49" name="Text 47"/>
          <p:cNvSpPr/>
          <p:nvPr/>
        </p:nvSpPr>
        <p:spPr>
          <a:xfrm>
            <a:off x="6565392" y="3017520"/>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web-31101-01</a:t>
            </a:r>
            <a:endParaRPr lang="en-US" sz="900" dirty="0"/>
          </a:p>
        </p:txBody>
      </p:sp>
      <p:sp>
        <p:nvSpPr>
          <p:cNvPr id="50" name="Shape 48"/>
          <p:cNvSpPr/>
          <p:nvPr/>
        </p:nvSpPr>
        <p:spPr>
          <a:xfrm>
            <a:off x="8375904" y="3044952"/>
            <a:ext cx="969264" cy="274320"/>
          </a:xfrm>
          <a:prstGeom prst="roundRect">
            <a:avLst>
              <a:gd name="adj" fmla="val 53333"/>
            </a:avLst>
          </a:prstGeom>
          <a:solidFill>
            <a:srgbClr val="FFFFFF"/>
          </a:solidFill>
          <a:ln w="9525">
            <a:solidFill>
              <a:srgbClr val="EFC8C1"/>
            </a:solidFill>
            <a:prstDash val="solid"/>
          </a:ln>
        </p:spPr>
      </p:sp>
      <p:sp>
        <p:nvSpPr>
          <p:cNvPr id="51" name="Text 49"/>
          <p:cNvSpPr/>
          <p:nvPr/>
        </p:nvSpPr>
        <p:spPr>
          <a:xfrm>
            <a:off x="8375904" y="3044952"/>
            <a:ext cx="969264" cy="274320"/>
          </a:xfrm>
          <a:prstGeom prst="rect">
            <a:avLst/>
          </a:prstGeom>
          <a:noFill/>
          <a:ln/>
        </p:spPr>
        <p:txBody>
          <a:bodyPr wrap="square" lIns="0" tIns="0" rIns="0" bIns="0" rtlCol="0" anchor="ctr"/>
          <a:lstStyle/>
          <a:p>
            <a:pPr algn="ctr" indent="0" marL="0">
              <a:buNone/>
            </a:pPr>
            <a:r>
              <a:rPr lang="en-US" sz="800" b="1" dirty="0">
                <a:solidFill>
                  <a:srgbClr val="BE4B3B"/>
                </a:solidFill>
                <a:latin typeface="Calibri" pitchFamily="34" charset="0"/>
                <a:ea typeface="Calibri" pitchFamily="34" charset="-122"/>
                <a:cs typeface="Calibri" pitchFamily="34" charset="-120"/>
              </a:rPr>
              <a:t>trung bình</a:t>
            </a:r>
            <a:endParaRPr lang="en-US" sz="800" dirty="0"/>
          </a:p>
        </p:txBody>
      </p:sp>
      <p:sp>
        <p:nvSpPr>
          <p:cNvPr id="52" name="Text 50"/>
          <p:cNvSpPr/>
          <p:nvPr/>
        </p:nvSpPr>
        <p:spPr>
          <a:xfrm>
            <a:off x="9454896" y="3017520"/>
            <a:ext cx="1975104"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hạ xuống mức thấp; B đúng</a:t>
            </a:r>
            <a:endParaRPr lang="en-US" sz="850" dirty="0"/>
          </a:p>
        </p:txBody>
      </p:sp>
      <p:sp>
        <p:nvSpPr>
          <p:cNvPr id="53" name="Text 51"/>
          <p:cNvSpPr/>
          <p:nvPr/>
        </p:nvSpPr>
        <p:spPr>
          <a:xfrm>
            <a:off x="6565392" y="3419856"/>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benign-23502-05</a:t>
            </a:r>
            <a:endParaRPr lang="en-US" sz="900" dirty="0"/>
          </a:p>
        </p:txBody>
      </p:sp>
      <p:sp>
        <p:nvSpPr>
          <p:cNvPr id="54" name="Shape 52"/>
          <p:cNvSpPr/>
          <p:nvPr/>
        </p:nvSpPr>
        <p:spPr>
          <a:xfrm>
            <a:off x="8375904" y="3447288"/>
            <a:ext cx="969264" cy="274320"/>
          </a:xfrm>
          <a:prstGeom prst="roundRect">
            <a:avLst>
              <a:gd name="adj" fmla="val 53333"/>
            </a:avLst>
          </a:prstGeom>
          <a:solidFill>
            <a:srgbClr val="FFFFFF"/>
          </a:solidFill>
          <a:ln w="9525">
            <a:solidFill>
              <a:srgbClr val="EFC8C1"/>
            </a:solidFill>
            <a:prstDash val="solid"/>
          </a:ln>
        </p:spPr>
      </p:sp>
      <p:sp>
        <p:nvSpPr>
          <p:cNvPr id="55" name="Text 53"/>
          <p:cNvSpPr/>
          <p:nvPr/>
        </p:nvSpPr>
        <p:spPr>
          <a:xfrm>
            <a:off x="8375904" y="3447288"/>
            <a:ext cx="969264" cy="274320"/>
          </a:xfrm>
          <a:prstGeom prst="rect">
            <a:avLst/>
          </a:prstGeom>
          <a:noFill/>
          <a:ln/>
        </p:spPr>
        <p:txBody>
          <a:bodyPr wrap="square" lIns="0" tIns="0" rIns="0" bIns="0" rtlCol="0" anchor="ctr"/>
          <a:lstStyle/>
          <a:p>
            <a:pPr algn="ctr" indent="0" marL="0">
              <a:buNone/>
            </a:pPr>
            <a:r>
              <a:rPr lang="en-US" sz="800" b="1" dirty="0">
                <a:solidFill>
                  <a:srgbClr val="BE4B3B"/>
                </a:solidFill>
                <a:latin typeface="Calibri" pitchFamily="34" charset="0"/>
                <a:ea typeface="Calibri" pitchFamily="34" charset="-122"/>
                <a:cs typeface="Calibri" pitchFamily="34" charset="-120"/>
              </a:rPr>
              <a:t>thấp</a:t>
            </a:r>
            <a:endParaRPr lang="en-US" sz="800" dirty="0"/>
          </a:p>
        </p:txBody>
      </p:sp>
      <p:sp>
        <p:nvSpPr>
          <p:cNvPr id="56" name="Text 54"/>
          <p:cNvSpPr/>
          <p:nvPr/>
        </p:nvSpPr>
        <p:spPr>
          <a:xfrm>
            <a:off x="9454896" y="3419856"/>
            <a:ext cx="1975104"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nâng lên trung bình; B đúng</a:t>
            </a:r>
            <a:endParaRPr lang="en-US" sz="850" dirty="0"/>
          </a:p>
        </p:txBody>
      </p:sp>
      <p:sp>
        <p:nvSpPr>
          <p:cNvPr id="57" name="Text 55"/>
          <p:cNvSpPr/>
          <p:nvPr/>
        </p:nvSpPr>
        <p:spPr>
          <a:xfrm>
            <a:off x="6565392" y="3822192"/>
            <a:ext cx="1783080" cy="329184"/>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benign-23502-01</a:t>
            </a:r>
            <a:endParaRPr lang="en-US" sz="900" dirty="0"/>
          </a:p>
        </p:txBody>
      </p:sp>
      <p:sp>
        <p:nvSpPr>
          <p:cNvPr id="58" name="Shape 56"/>
          <p:cNvSpPr/>
          <p:nvPr/>
        </p:nvSpPr>
        <p:spPr>
          <a:xfrm>
            <a:off x="8375904" y="3849624"/>
            <a:ext cx="969264" cy="274320"/>
          </a:xfrm>
          <a:prstGeom prst="roundRect">
            <a:avLst>
              <a:gd name="adj" fmla="val 53333"/>
            </a:avLst>
          </a:prstGeom>
          <a:solidFill>
            <a:srgbClr val="FFFFFF"/>
          </a:solidFill>
          <a:ln w="9525">
            <a:solidFill>
              <a:srgbClr val="EFC8C1"/>
            </a:solidFill>
            <a:prstDash val="solid"/>
          </a:ln>
        </p:spPr>
      </p:sp>
      <p:sp>
        <p:nvSpPr>
          <p:cNvPr id="59" name="Text 57"/>
          <p:cNvSpPr/>
          <p:nvPr/>
        </p:nvSpPr>
        <p:spPr>
          <a:xfrm>
            <a:off x="8375904" y="3849624"/>
            <a:ext cx="969264" cy="274320"/>
          </a:xfrm>
          <a:prstGeom prst="rect">
            <a:avLst/>
          </a:prstGeom>
          <a:noFill/>
          <a:ln/>
        </p:spPr>
        <p:txBody>
          <a:bodyPr wrap="square" lIns="0" tIns="0" rIns="0" bIns="0" rtlCol="0" anchor="ctr"/>
          <a:lstStyle/>
          <a:p>
            <a:pPr algn="ctr" indent="0" marL="0">
              <a:buNone/>
            </a:pPr>
            <a:r>
              <a:rPr lang="en-US" sz="800" b="1" dirty="0">
                <a:solidFill>
                  <a:srgbClr val="BE4B3B"/>
                </a:solidFill>
                <a:latin typeface="Calibri" pitchFamily="34" charset="0"/>
                <a:ea typeface="Calibri" pitchFamily="34" charset="-122"/>
                <a:cs typeface="Calibri" pitchFamily="34" charset="-120"/>
              </a:rPr>
              <a:t>thấp</a:t>
            </a:r>
            <a:endParaRPr lang="en-US" sz="800" dirty="0"/>
          </a:p>
        </p:txBody>
      </p:sp>
      <p:sp>
        <p:nvSpPr>
          <p:cNvPr id="60" name="Text 58"/>
          <p:cNvSpPr/>
          <p:nvPr/>
        </p:nvSpPr>
        <p:spPr>
          <a:xfrm>
            <a:off x="9454896" y="3822192"/>
            <a:ext cx="1975104" cy="329184"/>
          </a:xfrm>
          <a:prstGeom prst="rect">
            <a:avLst/>
          </a:prstGeom>
          <a:noFill/>
          <a:ln/>
        </p:spPr>
        <p:txBody>
          <a:bodyPr wrap="square" lIns="0" tIns="0" rIns="0" bIns="0" rtlCol="0" anchor="ctr"/>
          <a:lstStyle/>
          <a:p>
            <a:pPr indent="0" marL="0">
              <a:lnSpc>
                <a:spcPct val="95000"/>
              </a:lnSpc>
              <a:buNone/>
            </a:pPr>
            <a:r>
              <a:rPr lang="en-US" sz="850" dirty="0">
                <a:solidFill>
                  <a:srgbClr val="667E93"/>
                </a:solidFill>
                <a:latin typeface="Calibri" pitchFamily="34" charset="0"/>
                <a:ea typeface="Calibri" pitchFamily="34" charset="-122"/>
                <a:cs typeface="Calibri" pitchFamily="34" charset="-120"/>
              </a:rPr>
              <a:t>A từ chối phân loại (unknown)</a:t>
            </a:r>
            <a:endParaRPr lang="en-US" sz="850" dirty="0"/>
          </a:p>
        </p:txBody>
      </p:sp>
      <p:sp>
        <p:nvSpPr>
          <p:cNvPr id="61" name="Text 59"/>
          <p:cNvSpPr/>
          <p:nvPr/>
        </p:nvSpPr>
        <p:spPr>
          <a:xfrm>
            <a:off x="6565392" y="4315968"/>
            <a:ext cx="4846320" cy="292608"/>
          </a:xfrm>
          <a:prstGeom prst="rect">
            <a:avLst/>
          </a:prstGeom>
          <a:noFill/>
          <a:ln/>
        </p:spPr>
        <p:txBody>
          <a:bodyPr wrap="square" lIns="0" tIns="0" rIns="0" bIns="0" rtlCol="0" anchor="ctr"/>
          <a:lstStyle/>
          <a:p>
            <a:pPr indent="0" marL="0">
              <a:buNone/>
            </a:pPr>
            <a:r>
              <a:rPr lang="en-US" sz="1000" i="1" dirty="0">
                <a:solidFill>
                  <a:srgbClr val="667E93"/>
                </a:solidFill>
                <a:latin typeface="Calibri" pitchFamily="34" charset="0"/>
                <a:ea typeface="Calibri" pitchFamily="34" charset="-122"/>
                <a:cs typeface="Calibri" pitchFamily="34" charset="-120"/>
              </a:rPr>
              <a:t>20 case còn lại: hai cấu hình cho cùng kết quả.</a:t>
            </a:r>
            <a:endParaRPr lang="en-US" sz="1000" dirty="0"/>
          </a:p>
        </p:txBody>
      </p:sp>
      <p:sp>
        <p:nvSpPr>
          <p:cNvPr id="62" name="Text 60"/>
          <p:cNvSpPr/>
          <p:nvPr/>
        </p:nvSpPr>
        <p:spPr>
          <a:xfrm>
            <a:off x="6565392" y="4681728"/>
            <a:ext cx="4846320" cy="548640"/>
          </a:xfrm>
          <a:prstGeom prst="rect">
            <a:avLst/>
          </a:prstGeom>
          <a:noFill/>
          <a:ln/>
        </p:spPr>
        <p:txBody>
          <a:bodyPr wrap="square" lIns="0" tIns="0" rIns="0" bIns="0" rtlCol="0" anchor="t"/>
          <a:lstStyle/>
          <a:p>
            <a:pPr indent="0" marL="0">
              <a:lnSpc>
                <a:spcPct val="104000"/>
              </a:lnSpc>
              <a:buNone/>
            </a:pPr>
            <a:r>
              <a:rPr lang="en-US" sz="1000" b="1" dirty="0">
                <a:solidFill>
                  <a:srgbClr val="BE4B3B"/>
                </a:solidFill>
                <a:latin typeface="Calibri" pitchFamily="34" charset="0"/>
                <a:ea typeface="Calibri" pitchFamily="34" charset="-122"/>
                <a:cs typeface="Calibri" pitchFamily="34" charset="-120"/>
              </a:rPr>
              <a:t>So với cấu hình C: A đúng và C sai ở 13 case, chiều ngược lại chỉ 2 case.</a:t>
            </a:r>
            <a:endParaRPr lang="en-US" sz="1000" dirty="0"/>
          </a:p>
        </p:txBody>
      </p:sp>
      <p:sp>
        <p:nvSpPr>
          <p:cNvPr id="63" name="Shape 61"/>
          <p:cNvSpPr/>
          <p:nvPr/>
        </p:nvSpPr>
        <p:spPr>
          <a:xfrm>
            <a:off x="548640" y="5614416"/>
            <a:ext cx="11064240" cy="694944"/>
          </a:xfrm>
          <a:prstGeom prst="roundRect">
            <a:avLst>
              <a:gd name="adj" fmla="val 10526"/>
            </a:avLst>
          </a:prstGeom>
          <a:solidFill>
            <a:srgbClr val="F2F6FA"/>
          </a:solidFill>
          <a:ln w="9525">
            <a:solidFill>
              <a:srgbClr val="D7E2EC"/>
            </a:solidFill>
            <a:prstDash val="solid"/>
          </a:ln>
        </p:spPr>
      </p:sp>
      <p:sp>
        <p:nvSpPr>
          <p:cNvPr id="64" name="Text 62"/>
          <p:cNvSpPr/>
          <p:nvPr/>
        </p:nvSpPr>
        <p:spPr>
          <a:xfrm>
            <a:off x="804672" y="5614416"/>
            <a:ext cx="10552176" cy="694944"/>
          </a:xfrm>
          <a:prstGeom prst="rect">
            <a:avLst/>
          </a:prstGeom>
          <a:noFill/>
          <a:ln/>
        </p:spPr>
        <p:txBody>
          <a:bodyPr wrap="square" lIns="0" tIns="0" rIns="0" bIns="0" rtlCol="0" anchor="ctr"/>
          <a:lstStyle/>
          <a:p>
            <a:pPr algn="l" indent="0" marL="0">
              <a:buNone/>
            </a:pPr>
            <a:r>
              <a:rPr lang="en-US" sz="1050" b="1" dirty="0">
                <a:solidFill>
                  <a:srgbClr val="22303F"/>
                </a:solidFill>
                <a:latin typeface="Calibri" pitchFamily="34" charset="0"/>
                <a:ea typeface="Calibri" pitchFamily="34" charset="-122"/>
                <a:cs typeface="Calibri" pitchFamily="34" charset="-120"/>
              </a:rPr>
              <a:t>Xu hướng quan sát được: truy xuất tăng cường giữ đúng mức cao tốt hơn ở nhóm SSH, nhưng lại hạ mức ở hai case toàn vẹn tập tin và một case nhập nhằng. Với cỡ mẫu này, đây là quan sát định tính chứ chưa phải kết luận.</a:t>
            </a:r>
            <a:endParaRPr lang="en-US" sz="1050" dirty="0"/>
          </a:p>
        </p:txBody>
      </p:sp>
      <p:sp>
        <p:nvSpPr>
          <p:cNvPr id="65" name="Text 6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5</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Cách tính McNemar và khoảng tin cậy Wilson 95%</a:t>
            </a:r>
            <a:endParaRPr lang="en-US" sz="2600" dirty="0"/>
          </a:p>
        </p:txBody>
      </p:sp>
      <p:sp>
        <p:nvSpPr>
          <p:cNvPr id="5" name="Shape 3"/>
          <p:cNvSpPr/>
          <p:nvPr/>
        </p:nvSpPr>
        <p:spPr>
          <a:xfrm>
            <a:off x="548640" y="1719072"/>
            <a:ext cx="5349240" cy="2121408"/>
          </a:xfrm>
          <a:prstGeom prst="roundRect">
            <a:avLst>
              <a:gd name="adj" fmla="val 3879"/>
            </a:avLst>
          </a:prstGeom>
          <a:solidFill>
            <a:srgbClr val="F2F6FA"/>
          </a:solidFill>
          <a:ln w="9525">
            <a:solidFill>
              <a:srgbClr val="D7E2EC"/>
            </a:solidFill>
            <a:prstDash val="solid"/>
          </a:ln>
        </p:spPr>
      </p:sp>
      <p:sp>
        <p:nvSpPr>
          <p:cNvPr id="6" name="Text 4"/>
          <p:cNvSpPr/>
          <p:nvPr/>
        </p:nvSpPr>
        <p:spPr>
          <a:xfrm>
            <a:off x="786384" y="1828800"/>
            <a:ext cx="365760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BẢNG GHÉP CẶP — A SO VỚI B</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86384" y="2121408"/>
          <a:ext cx="4846320" cy="914400"/>
        </p:xfrm>
        <a:graphic>
          <a:graphicData uri="http://schemas.openxmlformats.org/drawingml/2006/table">
            <a:tbl>
              <a:tblPr/>
              <a:tblGrid>
                <a:gridCol w="1554480"/>
                <a:gridCol w="1645920"/>
                <a:gridCol w="1645920"/>
              </a:tblGrid>
              <a:tr h="438912">
                <a:tc>
                  <a:txBody>
                    <a:bodyPr/>
                    <a:lstStyle/>
                    <a:p>
                      <a:pPr indent="0" marL="0">
                        <a:buNone/>
                      </a:pP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 đúng</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 sai</a:t>
                      </a:r>
                      <a:endParaRPr lang="en-US" sz="10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438912">
                <a:tc>
                  <a:txBody>
                    <a:bodyPr/>
                    <a:lstStyle/>
                    <a:p>
                      <a:pPr indent="0" marL="0">
                        <a:buNone/>
                      </a:pPr>
                      <a:r>
                        <a:rPr lang="en-US" sz="1100" dirty="0">
                          <a:solidFill>
                            <a:srgbClr val="22303F"/>
                          </a:solidFill>
                          <a:latin typeface="Calibri" pitchFamily="34" charset="0"/>
                          <a:ea typeface="Calibri" pitchFamily="34" charset="-122"/>
                          <a:cs typeface="Calibri" pitchFamily="34" charset="-120"/>
                        </a:rPr>
                        <a:t>A đúng</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100" dirty="0">
                          <a:solidFill>
                            <a:srgbClr val="667E93"/>
                          </a:solidFill>
                          <a:latin typeface="Calibri" pitchFamily="34" charset="0"/>
                          <a:ea typeface="Calibri" pitchFamily="34" charset="-122"/>
                          <a:cs typeface="Calibri" pitchFamily="34" charset="-120"/>
                        </a:rPr>
                        <a:t>14  (hòa)</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1100" b="1" dirty="0">
                          <a:solidFill>
                            <a:srgbClr val="0E6B5A"/>
                          </a:solidFill>
                          <a:latin typeface="Calibri" pitchFamily="34" charset="0"/>
                          <a:ea typeface="Calibri" pitchFamily="34" charset="-122"/>
                          <a:cs typeface="Calibri" pitchFamily="34" charset="-120"/>
                        </a:rPr>
                        <a:t>b = 8</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22303F"/>
                          </a:solidFill>
                          <a:latin typeface="Calibri" pitchFamily="34" charset="0"/>
                          <a:ea typeface="Calibri" pitchFamily="34" charset="-122"/>
                          <a:cs typeface="Calibri" pitchFamily="34" charset="-120"/>
                        </a:rPr>
                        <a:t>A sai</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100" b="1" dirty="0">
                          <a:solidFill>
                            <a:srgbClr val="BE4B3B"/>
                          </a:solidFill>
                          <a:latin typeface="Calibri" pitchFamily="34" charset="0"/>
                          <a:ea typeface="Calibri" pitchFamily="34" charset="-122"/>
                          <a:cs typeface="Calibri" pitchFamily="34" charset="-120"/>
                        </a:rPr>
                        <a:t>c = 5</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1100" dirty="0">
                          <a:solidFill>
                            <a:srgbClr val="667E93"/>
                          </a:solidFill>
                          <a:latin typeface="Calibri" pitchFamily="34" charset="0"/>
                          <a:ea typeface="Calibri" pitchFamily="34" charset="-122"/>
                          <a:cs typeface="Calibri" pitchFamily="34" charset="-120"/>
                        </a:rPr>
                        <a:t>6  (hòa)</a:t>
                      </a:r>
                      <a:endParaRPr lang="en-US" sz="1100" dirty="0">
                        <a:latin typeface="Calibri" charset="0"/>
                        <a:ea typeface="Calibri" charset="0"/>
                        <a:cs typeface="Calibri" charset="0"/>
                      </a:endParaRPr>
                    </a:p>
                  </a:txBody>
                  <a:tcPr marL="88900" marR="88900" marT="38100" marB="381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8" name="Text 5"/>
          <p:cNvSpPr/>
          <p:nvPr/>
        </p:nvSpPr>
        <p:spPr>
          <a:xfrm>
            <a:off x="786384" y="3493008"/>
            <a:ext cx="4846320" cy="274320"/>
          </a:xfrm>
          <a:prstGeom prst="rect">
            <a:avLst/>
          </a:prstGeom>
          <a:noFill/>
          <a:ln/>
        </p:spPr>
        <p:txBody>
          <a:bodyPr wrap="square" lIns="0" tIns="0" rIns="0" bIns="0" rtlCol="0" anchor="ctr"/>
          <a:lstStyle/>
          <a:p>
            <a:pPr indent="0" marL="0">
              <a:buNone/>
            </a:pPr>
            <a:r>
              <a:rPr lang="en-US" sz="1100" b="1" dirty="0">
                <a:solidFill>
                  <a:srgbClr val="B57A16"/>
                </a:solidFill>
                <a:latin typeface="Calibri" pitchFamily="34" charset="0"/>
                <a:ea typeface="Calibri" pitchFamily="34" charset="-122"/>
                <a:cs typeface="Calibri" pitchFamily="34" charset="-120"/>
              </a:rPr>
              <a:t>13 cặp bất đồng  →  p = 0,58</a:t>
            </a:r>
            <a:endParaRPr lang="en-US" sz="1100" dirty="0"/>
          </a:p>
        </p:txBody>
      </p:sp>
      <p:sp>
        <p:nvSpPr>
          <p:cNvPr id="9" name="Shape 6"/>
          <p:cNvSpPr/>
          <p:nvPr/>
        </p:nvSpPr>
        <p:spPr>
          <a:xfrm>
            <a:off x="548640" y="3968496"/>
            <a:ext cx="5349240" cy="1042416"/>
          </a:xfrm>
          <a:prstGeom prst="roundRect">
            <a:avLst>
              <a:gd name="adj" fmla="val 7895"/>
            </a:avLst>
          </a:prstGeom>
          <a:solidFill>
            <a:srgbClr val="DCF0EB"/>
          </a:solidFill>
          <a:ln w="9525">
            <a:solidFill>
              <a:srgbClr val="BCE0D7"/>
            </a:solidFill>
            <a:prstDash val="solid"/>
          </a:ln>
        </p:spPr>
      </p:sp>
      <p:sp>
        <p:nvSpPr>
          <p:cNvPr id="10" name="Text 7"/>
          <p:cNvSpPr/>
          <p:nvPr/>
        </p:nvSpPr>
        <p:spPr>
          <a:xfrm>
            <a:off x="786384" y="4078224"/>
            <a:ext cx="3657600" cy="237744"/>
          </a:xfrm>
          <a:prstGeom prst="rect">
            <a:avLst/>
          </a:prstGeom>
          <a:noFill/>
          <a:ln/>
        </p:spPr>
        <p:txBody>
          <a:bodyPr wrap="square" lIns="0" tIns="0" rIns="0" bIns="0" rtlCol="0" anchor="ctr"/>
          <a:lstStyle/>
          <a:p>
            <a:pPr indent="0" marL="0">
              <a:buNone/>
            </a:pPr>
            <a:r>
              <a:rPr lang="en-US" sz="850" b="1" spc="100" kern="0" dirty="0">
                <a:solidFill>
                  <a:srgbClr val="0E6B5A"/>
                </a:solidFill>
                <a:latin typeface="Calibri" pitchFamily="34" charset="0"/>
                <a:ea typeface="Calibri" pitchFamily="34" charset="-122"/>
                <a:cs typeface="Calibri" pitchFamily="34" charset="-120"/>
              </a:rPr>
              <a:t>A SO VỚI C</a:t>
            </a:r>
            <a:endParaRPr lang="en-US" sz="850" dirty="0"/>
          </a:p>
        </p:txBody>
      </p:sp>
      <p:sp>
        <p:nvSpPr>
          <p:cNvPr id="11" name="Text 8"/>
          <p:cNvSpPr/>
          <p:nvPr/>
        </p:nvSpPr>
        <p:spPr>
          <a:xfrm>
            <a:off x="786384" y="4334256"/>
            <a:ext cx="4846320" cy="566928"/>
          </a:xfrm>
          <a:prstGeom prst="rect">
            <a:avLst/>
          </a:prstGeom>
          <a:noFill/>
          <a:ln/>
        </p:spPr>
        <p:txBody>
          <a:bodyPr wrap="square" lIns="0" tIns="0" rIns="0" bIns="0" rtlCol="0" anchor="ctr"/>
          <a:lstStyle/>
          <a:p>
            <a:pPr indent="0" marL="0">
              <a:lnSpc>
                <a:spcPct val="104000"/>
              </a:lnSpc>
              <a:buNone/>
            </a:pPr>
            <a:r>
              <a:rPr lang="en-US" sz="1050" dirty="0">
                <a:solidFill>
                  <a:srgbClr val="22303F"/>
                </a:solidFill>
                <a:latin typeface="Calibri" pitchFamily="34" charset="0"/>
                <a:ea typeface="Calibri" pitchFamily="34" charset="-122"/>
                <a:cs typeface="Calibri" pitchFamily="34" charset="-120"/>
              </a:rPr>
              <a:t>13 case A đúng / C sai  ·  2 case ngược lại  →  15 cặp bất đồng  →  </a:t>
            </a:r>
            <a:pPr indent="0" marL="0">
              <a:lnSpc>
                <a:spcPct val="104000"/>
              </a:lnSpc>
              <a:buNone/>
            </a:pPr>
            <a:r>
              <a:rPr lang="en-US" sz="1200" b="1" dirty="0">
                <a:solidFill>
                  <a:srgbClr val="0E6B5A"/>
                </a:solidFill>
                <a:latin typeface="Calibri" pitchFamily="34" charset="0"/>
                <a:ea typeface="Calibri" pitchFamily="34" charset="-122"/>
                <a:cs typeface="Calibri" pitchFamily="34" charset="-120"/>
              </a:rPr>
              <a:t>p = 0,0074</a:t>
            </a:r>
            <a:endParaRPr lang="en-US" sz="1050" dirty="0"/>
          </a:p>
        </p:txBody>
      </p:sp>
      <p:sp>
        <p:nvSpPr>
          <p:cNvPr id="12" name="Shape 9"/>
          <p:cNvSpPr/>
          <p:nvPr/>
        </p:nvSpPr>
        <p:spPr>
          <a:xfrm>
            <a:off x="548640" y="5138928"/>
            <a:ext cx="5349240" cy="1170432"/>
          </a:xfrm>
          <a:prstGeom prst="roundRect">
            <a:avLst>
              <a:gd name="adj" fmla="val 7031"/>
            </a:avLst>
          </a:prstGeom>
          <a:solidFill>
            <a:srgbClr val="0D1B2A"/>
          </a:solidFill>
          <a:ln w="9525">
            <a:solidFill>
              <a:srgbClr val="0D1B2A"/>
            </a:solidFill>
            <a:prstDash val="solid"/>
          </a:ln>
        </p:spPr>
      </p:sp>
      <p:sp>
        <p:nvSpPr>
          <p:cNvPr id="13" name="Text 10"/>
          <p:cNvSpPr/>
          <p:nvPr/>
        </p:nvSpPr>
        <p:spPr>
          <a:xfrm>
            <a:off x="786384" y="5248656"/>
            <a:ext cx="4389120" cy="237744"/>
          </a:xfrm>
          <a:prstGeom prst="rect">
            <a:avLst/>
          </a:prstGeom>
          <a:noFill/>
          <a:ln/>
        </p:spPr>
        <p:txBody>
          <a:bodyPr wrap="square" lIns="0" tIns="0" rIns="0" bIns="0" rtlCol="0" anchor="ctr"/>
          <a:lstStyle/>
          <a:p>
            <a:pPr indent="0" marL="0">
              <a:buNone/>
            </a:pPr>
            <a:r>
              <a:rPr lang="en-US" sz="850" b="1" spc="100" kern="0" dirty="0">
                <a:solidFill>
                  <a:srgbClr val="7794AE"/>
                </a:solidFill>
                <a:latin typeface="Calibri" pitchFamily="34" charset="0"/>
                <a:ea typeface="Calibri" pitchFamily="34" charset="-122"/>
                <a:cs typeface="Calibri" pitchFamily="34" charset="-120"/>
              </a:rPr>
              <a:t>CÔNG THỨC — KIỂM ĐỊNH CHÍNH XÁC HAI PHÍA</a:t>
            </a:r>
            <a:endParaRPr lang="en-US" sz="850" dirty="0"/>
          </a:p>
        </p:txBody>
      </p:sp>
      <p:sp>
        <p:nvSpPr>
          <p:cNvPr id="14" name="Text 11"/>
          <p:cNvSpPr/>
          <p:nvPr/>
        </p:nvSpPr>
        <p:spPr>
          <a:xfrm>
            <a:off x="786384" y="5541264"/>
            <a:ext cx="4846320" cy="329184"/>
          </a:xfrm>
          <a:prstGeom prst="rect">
            <a:avLst/>
          </a:prstGeom>
          <a:noFill/>
          <a:ln/>
        </p:spPr>
        <p:txBody>
          <a:bodyPr wrap="square" lIns="0" tIns="0" rIns="0" bIns="0" rtlCol="0" anchor="ctr"/>
          <a:lstStyle/>
          <a:p>
            <a:pPr indent="0" marL="0">
              <a:buNone/>
            </a:pPr>
            <a:r>
              <a:rPr lang="en-US" sz="1100" dirty="0">
                <a:solidFill>
                  <a:srgbClr val="A8C6DD"/>
                </a:solidFill>
                <a:latin typeface="Courier New" pitchFamily="34" charset="0"/>
                <a:ea typeface="Courier New" pitchFamily="34" charset="-122"/>
                <a:cs typeface="Courier New" pitchFamily="34" charset="-120"/>
              </a:rPr>
              <a:t>p = 2 × P( X ≤ min(b, c) | n = b + c, p = 0,5 )</a:t>
            </a:r>
            <a:endParaRPr lang="en-US" sz="1100" dirty="0"/>
          </a:p>
        </p:txBody>
      </p:sp>
      <p:sp>
        <p:nvSpPr>
          <p:cNvPr id="15" name="Text 12"/>
          <p:cNvSpPr/>
          <p:nvPr/>
        </p:nvSpPr>
        <p:spPr>
          <a:xfrm>
            <a:off x="786384" y="5870448"/>
            <a:ext cx="4846320" cy="329184"/>
          </a:xfrm>
          <a:prstGeom prst="rect">
            <a:avLst/>
          </a:prstGeom>
          <a:noFill/>
          <a:ln/>
        </p:spPr>
        <p:txBody>
          <a:bodyPr wrap="square" lIns="0" tIns="0" rIns="0" bIns="0" rtlCol="0" anchor="ctr"/>
          <a:lstStyle/>
          <a:p>
            <a:pPr indent="0" marL="0">
              <a:buNone/>
            </a:pPr>
            <a:r>
              <a:rPr lang="en-US" sz="850" i="1" dirty="0">
                <a:solidFill>
                  <a:srgbClr val="8FB0C8"/>
                </a:solidFill>
                <a:latin typeface="Calibri" pitchFamily="34" charset="0"/>
                <a:ea typeface="Calibri" pitchFamily="34" charset="-122"/>
                <a:cs typeface="Calibri" pitchFamily="34" charset="-120"/>
              </a:rPr>
              <a:t>Chỉ những case cho kết quả khác nhau mới mang thông tin; case hòa bị loại khỏi phép tính.</a:t>
            </a:r>
            <a:endParaRPr lang="en-US" sz="850" dirty="0"/>
          </a:p>
        </p:txBody>
      </p:sp>
      <p:sp>
        <p:nvSpPr>
          <p:cNvPr id="16" name="Shape 13"/>
          <p:cNvSpPr/>
          <p:nvPr/>
        </p:nvSpPr>
        <p:spPr>
          <a:xfrm>
            <a:off x="6172200" y="1719072"/>
            <a:ext cx="5440680" cy="2980944"/>
          </a:xfrm>
          <a:prstGeom prst="roundRect">
            <a:avLst>
              <a:gd name="adj" fmla="val 2761"/>
            </a:avLst>
          </a:prstGeom>
          <a:solidFill>
            <a:srgbClr val="F2F6FA"/>
          </a:solidFill>
          <a:ln w="9525">
            <a:solidFill>
              <a:srgbClr val="D7E2EC"/>
            </a:solidFill>
            <a:prstDash val="solid"/>
          </a:ln>
        </p:spPr>
      </p:sp>
      <p:sp>
        <p:nvSpPr>
          <p:cNvPr id="17" name="Text 14"/>
          <p:cNvSpPr/>
          <p:nvPr/>
        </p:nvSpPr>
        <p:spPr>
          <a:xfrm>
            <a:off x="6409944" y="1828800"/>
            <a:ext cx="4937760" cy="237744"/>
          </a:xfrm>
          <a:prstGeom prst="rect">
            <a:avLst/>
          </a:prstGeom>
          <a:noFill/>
          <a:ln/>
        </p:spPr>
        <p:txBody>
          <a:bodyPr wrap="square" lIns="0" tIns="0" rIns="0" bIns="0" rtlCol="0" anchor="ctr"/>
          <a:lstStyle/>
          <a:p>
            <a:pPr indent="0" marL="0">
              <a:buNone/>
            </a:pPr>
            <a:r>
              <a:rPr lang="en-US" sz="850" b="1" spc="100" kern="0" dirty="0">
                <a:solidFill>
                  <a:srgbClr val="667E93"/>
                </a:solidFill>
                <a:latin typeface="Calibri" pitchFamily="34" charset="0"/>
                <a:ea typeface="Calibri" pitchFamily="34" charset="-122"/>
                <a:cs typeface="Calibri" pitchFamily="34" charset="-120"/>
              </a:rPr>
              <a:t>KHOẢNG TIN CẬY WILSON 95% CHO TỶ LỆ KHỚP</a:t>
            </a:r>
            <a:endParaRPr lang="en-US" sz="850" dirty="0"/>
          </a:p>
        </p:txBody>
      </p:sp>
      <p:sp>
        <p:nvSpPr>
          <p:cNvPr id="18" name="Text 15"/>
          <p:cNvSpPr/>
          <p:nvPr/>
        </p:nvSpPr>
        <p:spPr>
          <a:xfrm>
            <a:off x="7562088" y="3986784"/>
            <a:ext cx="512064" cy="219456"/>
          </a:xfrm>
          <a:prstGeom prst="rect">
            <a:avLst/>
          </a:prstGeom>
          <a:noFill/>
          <a:ln/>
        </p:spPr>
        <p:txBody>
          <a:bodyPr wrap="square" lIns="0" tIns="0" rIns="0" bIns="0" rtlCol="0" anchor="ctr"/>
          <a:lstStyle/>
          <a:p>
            <a:pPr algn="ctr" indent="0" marL="0">
              <a:buNone/>
            </a:pPr>
            <a:r>
              <a:rPr lang="en-US" sz="750" dirty="0">
                <a:solidFill>
                  <a:srgbClr val="667E93"/>
                </a:solidFill>
                <a:latin typeface="Calibri" pitchFamily="34" charset="0"/>
                <a:ea typeface="Calibri" pitchFamily="34" charset="-122"/>
                <a:cs typeface="Calibri" pitchFamily="34" charset="-120"/>
              </a:rPr>
              <a:t>0%</a:t>
            </a:r>
            <a:endParaRPr lang="en-US" sz="750" dirty="0"/>
          </a:p>
        </p:txBody>
      </p:sp>
      <p:sp>
        <p:nvSpPr>
          <p:cNvPr id="19" name="Text 16"/>
          <p:cNvSpPr/>
          <p:nvPr/>
        </p:nvSpPr>
        <p:spPr>
          <a:xfrm>
            <a:off x="8373618" y="3986784"/>
            <a:ext cx="512064" cy="219456"/>
          </a:xfrm>
          <a:prstGeom prst="rect">
            <a:avLst/>
          </a:prstGeom>
          <a:noFill/>
          <a:ln/>
        </p:spPr>
        <p:txBody>
          <a:bodyPr wrap="square" lIns="0" tIns="0" rIns="0" bIns="0" rtlCol="0" anchor="ctr"/>
          <a:lstStyle/>
          <a:p>
            <a:pPr algn="ctr" indent="0" marL="0">
              <a:buNone/>
            </a:pPr>
            <a:r>
              <a:rPr lang="en-US" sz="750" dirty="0">
                <a:solidFill>
                  <a:srgbClr val="667E93"/>
                </a:solidFill>
                <a:latin typeface="Calibri" pitchFamily="34" charset="0"/>
                <a:ea typeface="Calibri" pitchFamily="34" charset="-122"/>
                <a:cs typeface="Calibri" pitchFamily="34" charset="-120"/>
              </a:rPr>
              <a:t>25%</a:t>
            </a:r>
            <a:endParaRPr lang="en-US" sz="750" dirty="0"/>
          </a:p>
        </p:txBody>
      </p:sp>
      <p:sp>
        <p:nvSpPr>
          <p:cNvPr id="20" name="Text 17"/>
          <p:cNvSpPr/>
          <p:nvPr/>
        </p:nvSpPr>
        <p:spPr>
          <a:xfrm>
            <a:off x="9185148" y="3986784"/>
            <a:ext cx="512064" cy="219456"/>
          </a:xfrm>
          <a:prstGeom prst="rect">
            <a:avLst/>
          </a:prstGeom>
          <a:noFill/>
          <a:ln/>
        </p:spPr>
        <p:txBody>
          <a:bodyPr wrap="square" lIns="0" tIns="0" rIns="0" bIns="0" rtlCol="0" anchor="ctr"/>
          <a:lstStyle/>
          <a:p>
            <a:pPr algn="ctr" indent="0" marL="0">
              <a:buNone/>
            </a:pPr>
            <a:r>
              <a:rPr lang="en-US" sz="750" dirty="0">
                <a:solidFill>
                  <a:srgbClr val="667E93"/>
                </a:solidFill>
                <a:latin typeface="Calibri" pitchFamily="34" charset="0"/>
                <a:ea typeface="Calibri" pitchFamily="34" charset="-122"/>
                <a:cs typeface="Calibri" pitchFamily="34" charset="-120"/>
              </a:rPr>
              <a:t>50%</a:t>
            </a:r>
            <a:endParaRPr lang="en-US" sz="750" dirty="0"/>
          </a:p>
        </p:txBody>
      </p:sp>
      <p:sp>
        <p:nvSpPr>
          <p:cNvPr id="21" name="Text 18"/>
          <p:cNvSpPr/>
          <p:nvPr/>
        </p:nvSpPr>
        <p:spPr>
          <a:xfrm>
            <a:off x="9996678" y="3986784"/>
            <a:ext cx="512064" cy="219456"/>
          </a:xfrm>
          <a:prstGeom prst="rect">
            <a:avLst/>
          </a:prstGeom>
          <a:noFill/>
          <a:ln/>
        </p:spPr>
        <p:txBody>
          <a:bodyPr wrap="square" lIns="0" tIns="0" rIns="0" bIns="0" rtlCol="0" anchor="ctr"/>
          <a:lstStyle/>
          <a:p>
            <a:pPr algn="ctr" indent="0" marL="0">
              <a:buNone/>
            </a:pPr>
            <a:r>
              <a:rPr lang="en-US" sz="750" dirty="0">
                <a:solidFill>
                  <a:srgbClr val="667E93"/>
                </a:solidFill>
                <a:latin typeface="Calibri" pitchFamily="34" charset="0"/>
                <a:ea typeface="Calibri" pitchFamily="34" charset="-122"/>
                <a:cs typeface="Calibri" pitchFamily="34" charset="-120"/>
              </a:rPr>
              <a:t>75%</a:t>
            </a:r>
            <a:endParaRPr lang="en-US" sz="750" dirty="0"/>
          </a:p>
        </p:txBody>
      </p:sp>
      <p:sp>
        <p:nvSpPr>
          <p:cNvPr id="22" name="Text 19"/>
          <p:cNvSpPr/>
          <p:nvPr/>
        </p:nvSpPr>
        <p:spPr>
          <a:xfrm>
            <a:off x="10808208" y="3986784"/>
            <a:ext cx="512064" cy="219456"/>
          </a:xfrm>
          <a:prstGeom prst="rect">
            <a:avLst/>
          </a:prstGeom>
          <a:noFill/>
          <a:ln/>
        </p:spPr>
        <p:txBody>
          <a:bodyPr wrap="square" lIns="0" tIns="0" rIns="0" bIns="0" rtlCol="0" anchor="ctr"/>
          <a:lstStyle/>
          <a:p>
            <a:pPr algn="ctr" indent="0" marL="0">
              <a:buNone/>
            </a:pPr>
            <a:r>
              <a:rPr lang="en-US" sz="750" dirty="0">
                <a:solidFill>
                  <a:srgbClr val="667E93"/>
                </a:solidFill>
                <a:latin typeface="Calibri" pitchFamily="34" charset="0"/>
                <a:ea typeface="Calibri" pitchFamily="34" charset="-122"/>
                <a:cs typeface="Calibri" pitchFamily="34" charset="-120"/>
              </a:rPr>
              <a:t>100%</a:t>
            </a:r>
            <a:endParaRPr lang="en-US" sz="750" dirty="0"/>
          </a:p>
        </p:txBody>
      </p:sp>
      <p:sp>
        <p:nvSpPr>
          <p:cNvPr id="23" name="Text 20"/>
          <p:cNvSpPr/>
          <p:nvPr/>
        </p:nvSpPr>
        <p:spPr>
          <a:xfrm>
            <a:off x="6409944" y="2231136"/>
            <a:ext cx="1325880" cy="310896"/>
          </a:xfrm>
          <a:prstGeom prst="rect">
            <a:avLst/>
          </a:prstGeom>
          <a:noFill/>
          <a:ln/>
        </p:spPr>
        <p:txBody>
          <a:bodyPr wrap="square" lIns="0" tIns="0" rIns="0" bIns="0"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A — có RAG</a:t>
            </a:r>
            <a:endParaRPr lang="en-US" sz="950" dirty="0"/>
          </a:p>
        </p:txBody>
      </p:sp>
      <p:sp>
        <p:nvSpPr>
          <p:cNvPr id="24" name="Shape 21"/>
          <p:cNvSpPr/>
          <p:nvPr/>
        </p:nvSpPr>
        <p:spPr>
          <a:xfrm>
            <a:off x="7818120" y="2340864"/>
            <a:ext cx="3246120" cy="91440"/>
          </a:xfrm>
          <a:prstGeom prst="roundRect">
            <a:avLst>
              <a:gd name="adj" fmla="val 50000"/>
            </a:avLst>
          </a:prstGeom>
          <a:solidFill>
            <a:srgbClr val="E6EEF5"/>
          </a:solidFill>
          <a:ln w="12700">
            <a:solidFill>
              <a:srgbClr val="E6EEF5"/>
            </a:solidFill>
            <a:prstDash val="solid"/>
          </a:ln>
        </p:spPr>
      </p:sp>
      <p:sp>
        <p:nvSpPr>
          <p:cNvPr id="25" name="Shape 22"/>
          <p:cNvSpPr/>
          <p:nvPr/>
        </p:nvSpPr>
        <p:spPr>
          <a:xfrm>
            <a:off x="9428196" y="2313432"/>
            <a:ext cx="993313" cy="146304"/>
          </a:xfrm>
          <a:prstGeom prst="roundRect">
            <a:avLst>
              <a:gd name="adj" fmla="val 50000"/>
            </a:avLst>
          </a:prstGeom>
          <a:solidFill>
            <a:srgbClr val="1F9E86"/>
          </a:solidFill>
          <a:ln w="12700">
            <a:solidFill>
              <a:srgbClr val="1F9E86"/>
            </a:solidFill>
            <a:prstDash val="solid"/>
          </a:ln>
        </p:spPr>
      </p:sp>
      <p:sp>
        <p:nvSpPr>
          <p:cNvPr id="26" name="Shape 23"/>
          <p:cNvSpPr/>
          <p:nvPr/>
        </p:nvSpPr>
        <p:spPr>
          <a:xfrm>
            <a:off x="9942134" y="2249424"/>
            <a:ext cx="82296" cy="274320"/>
          </a:xfrm>
          <a:prstGeom prst="roundRect">
            <a:avLst>
              <a:gd name="adj" fmla="val 50000"/>
            </a:avLst>
          </a:prstGeom>
          <a:solidFill>
            <a:srgbClr val="0D1B2A"/>
          </a:solidFill>
          <a:ln w="12700">
            <a:solidFill>
              <a:srgbClr val="0D1B2A"/>
            </a:solidFill>
            <a:prstDash val="solid"/>
          </a:ln>
        </p:spPr>
      </p:sp>
      <p:sp>
        <p:nvSpPr>
          <p:cNvPr id="27" name="Text 24"/>
          <p:cNvSpPr/>
          <p:nvPr/>
        </p:nvSpPr>
        <p:spPr>
          <a:xfrm>
            <a:off x="6409944" y="2505456"/>
            <a:ext cx="1325880" cy="219456"/>
          </a:xfrm>
          <a:prstGeom prst="rect">
            <a:avLst/>
          </a:prstGeom>
          <a:noFill/>
          <a:ln/>
        </p:spPr>
        <p:txBody>
          <a:bodyPr wrap="square" lIns="0" tIns="0" rIns="0" bIns="0" rtlCol="0" anchor="ctr"/>
          <a:lstStyle/>
          <a:p>
            <a:pPr indent="0" marL="0">
              <a:buNone/>
            </a:pPr>
            <a:r>
              <a:rPr lang="en-US" sz="800" dirty="0">
                <a:solidFill>
                  <a:srgbClr val="667E93"/>
                </a:solidFill>
                <a:latin typeface="Calibri" pitchFamily="34" charset="0"/>
                <a:ea typeface="Calibri" pitchFamily="34" charset="-122"/>
                <a:cs typeface="Calibri" pitchFamily="34" charset="-120"/>
              </a:rPr>
              <a:t>49,6–80,2%</a:t>
            </a:r>
            <a:endParaRPr lang="en-US" sz="800" dirty="0"/>
          </a:p>
        </p:txBody>
      </p:sp>
      <p:sp>
        <p:nvSpPr>
          <p:cNvPr id="28" name="Text 25"/>
          <p:cNvSpPr/>
          <p:nvPr/>
        </p:nvSpPr>
        <p:spPr>
          <a:xfrm>
            <a:off x="6409944" y="2798064"/>
            <a:ext cx="1325880" cy="310896"/>
          </a:xfrm>
          <a:prstGeom prst="rect">
            <a:avLst/>
          </a:prstGeom>
          <a:noFill/>
          <a:ln/>
        </p:spPr>
        <p:txBody>
          <a:bodyPr wrap="square" lIns="0" tIns="0" rIns="0" bIns="0"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B — không RAG</a:t>
            </a:r>
            <a:endParaRPr lang="en-US" sz="950" dirty="0"/>
          </a:p>
        </p:txBody>
      </p:sp>
      <p:sp>
        <p:nvSpPr>
          <p:cNvPr id="29" name="Shape 26"/>
          <p:cNvSpPr/>
          <p:nvPr/>
        </p:nvSpPr>
        <p:spPr>
          <a:xfrm>
            <a:off x="7818120" y="2907792"/>
            <a:ext cx="3246120" cy="91440"/>
          </a:xfrm>
          <a:prstGeom prst="roundRect">
            <a:avLst>
              <a:gd name="adj" fmla="val 50000"/>
            </a:avLst>
          </a:prstGeom>
          <a:solidFill>
            <a:srgbClr val="E6EEF5"/>
          </a:solidFill>
          <a:ln w="12700">
            <a:solidFill>
              <a:srgbClr val="E6EEF5"/>
            </a:solidFill>
            <a:prstDash val="solid"/>
          </a:ln>
        </p:spPr>
      </p:sp>
      <p:sp>
        <p:nvSpPr>
          <p:cNvPr id="30" name="Shape 27"/>
          <p:cNvSpPr/>
          <p:nvPr/>
        </p:nvSpPr>
        <p:spPr>
          <a:xfrm>
            <a:off x="9142537" y="2880360"/>
            <a:ext cx="1038758" cy="146304"/>
          </a:xfrm>
          <a:prstGeom prst="roundRect">
            <a:avLst>
              <a:gd name="adj" fmla="val 50000"/>
            </a:avLst>
          </a:prstGeom>
          <a:solidFill>
            <a:srgbClr val="2C6E9B"/>
          </a:solidFill>
          <a:ln w="12700">
            <a:solidFill>
              <a:srgbClr val="2C6E9B"/>
            </a:solidFill>
            <a:prstDash val="solid"/>
          </a:ln>
        </p:spPr>
      </p:sp>
      <p:sp>
        <p:nvSpPr>
          <p:cNvPr id="31" name="Shape 28"/>
          <p:cNvSpPr/>
          <p:nvPr/>
        </p:nvSpPr>
        <p:spPr>
          <a:xfrm>
            <a:off x="9646737" y="2816352"/>
            <a:ext cx="82296" cy="274320"/>
          </a:xfrm>
          <a:prstGeom prst="roundRect">
            <a:avLst>
              <a:gd name="adj" fmla="val 50000"/>
            </a:avLst>
          </a:prstGeom>
          <a:solidFill>
            <a:srgbClr val="0D1B2A"/>
          </a:solidFill>
          <a:ln w="12700">
            <a:solidFill>
              <a:srgbClr val="0D1B2A"/>
            </a:solidFill>
            <a:prstDash val="solid"/>
          </a:ln>
        </p:spPr>
      </p:sp>
      <p:sp>
        <p:nvSpPr>
          <p:cNvPr id="32" name="Text 29"/>
          <p:cNvSpPr/>
          <p:nvPr/>
        </p:nvSpPr>
        <p:spPr>
          <a:xfrm>
            <a:off x="6409944" y="3072384"/>
            <a:ext cx="1325880" cy="219456"/>
          </a:xfrm>
          <a:prstGeom prst="rect">
            <a:avLst/>
          </a:prstGeom>
          <a:noFill/>
          <a:ln/>
        </p:spPr>
        <p:txBody>
          <a:bodyPr wrap="square" lIns="0" tIns="0" rIns="0" bIns="0" rtlCol="0" anchor="ctr"/>
          <a:lstStyle/>
          <a:p>
            <a:pPr indent="0" marL="0">
              <a:buNone/>
            </a:pPr>
            <a:r>
              <a:rPr lang="en-US" sz="800" dirty="0">
                <a:solidFill>
                  <a:srgbClr val="667E93"/>
                </a:solidFill>
                <a:latin typeface="Calibri" pitchFamily="34" charset="0"/>
                <a:ea typeface="Calibri" pitchFamily="34" charset="-122"/>
                <a:cs typeface="Calibri" pitchFamily="34" charset="-120"/>
              </a:rPr>
              <a:t>40,8–72,8%</a:t>
            </a:r>
            <a:endParaRPr lang="en-US" sz="800" dirty="0"/>
          </a:p>
        </p:txBody>
      </p:sp>
      <p:sp>
        <p:nvSpPr>
          <p:cNvPr id="33" name="Text 30"/>
          <p:cNvSpPr/>
          <p:nvPr/>
        </p:nvSpPr>
        <p:spPr>
          <a:xfrm>
            <a:off x="6409944" y="3364992"/>
            <a:ext cx="1325880" cy="310896"/>
          </a:xfrm>
          <a:prstGeom prst="rect">
            <a:avLst/>
          </a:prstGeom>
          <a:noFill/>
          <a:ln/>
        </p:spPr>
        <p:txBody>
          <a:bodyPr wrap="square" lIns="0" tIns="0" rIns="0" bIns="0" rtlCol="0" anchor="ctr"/>
          <a:lstStyle/>
          <a:p>
            <a:pPr indent="0" marL="0">
              <a:buNone/>
            </a:pPr>
            <a:r>
              <a:rPr lang="en-US" sz="950" b="1" dirty="0">
                <a:solidFill>
                  <a:srgbClr val="0D1B2A"/>
                </a:solidFill>
                <a:latin typeface="Calibri" pitchFamily="34" charset="0"/>
                <a:ea typeface="Calibri" pitchFamily="34" charset="-122"/>
                <a:cs typeface="Calibri" pitchFamily="34" charset="-120"/>
              </a:rPr>
              <a:t>C — notmythos</a:t>
            </a:r>
            <a:endParaRPr lang="en-US" sz="950" dirty="0"/>
          </a:p>
        </p:txBody>
      </p:sp>
      <p:sp>
        <p:nvSpPr>
          <p:cNvPr id="34" name="Shape 31"/>
          <p:cNvSpPr/>
          <p:nvPr/>
        </p:nvSpPr>
        <p:spPr>
          <a:xfrm>
            <a:off x="7818120" y="3474720"/>
            <a:ext cx="3246120" cy="91440"/>
          </a:xfrm>
          <a:prstGeom prst="roundRect">
            <a:avLst>
              <a:gd name="adj" fmla="val 50000"/>
            </a:avLst>
          </a:prstGeom>
          <a:solidFill>
            <a:srgbClr val="E6EEF5"/>
          </a:solidFill>
          <a:ln w="12700">
            <a:solidFill>
              <a:srgbClr val="E6EEF5"/>
            </a:solidFill>
            <a:prstDash val="solid"/>
          </a:ln>
        </p:spPr>
      </p:sp>
      <p:sp>
        <p:nvSpPr>
          <p:cNvPr id="35" name="Shape 32"/>
          <p:cNvSpPr/>
          <p:nvPr/>
        </p:nvSpPr>
        <p:spPr>
          <a:xfrm>
            <a:off x="8460852" y="3447288"/>
            <a:ext cx="993313" cy="146304"/>
          </a:xfrm>
          <a:prstGeom prst="roundRect">
            <a:avLst>
              <a:gd name="adj" fmla="val 50000"/>
            </a:avLst>
          </a:prstGeom>
          <a:solidFill>
            <a:srgbClr val="BE4B3B"/>
          </a:solidFill>
          <a:ln w="12700">
            <a:solidFill>
              <a:srgbClr val="BE4B3B"/>
            </a:solidFill>
            <a:prstDash val="solid"/>
          </a:ln>
        </p:spPr>
      </p:sp>
      <p:sp>
        <p:nvSpPr>
          <p:cNvPr id="36" name="Shape 33"/>
          <p:cNvSpPr/>
          <p:nvPr/>
        </p:nvSpPr>
        <p:spPr>
          <a:xfrm>
            <a:off x="8857930" y="3383280"/>
            <a:ext cx="82296" cy="274320"/>
          </a:xfrm>
          <a:prstGeom prst="roundRect">
            <a:avLst>
              <a:gd name="adj" fmla="val 50000"/>
            </a:avLst>
          </a:prstGeom>
          <a:solidFill>
            <a:srgbClr val="0D1B2A"/>
          </a:solidFill>
          <a:ln w="12700">
            <a:solidFill>
              <a:srgbClr val="0D1B2A"/>
            </a:solidFill>
            <a:prstDash val="solid"/>
          </a:ln>
        </p:spPr>
      </p:sp>
      <p:sp>
        <p:nvSpPr>
          <p:cNvPr id="37" name="Text 34"/>
          <p:cNvSpPr/>
          <p:nvPr/>
        </p:nvSpPr>
        <p:spPr>
          <a:xfrm>
            <a:off x="6409944" y="3639312"/>
            <a:ext cx="1325880" cy="219456"/>
          </a:xfrm>
          <a:prstGeom prst="rect">
            <a:avLst/>
          </a:prstGeom>
          <a:noFill/>
          <a:ln/>
        </p:spPr>
        <p:txBody>
          <a:bodyPr wrap="square" lIns="0" tIns="0" rIns="0" bIns="0" rtlCol="0" anchor="ctr"/>
          <a:lstStyle/>
          <a:p>
            <a:pPr indent="0" marL="0">
              <a:buNone/>
            </a:pPr>
            <a:r>
              <a:rPr lang="en-US" sz="800" dirty="0">
                <a:solidFill>
                  <a:srgbClr val="667E93"/>
                </a:solidFill>
                <a:latin typeface="Calibri" pitchFamily="34" charset="0"/>
                <a:ea typeface="Calibri" pitchFamily="34" charset="-122"/>
                <a:cs typeface="Calibri" pitchFamily="34" charset="-120"/>
              </a:rPr>
              <a:t>19,8–50,4%</a:t>
            </a:r>
            <a:endParaRPr lang="en-US" sz="800" dirty="0"/>
          </a:p>
        </p:txBody>
      </p:sp>
      <p:sp>
        <p:nvSpPr>
          <p:cNvPr id="38" name="Text 35"/>
          <p:cNvSpPr/>
          <p:nvPr/>
        </p:nvSpPr>
        <p:spPr>
          <a:xfrm>
            <a:off x="6409944" y="4224528"/>
            <a:ext cx="4937760" cy="384048"/>
          </a:xfrm>
          <a:prstGeom prst="rect">
            <a:avLst/>
          </a:prstGeom>
          <a:noFill/>
          <a:ln/>
        </p:spPr>
        <p:txBody>
          <a:bodyPr wrap="square" lIns="0" tIns="0" rIns="0" bIns="0" rtlCol="0" anchor="t"/>
          <a:lstStyle/>
          <a:p>
            <a:pPr indent="0" marL="0">
              <a:lnSpc>
                <a:spcPct val="105000"/>
              </a:lnSpc>
              <a:buNone/>
            </a:pPr>
            <a:r>
              <a:rPr lang="en-US" sz="900" i="1" dirty="0">
                <a:solidFill>
                  <a:srgbClr val="667E93"/>
                </a:solidFill>
                <a:latin typeface="Calibri" pitchFamily="34" charset="0"/>
                <a:ea typeface="Calibri" pitchFamily="34" charset="-122"/>
                <a:cs typeface="Calibri" pitchFamily="34" charset="-120"/>
              </a:rPr>
              <a:t>Khoảng của A và B chồng lấn phần lớn — chưa tách bạch được. Khoảng của A và C gần như không chồng lấn.</a:t>
            </a:r>
            <a:endParaRPr lang="en-US" sz="900" dirty="0"/>
          </a:p>
        </p:txBody>
      </p:sp>
      <p:sp>
        <p:nvSpPr>
          <p:cNvPr id="39" name="Shape 36"/>
          <p:cNvSpPr/>
          <p:nvPr/>
        </p:nvSpPr>
        <p:spPr>
          <a:xfrm>
            <a:off x="6172200" y="4846320"/>
            <a:ext cx="5440680" cy="1463040"/>
          </a:xfrm>
          <a:prstGeom prst="roundRect">
            <a:avLst>
              <a:gd name="adj" fmla="val 5625"/>
            </a:avLst>
          </a:prstGeom>
          <a:solidFill>
            <a:srgbClr val="FBF1DC"/>
          </a:solidFill>
          <a:ln w="9525">
            <a:solidFill>
              <a:srgbClr val="EBD9AE"/>
            </a:solidFill>
            <a:prstDash val="solid"/>
          </a:ln>
        </p:spPr>
      </p:sp>
      <p:sp>
        <p:nvSpPr>
          <p:cNvPr id="40" name="Text 37"/>
          <p:cNvSpPr/>
          <p:nvPr/>
        </p:nvSpPr>
        <p:spPr>
          <a:xfrm>
            <a:off x="6409944" y="4956048"/>
            <a:ext cx="4937760" cy="237744"/>
          </a:xfrm>
          <a:prstGeom prst="rect">
            <a:avLst/>
          </a:prstGeom>
          <a:noFill/>
          <a:ln/>
        </p:spPr>
        <p:txBody>
          <a:bodyPr wrap="square" lIns="0" tIns="0" rIns="0" bIns="0" rtlCol="0" anchor="ctr"/>
          <a:lstStyle/>
          <a:p>
            <a:pPr indent="0" marL="0">
              <a:buNone/>
            </a:pPr>
            <a:r>
              <a:rPr lang="en-US" sz="850" b="1" spc="100" kern="0" dirty="0">
                <a:solidFill>
                  <a:srgbClr val="B57A16"/>
                </a:solidFill>
                <a:latin typeface="Calibri" pitchFamily="34" charset="0"/>
                <a:ea typeface="Calibri" pitchFamily="34" charset="-122"/>
                <a:cs typeface="Calibri" pitchFamily="34" charset="-120"/>
              </a:rPr>
              <a:t>NẾU HỘI ĐỒNG HỎI VỀ CỠ MẪU</a:t>
            </a:r>
            <a:endParaRPr lang="en-US" sz="850" dirty="0"/>
          </a:p>
        </p:txBody>
      </p:sp>
      <p:sp>
        <p:nvSpPr>
          <p:cNvPr id="41" name="Text 38"/>
          <p:cNvSpPr/>
          <p:nvPr/>
        </p:nvSpPr>
        <p:spPr>
          <a:xfrm>
            <a:off x="6409944" y="5230368"/>
            <a:ext cx="4937760" cy="1024128"/>
          </a:xfrm>
          <a:prstGeom prst="rect">
            <a:avLst/>
          </a:prstGeom>
          <a:noFill/>
          <a:ln/>
        </p:spPr>
        <p:txBody>
          <a:bodyPr wrap="square" lIns="0" tIns="0" rIns="0" bIns="0" rtlCol="0" anchor="t"/>
          <a:lstStyle/>
          <a:p>
            <a:pPr indent="0" marL="0">
              <a:lnSpc>
                <a:spcPct val="106000"/>
              </a:lnSpc>
              <a:buNone/>
            </a:pPr>
            <a:r>
              <a:rPr lang="en-US" sz="950" dirty="0">
                <a:solidFill>
                  <a:srgbClr val="22303F"/>
                </a:solidFill>
                <a:latin typeface="Calibri" pitchFamily="34" charset="0"/>
                <a:ea typeface="Calibri" pitchFamily="34" charset="-122"/>
                <a:cs typeface="Calibri" pitchFamily="34" charset="-120"/>
              </a:rPr>
              <a:t>Với 33 cảnh báo, khoảng tin cậy rộng khoảng 30 điểm phần trăm nên chênh lệch 9,1 điểm giữa A và B không thể tách bạch. Ước tính cần khoảng 200–300 cảnh báo để kết luận chắc chắn về ảnh hưởng của truy xuất tăng cường. Ngược lại, chênh lệch 33,4 điểm giữa A và C đủ lớn để vượt qua giới hạn cỡ mẫu này.</a:t>
            </a:r>
            <a:endParaRPr lang="en-US" sz="950" dirty="0"/>
          </a:p>
        </p:txBody>
      </p:sp>
      <p:sp>
        <p:nvSpPr>
          <p:cNvPr id="42" name="Text 3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6</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Ranh giới tin cậy và năm nhóm rủi ro khi đưa LLM vào hệ thống an toàn</a:t>
            </a:r>
            <a:endParaRPr lang="en-US" sz="2600" dirty="0"/>
          </a:p>
        </p:txBody>
      </p:sp>
      <p:sp>
        <p:nvSpPr>
          <p:cNvPr id="5" name="Shape 3"/>
          <p:cNvSpPr/>
          <p:nvPr/>
        </p:nvSpPr>
        <p:spPr>
          <a:xfrm>
            <a:off x="548640" y="1719072"/>
            <a:ext cx="5349240" cy="2011680"/>
          </a:xfrm>
          <a:prstGeom prst="roundRect">
            <a:avLst>
              <a:gd name="adj" fmla="val 4091"/>
            </a:avLst>
          </a:prstGeom>
          <a:solidFill>
            <a:srgbClr val="FAE3DF"/>
          </a:solidFill>
          <a:ln w="9525">
            <a:solidFill>
              <a:srgbClr val="EFC8C1"/>
            </a:solidFill>
            <a:prstDash val="solid"/>
          </a:ln>
        </p:spPr>
      </p:sp>
      <p:sp>
        <p:nvSpPr>
          <p:cNvPr id="6" name="Text 4"/>
          <p:cNvSpPr/>
          <p:nvPr/>
        </p:nvSpPr>
        <p:spPr>
          <a:xfrm>
            <a:off x="786384" y="1828800"/>
            <a:ext cx="4846320" cy="237744"/>
          </a:xfrm>
          <a:prstGeom prst="rect">
            <a:avLst/>
          </a:prstGeom>
          <a:noFill/>
          <a:ln/>
        </p:spPr>
        <p:txBody>
          <a:bodyPr wrap="square" lIns="0" tIns="0" rIns="0" bIns="0" rtlCol="0" anchor="ctr"/>
          <a:lstStyle/>
          <a:p>
            <a:pPr indent="0" marL="0">
              <a:buNone/>
            </a:pPr>
            <a:r>
              <a:rPr lang="en-US" sz="850" b="1" spc="100" kern="0" dirty="0">
                <a:solidFill>
                  <a:srgbClr val="BE4B3B"/>
                </a:solidFill>
                <a:latin typeface="Calibri" pitchFamily="34" charset="0"/>
                <a:ea typeface="Calibri" pitchFamily="34" charset="-122"/>
                <a:cs typeface="Calibri" pitchFamily="34" charset="-120"/>
              </a:rPr>
              <a:t>VÙNG KHÔNG ĐÁNG TIN CẬY</a:t>
            </a:r>
            <a:endParaRPr lang="en-US" sz="850" dirty="0"/>
          </a:p>
        </p:txBody>
      </p:sp>
      <p:sp>
        <p:nvSpPr>
          <p:cNvPr id="7" name="Shape 5"/>
          <p:cNvSpPr/>
          <p:nvPr/>
        </p:nvSpPr>
        <p:spPr>
          <a:xfrm>
            <a:off x="804672" y="2286000"/>
            <a:ext cx="128016" cy="128016"/>
          </a:xfrm>
          <a:prstGeom prst="roundRect">
            <a:avLst>
              <a:gd name="adj" fmla="val 50000"/>
            </a:avLst>
          </a:prstGeom>
          <a:solidFill>
            <a:srgbClr val="BE4B3B"/>
          </a:solidFill>
          <a:ln w="12700">
            <a:solidFill>
              <a:srgbClr val="BE4B3B"/>
            </a:solidFill>
            <a:prstDash val="solid"/>
          </a:ln>
        </p:spPr>
      </p:sp>
      <p:sp>
        <p:nvSpPr>
          <p:cNvPr id="8" name="Text 6"/>
          <p:cNvSpPr/>
          <p:nvPr/>
        </p:nvSpPr>
        <p:spPr>
          <a:xfrm>
            <a:off x="1042416" y="2157984"/>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Nội dung cảnh báo và nhật ký gốc</a:t>
            </a:r>
            <a:endParaRPr lang="en-US" sz="1050" dirty="0"/>
          </a:p>
        </p:txBody>
      </p:sp>
      <p:sp>
        <p:nvSpPr>
          <p:cNvPr id="9" name="Shape 7"/>
          <p:cNvSpPr/>
          <p:nvPr/>
        </p:nvSpPr>
        <p:spPr>
          <a:xfrm>
            <a:off x="804672" y="2761488"/>
            <a:ext cx="128016" cy="128016"/>
          </a:xfrm>
          <a:prstGeom prst="roundRect">
            <a:avLst>
              <a:gd name="adj" fmla="val 50000"/>
            </a:avLst>
          </a:prstGeom>
          <a:solidFill>
            <a:srgbClr val="BE4B3B"/>
          </a:solidFill>
          <a:ln w="12700">
            <a:solidFill>
              <a:srgbClr val="BE4B3B"/>
            </a:solidFill>
            <a:prstDash val="solid"/>
          </a:ln>
        </p:spPr>
      </p:sp>
      <p:sp>
        <p:nvSpPr>
          <p:cNvPr id="10" name="Text 8"/>
          <p:cNvSpPr/>
          <p:nvPr/>
        </p:nvSpPr>
        <p:spPr>
          <a:xfrm>
            <a:off x="1042416" y="2633472"/>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Kết quả truy xuất tri thức</a:t>
            </a:r>
            <a:endParaRPr lang="en-US" sz="1050" dirty="0"/>
          </a:p>
        </p:txBody>
      </p:sp>
      <p:sp>
        <p:nvSpPr>
          <p:cNvPr id="11" name="Shape 9"/>
          <p:cNvSpPr/>
          <p:nvPr/>
        </p:nvSpPr>
        <p:spPr>
          <a:xfrm>
            <a:off x="804672" y="3236976"/>
            <a:ext cx="128016" cy="128016"/>
          </a:xfrm>
          <a:prstGeom prst="roundRect">
            <a:avLst>
              <a:gd name="adj" fmla="val 50000"/>
            </a:avLst>
          </a:prstGeom>
          <a:solidFill>
            <a:srgbClr val="BE4B3B"/>
          </a:solidFill>
          <a:ln w="12700">
            <a:solidFill>
              <a:srgbClr val="BE4B3B"/>
            </a:solidFill>
            <a:prstDash val="solid"/>
          </a:ln>
        </p:spPr>
      </p:sp>
      <p:sp>
        <p:nvSpPr>
          <p:cNvPr id="12" name="Text 10"/>
          <p:cNvSpPr/>
          <p:nvPr/>
        </p:nvSpPr>
        <p:spPr>
          <a:xfrm>
            <a:off x="1042416" y="3108960"/>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Mọi dữ liệu có nguồn gốc ngoài mô-đun</a:t>
            </a:r>
            <a:endParaRPr lang="en-US" sz="1050" dirty="0"/>
          </a:p>
        </p:txBody>
      </p:sp>
      <p:sp>
        <p:nvSpPr>
          <p:cNvPr id="13" name="Shape 11"/>
          <p:cNvSpPr/>
          <p:nvPr/>
        </p:nvSpPr>
        <p:spPr>
          <a:xfrm>
            <a:off x="548640" y="3877056"/>
            <a:ext cx="5349240" cy="2011680"/>
          </a:xfrm>
          <a:prstGeom prst="roundRect">
            <a:avLst>
              <a:gd name="adj" fmla="val 4091"/>
            </a:avLst>
          </a:prstGeom>
          <a:solidFill>
            <a:srgbClr val="DCF0EB"/>
          </a:solidFill>
          <a:ln w="9525">
            <a:solidFill>
              <a:srgbClr val="BCE0D7"/>
            </a:solidFill>
            <a:prstDash val="solid"/>
          </a:ln>
        </p:spPr>
      </p:sp>
      <p:sp>
        <p:nvSpPr>
          <p:cNvPr id="14" name="Text 12"/>
          <p:cNvSpPr/>
          <p:nvPr/>
        </p:nvSpPr>
        <p:spPr>
          <a:xfrm>
            <a:off x="786384" y="3986784"/>
            <a:ext cx="4846320" cy="237744"/>
          </a:xfrm>
          <a:prstGeom prst="rect">
            <a:avLst/>
          </a:prstGeom>
          <a:noFill/>
          <a:ln/>
        </p:spPr>
        <p:txBody>
          <a:bodyPr wrap="square" lIns="0" tIns="0" rIns="0" bIns="0" rtlCol="0" anchor="ctr"/>
          <a:lstStyle/>
          <a:p>
            <a:pPr indent="0" marL="0">
              <a:buNone/>
            </a:pPr>
            <a:r>
              <a:rPr lang="en-US" sz="850" b="1" spc="100" kern="0" dirty="0">
                <a:solidFill>
                  <a:srgbClr val="0E6B5A"/>
                </a:solidFill>
                <a:latin typeface="Calibri" pitchFamily="34" charset="0"/>
                <a:ea typeface="Calibri" pitchFamily="34" charset="-122"/>
                <a:cs typeface="Calibri" pitchFamily="34" charset="-120"/>
              </a:rPr>
              <a:t>VÙNG ĐÁNG TIN CẬY</a:t>
            </a:r>
            <a:endParaRPr lang="en-US" sz="850" dirty="0"/>
          </a:p>
        </p:txBody>
      </p:sp>
      <p:sp>
        <p:nvSpPr>
          <p:cNvPr id="15" name="Shape 13"/>
          <p:cNvSpPr/>
          <p:nvPr/>
        </p:nvSpPr>
        <p:spPr>
          <a:xfrm>
            <a:off x="804672" y="4443984"/>
            <a:ext cx="128016" cy="128016"/>
          </a:xfrm>
          <a:prstGeom prst="roundRect">
            <a:avLst>
              <a:gd name="adj" fmla="val 50000"/>
            </a:avLst>
          </a:prstGeom>
          <a:solidFill>
            <a:srgbClr val="1F9E86"/>
          </a:solidFill>
          <a:ln w="12700">
            <a:solidFill>
              <a:srgbClr val="1F9E86"/>
            </a:solidFill>
            <a:prstDash val="solid"/>
          </a:ln>
        </p:spPr>
      </p:sp>
      <p:sp>
        <p:nvSpPr>
          <p:cNvPr id="16" name="Text 14"/>
          <p:cNvSpPr/>
          <p:nvPr/>
        </p:nvSpPr>
        <p:spPr>
          <a:xfrm>
            <a:off x="1042416" y="4315968"/>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Chỉ dẫn hệ thống soc-contract-v1</a:t>
            </a:r>
            <a:endParaRPr lang="en-US" sz="1050" dirty="0"/>
          </a:p>
        </p:txBody>
      </p:sp>
      <p:sp>
        <p:nvSpPr>
          <p:cNvPr id="17" name="Shape 15"/>
          <p:cNvSpPr/>
          <p:nvPr/>
        </p:nvSpPr>
        <p:spPr>
          <a:xfrm>
            <a:off x="804672" y="4919472"/>
            <a:ext cx="128016" cy="128016"/>
          </a:xfrm>
          <a:prstGeom prst="roundRect">
            <a:avLst>
              <a:gd name="adj" fmla="val 50000"/>
            </a:avLst>
          </a:prstGeom>
          <a:solidFill>
            <a:srgbClr val="1F9E86"/>
          </a:solidFill>
          <a:ln w="12700">
            <a:solidFill>
              <a:srgbClr val="1F9E86"/>
            </a:solidFill>
            <a:prstDash val="solid"/>
          </a:ln>
        </p:spPr>
      </p:sp>
      <p:sp>
        <p:nvSpPr>
          <p:cNvPr id="18" name="Text 16"/>
          <p:cNvSpPr/>
          <p:nvPr/>
        </p:nvSpPr>
        <p:spPr>
          <a:xfrm>
            <a:off x="1042416" y="4791456"/>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Lược đồ đầu ra JSON Schema</a:t>
            </a:r>
            <a:endParaRPr lang="en-US" sz="1050" dirty="0"/>
          </a:p>
        </p:txBody>
      </p:sp>
      <p:sp>
        <p:nvSpPr>
          <p:cNvPr id="19" name="Shape 17"/>
          <p:cNvSpPr/>
          <p:nvPr/>
        </p:nvSpPr>
        <p:spPr>
          <a:xfrm>
            <a:off x="804672" y="5394960"/>
            <a:ext cx="128016" cy="128016"/>
          </a:xfrm>
          <a:prstGeom prst="roundRect">
            <a:avLst>
              <a:gd name="adj" fmla="val 50000"/>
            </a:avLst>
          </a:prstGeom>
          <a:solidFill>
            <a:srgbClr val="1F9E86"/>
          </a:solidFill>
          <a:ln w="12700">
            <a:solidFill>
              <a:srgbClr val="1F9E86"/>
            </a:solidFill>
            <a:prstDash val="solid"/>
          </a:ln>
        </p:spPr>
      </p:sp>
      <p:sp>
        <p:nvSpPr>
          <p:cNvPr id="20" name="Text 18"/>
          <p:cNvSpPr/>
          <p:nvPr/>
        </p:nvSpPr>
        <p:spPr>
          <a:xfrm>
            <a:off x="1042416" y="5266944"/>
            <a:ext cx="4572000" cy="384048"/>
          </a:xfrm>
          <a:prstGeom prst="rect">
            <a:avLst/>
          </a:prstGeom>
          <a:noFill/>
          <a:ln/>
        </p:spPr>
        <p:txBody>
          <a:bodyPr wrap="square" lIns="0" tIns="0" rIns="0" bIns="0" rtlCol="0" anchor="ctr"/>
          <a:lstStyle/>
          <a:p>
            <a:pPr indent="0" marL="0">
              <a:buNone/>
            </a:pPr>
            <a:r>
              <a:rPr lang="en-US" sz="1050" dirty="0">
                <a:solidFill>
                  <a:srgbClr val="22303F"/>
                </a:solidFill>
                <a:latin typeface="Calibri" pitchFamily="34" charset="0"/>
                <a:ea typeface="Calibri" pitchFamily="34" charset="-122"/>
                <a:cs typeface="Calibri" pitchFamily="34" charset="-120"/>
              </a:rPr>
              <a:t>Mã nguồn xử lý do nhóm kiểm soát</a:t>
            </a:r>
            <a:endParaRPr lang="en-US" sz="1050" dirty="0"/>
          </a:p>
        </p:txBody>
      </p:sp>
      <p:sp>
        <p:nvSpPr>
          <p:cNvPr id="21" name="Text 19"/>
          <p:cNvSpPr/>
          <p:nvPr/>
        </p:nvSpPr>
        <p:spPr>
          <a:xfrm>
            <a:off x="548640" y="5943600"/>
            <a:ext cx="5349240" cy="384048"/>
          </a:xfrm>
          <a:prstGeom prst="rect">
            <a:avLst/>
          </a:prstGeom>
          <a:noFill/>
          <a:ln/>
        </p:spPr>
        <p:txBody>
          <a:bodyPr wrap="square" lIns="0" tIns="0" rIns="0" bIns="0" rtlCol="0" anchor="t"/>
          <a:lstStyle/>
          <a:p>
            <a:pPr algn="ctr" indent="0" marL="0">
              <a:lnSpc>
                <a:spcPct val="105000"/>
              </a:lnSpc>
              <a:buNone/>
            </a:pPr>
            <a:r>
              <a:rPr lang="en-US" sz="900" i="1" dirty="0">
                <a:solidFill>
                  <a:srgbClr val="667E93"/>
                </a:solidFill>
                <a:latin typeface="Calibri" pitchFamily="34" charset="0"/>
                <a:ea typeface="Calibri" pitchFamily="34" charset="-122"/>
                <a:cs typeface="Calibri" pitchFamily="34" charset="-120"/>
              </a:rPr>
              <a:t>Dữ liệu từ vùng không đáng tin cậy chỉ được đưa vào mô hình dưới dạng nội dung đã bọc trong ranh giới đánh dấu rõ ràng — không bao giờ nối trực tiếp vào chỉ dẫn hệ thống.</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172200" y="1719072"/>
          <a:ext cx="5440680" cy="914400"/>
        </p:xfrm>
        <a:graphic>
          <a:graphicData uri="http://schemas.openxmlformats.org/drawingml/2006/table">
            <a:tbl>
              <a:tblPr/>
              <a:tblGrid>
                <a:gridCol w="2331720"/>
                <a:gridCol w="3108960"/>
              </a:tblGrid>
              <a:tr h="64922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Nhóm rủi ro</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Biện pháp kiểm soát đã áp dụng</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649224">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Ảo giác — sinh thông tin hợp lý nhưng không có căn cứ</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Truy xuất tri thức có nhãn nguồn; tách sự kiện quan sát khỏi suy luận; dùng "chưa xác định" khi thiếu bằng chứng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649224">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Chèn chỉ dẫn độc hại từ chính nội dung log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Bọc dữ liệu trong ranh giới đánh dấu tường minh, khai báo không đáng tin cậy, giới hạn quyền của mô hình</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649224">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Rò rỉ dữ liệu nhạy cảm ra dịch vụ đám mây</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Triển khai cục bộ; hàm kết nối chặn địa chỉ không phải localhost ngay ở tầng mã nguồn</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649224">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Ghi vết vô tình lưu lộ dữ liệu nhạy cảm</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Chỉ lưu giá trị băm SHA-256, không lưu văn bản gốc của phản hồi</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649224">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Quá tin vào đầu ra của mô hình</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Human-in-the-loop bắt buộc; hiển thị kèm dữ liệu gốc và song song mức do luật quy định</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bl>
          </a:graphicData>
        </a:graphic>
      </p:graphicFrame>
      <p:sp>
        <p:nvSpPr>
          <p:cNvPr id="23" name="Text 20"/>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7</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Sơ đồ mạng môi trường thử nghiệm và cây thư mục mã nguồn</a:t>
            </a:r>
            <a:endParaRPr lang="en-US" sz="2600" dirty="0"/>
          </a:p>
        </p:txBody>
      </p:sp>
      <p:sp>
        <p:nvSpPr>
          <p:cNvPr id="5" name="Shape 3"/>
          <p:cNvSpPr/>
          <p:nvPr/>
        </p:nvSpPr>
        <p:spPr>
          <a:xfrm>
            <a:off x="493776" y="1719072"/>
            <a:ext cx="6144768" cy="3154680"/>
          </a:xfrm>
          <a:prstGeom prst="roundRect">
            <a:avLst>
              <a:gd name="adj" fmla="val 1739"/>
            </a:avLst>
          </a:prstGeom>
          <a:solidFill>
            <a:srgbClr val="FFFFFF"/>
          </a:solidFill>
          <a:ln w="9525">
            <a:solidFill>
              <a:srgbClr val="D7E2EC"/>
            </a:solidFill>
            <a:prstDash val="solid"/>
          </a:ln>
        </p:spPr>
      </p:sp>
      <p:pic>
        <p:nvPicPr>
          <p:cNvPr id="6" name="Image 0" descr="fig/h31-mang.png">    </p:cNvPr>
          <p:cNvPicPr>
            <a:picLocks noChangeAspect="1"/>
          </p:cNvPicPr>
          <p:nvPr/>
        </p:nvPicPr>
        <p:blipFill>
          <a:blip r:embed="rId1"/>
          <a:stretch>
            <a:fillRect/>
          </a:stretch>
        </p:blipFill>
        <p:spPr>
          <a:xfrm>
            <a:off x="548640" y="1773936"/>
            <a:ext cx="6035040" cy="3044952"/>
          </a:xfrm>
          <a:prstGeom prst="rect">
            <a:avLst/>
          </a:prstGeom>
        </p:spPr>
      </p:pic>
      <p:sp>
        <p:nvSpPr>
          <p:cNvPr id="7" name="Text 4"/>
          <p:cNvSpPr/>
          <p:nvPr/>
        </p:nvSpPr>
        <p:spPr>
          <a:xfrm>
            <a:off x="548640" y="4946904"/>
            <a:ext cx="6035040" cy="274320"/>
          </a:xfrm>
          <a:prstGeom prst="rect">
            <a:avLst/>
          </a:prstGeom>
          <a:noFill/>
          <a:ln/>
        </p:spPr>
        <p:txBody>
          <a:bodyPr wrap="square" lIns="0" tIns="0" rIns="0" bIns="0" rtlCol="0" anchor="ctr"/>
          <a:lstStyle/>
          <a:p>
            <a:pPr algn="ctr" indent="0" marL="0">
              <a:lnSpc>
                <a:spcPct val="105000"/>
              </a:lnSpc>
              <a:buNone/>
            </a:pPr>
            <a:r>
              <a:rPr lang="en-US" sz="900" i="1" dirty="0">
                <a:solidFill>
                  <a:srgbClr val="667E93"/>
                </a:solidFill>
                <a:latin typeface="Calibri" pitchFamily="34" charset="0"/>
                <a:ea typeface="Calibri" pitchFamily="34" charset="-122"/>
                <a:cs typeface="Calibri" pitchFamily="34" charset="-120"/>
              </a:rPr>
              <a:t>Bốn máy ảo trên mạng host-only 192.168.100.0/24; mô-đun AI chạy trực tiếp trên máy vật lý .1</a:t>
            </a:r>
            <a:endParaRPr lang="en-US" sz="900" dirty="0"/>
          </a:p>
        </p:txBody>
      </p:sp>
      <p:sp>
        <p:nvSpPr>
          <p:cNvPr id="8" name="Shape 5"/>
          <p:cNvSpPr/>
          <p:nvPr/>
        </p:nvSpPr>
        <p:spPr>
          <a:xfrm>
            <a:off x="548640" y="5175504"/>
            <a:ext cx="6035040" cy="1133856"/>
          </a:xfrm>
          <a:prstGeom prst="roundRect">
            <a:avLst>
              <a:gd name="adj" fmla="val 7258"/>
            </a:avLst>
          </a:prstGeom>
          <a:solidFill>
            <a:srgbClr val="F2F6FA"/>
          </a:solidFill>
          <a:ln w="9525">
            <a:solidFill>
              <a:srgbClr val="D7E2EC"/>
            </a:solidFill>
            <a:prstDash val="solid"/>
          </a:ln>
        </p:spPr>
      </p:sp>
      <p:sp>
        <p:nvSpPr>
          <p:cNvPr id="9" name="Text 6"/>
          <p:cNvSpPr/>
          <p:nvPr/>
        </p:nvSpPr>
        <p:spPr>
          <a:xfrm>
            <a:off x="786384" y="5175504"/>
            <a:ext cx="5577840" cy="1133856"/>
          </a:xfrm>
          <a:prstGeom prst="rect">
            <a:avLst/>
          </a:prstGeom>
          <a:noFill/>
          <a:ln/>
        </p:spPr>
        <p:txBody>
          <a:bodyPr wrap="square" lIns="0" tIns="0" rIns="0" bIns="0" rtlCol="0" anchor="ctr"/>
          <a:lstStyle/>
          <a:p>
            <a:pPr indent="0" marL="0">
              <a:lnSpc>
                <a:spcPct val="105000"/>
              </a:lnSpc>
              <a:buNone/>
            </a:pPr>
            <a:r>
              <a:rPr lang="en-US" sz="950" dirty="0">
                <a:solidFill>
                  <a:srgbClr val="667E93"/>
                </a:solidFill>
                <a:latin typeface="Calibri" pitchFamily="34" charset="0"/>
                <a:ea typeface="Calibri" pitchFamily="34" charset="-122"/>
                <a:cs typeface="Calibri" pitchFamily="34" charset="-120"/>
              </a:rPr>
              <a:t>Mỗi máy ảo có thêm một card NAT riêng phục vụ tải cài đặt từ Internet, không tham gia luồng dữ liệu của hệ thống. </a:t>
            </a:r>
            <a:pPr indent="0" marL="0">
              <a:lnSpc>
                <a:spcPct val="105000"/>
              </a:lnSpc>
              <a:buNone/>
            </a:pPr>
            <a:r>
              <a:rPr lang="en-US" sz="950" b="1" dirty="0">
                <a:solidFill>
                  <a:srgbClr val="0D1B2A"/>
                </a:solidFill>
                <a:latin typeface="Calibri" pitchFamily="34" charset="0"/>
                <a:ea typeface="Calibri" pitchFamily="34" charset="-122"/>
                <a:cs typeface="Calibri" pitchFamily="34" charset="-120"/>
              </a:rPr>
              <a:t>Mô-đun AI đặt trên máy vật lý để dùng trực tiếp GPU, tránh chi phí ảo hóa phần cứng đồ họa.</a:t>
            </a:r>
            <a:endParaRPr lang="en-US" sz="950" dirty="0"/>
          </a:p>
        </p:txBody>
      </p:sp>
      <p:sp>
        <p:nvSpPr>
          <p:cNvPr id="10" name="Shape 7"/>
          <p:cNvSpPr/>
          <p:nvPr/>
        </p:nvSpPr>
        <p:spPr>
          <a:xfrm>
            <a:off x="6858000" y="1773936"/>
            <a:ext cx="4754880" cy="4535424"/>
          </a:xfrm>
          <a:prstGeom prst="roundRect">
            <a:avLst>
              <a:gd name="adj" fmla="val 1815"/>
            </a:avLst>
          </a:prstGeom>
          <a:solidFill>
            <a:srgbClr val="0D1B2A"/>
          </a:solidFill>
          <a:ln w="9525">
            <a:solidFill>
              <a:srgbClr val="0D1B2A"/>
            </a:solidFill>
            <a:prstDash val="solid"/>
          </a:ln>
        </p:spPr>
      </p:sp>
      <p:sp>
        <p:nvSpPr>
          <p:cNvPr id="11" name="Text 8"/>
          <p:cNvSpPr/>
          <p:nvPr/>
        </p:nvSpPr>
        <p:spPr>
          <a:xfrm>
            <a:off x="7095744" y="1956816"/>
            <a:ext cx="4343400" cy="4169664"/>
          </a:xfrm>
          <a:prstGeom prst="rect">
            <a:avLst/>
          </a:prstGeom>
          <a:noFill/>
          <a:ln/>
        </p:spPr>
        <p:txBody>
          <a:bodyPr wrap="square" lIns="0" tIns="0" rIns="0" bIns="0" rtlCol="0" anchor="t"/>
          <a:lstStyle/>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local-ai-siem-analyzer/</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infra/          cấu hình Docker Wazuh, netplan</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scripts/</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setup/       install-wazuh.sh, install-agent.sh</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attacks/     kịch bản sinh cảnh báo</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ai_module/      mô-đun AI</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reader.py         đọc cảnh báo từ Indexer</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extractor.py      trích 10 trường chính</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rag.py            ChromaDB + luật + MITRE</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llm.py            gọi Ollama, ép lược đồ</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main.py           điểm khởi chạy CLI</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analysis_service.py  gom nhóm, điều phối</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dashboard.py         API cục bộ loopback</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dashboard_store.py   SQLite job / review</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dashboard_worker.py  worker + lịch chạy</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create_rag_data.py   sinh dữ liệu RAG</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 web/                 HTML / CSS / JS thuần</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eval/           33 case + bộ đánh giá</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rag_data/       mô tả luật và bảng MITRE</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tests/          kiểm thử tự động</a:t>
            </a:r>
            <a:endParaRPr lang="en-US" sz="900" dirty="0"/>
          </a:p>
          <a:p>
            <a:pPr indent="0" marL="0">
              <a:lnSpc>
                <a:spcPct val="114000"/>
              </a:lnSpc>
              <a:buNone/>
            </a:pPr>
            <a:r>
              <a:rPr lang="en-US" sz="900" dirty="0">
                <a:solidFill>
                  <a:srgbClr val="A8C6DD"/>
                </a:solidFill>
                <a:latin typeface="Courier New" pitchFamily="34" charset="0"/>
                <a:ea typeface="Courier New" pitchFamily="34" charset="-122"/>
                <a:cs typeface="Courier New" pitchFamily="34" charset="-120"/>
              </a:rPr>
              <a:t>└─ docs/           tài liệu kỹ thuật</a:t>
            </a:r>
            <a:endParaRPr lang="en-US" sz="900" dirty="0"/>
          </a:p>
        </p:txBody>
      </p:sp>
      <p:sp>
        <p:nvSpPr>
          <p:cNvPr id="12" name="Text 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8</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Sáu sự cố phát sinh khi triển khai và cách khắc phục</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3108960"/>
                <a:gridCol w="3977640"/>
                <a:gridCol w="3977640"/>
              </a:tblGrid>
              <a:tr h="5029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Sự cố</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Nguyên nhân</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Cách khắc phục</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Mất IP tĩnh sau mỗi lần khởi động lại máy ảo</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cloud-init tự sinh lại tệp cấu hình mạng, ghi đè cấu hình thủ công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Vô hiệu hóa cấu hình mạng của cloud-init bằng tệp ghi đè riêng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Các máy không ping được nhau dù IP đúng dải</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VMware gán nhầm virtual switch khi đổi card mạng lúc máy đang chạy</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Đổi tạm sang chế độ khác rồi đổi lại, tắt bật nguồn máy ảo</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Cảnh báo có trong tệp cục bộ nhưng không hiện trên Dashboard</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Filebeat trong Manager vẫn dùng mật khẩu mặc định sau khi đổi qua giao diện, gây lỗi xác thực 401 với Indexer</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Đổi mật khẩu đồng bộ theo đúng quy trình ba nơi</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Lỗi 500 khi truy cập Dashboard sau khi đổi mật khẩu</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Cookie phiên cũ còn tồn tại trong trình duyệt</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Đăng nhập lại bằng tab ẩn danh hoặc xóa cookie</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Dashboard / Indexer hết thời gian chờ dù container vẫn chạy</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Đĩa đầy do module dò quét lỗ hổng tích lũy dữ liệu CVE; mạng bridge của Docker hỏng sau đợt I/O nặng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Xóa thư mục dữ liệu CVE (tự tải lại được); khởi động lại Docker daemon để dựng lại bridge network</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502920">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Module giám sát toàn vẹn không sinh cảnh báo dù kịch bản chạy đúng</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Mặc định chỉ quét theo chu kỳ 12 giờ</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850" dirty="0">
                          <a:solidFill>
                            <a:srgbClr val="22303F"/>
                          </a:solidFill>
                          <a:latin typeface="Calibri" pitchFamily="34" charset="0"/>
                          <a:ea typeface="Calibri" pitchFamily="34" charset="-122"/>
                          <a:cs typeface="Calibri" pitchFamily="34" charset="-120"/>
                        </a:rPr>
                        <a:t>Bật thuộc tính realtime="yes" trong ossec.conf</a:t>
                      </a:r>
                      <a:endParaRPr lang="en-US" sz="8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bl>
          </a:graphicData>
        </a:graphic>
      </p:graphicFrame>
      <p:sp>
        <p:nvSpPr>
          <p:cNvPr id="6" name="Shape 3"/>
          <p:cNvSpPr/>
          <p:nvPr/>
        </p:nvSpPr>
        <p:spPr>
          <a:xfrm>
            <a:off x="548640" y="5852160"/>
            <a:ext cx="11064240" cy="457200"/>
          </a:xfrm>
          <a:prstGeom prst="roundRect">
            <a:avLst>
              <a:gd name="adj" fmla="val 16000"/>
            </a:avLst>
          </a:prstGeom>
          <a:solidFill>
            <a:srgbClr val="E1EDF6"/>
          </a:solidFill>
          <a:ln w="9525">
            <a:solidFill>
              <a:srgbClr val="BFD8EA"/>
            </a:solidFill>
            <a:prstDash val="solid"/>
          </a:ln>
        </p:spPr>
      </p:sp>
      <p:sp>
        <p:nvSpPr>
          <p:cNvPr id="7" name="Text 4"/>
          <p:cNvSpPr/>
          <p:nvPr/>
        </p:nvSpPr>
        <p:spPr>
          <a:xfrm>
            <a:off x="804672" y="5852160"/>
            <a:ext cx="10552176" cy="457200"/>
          </a:xfrm>
          <a:prstGeom prst="rect">
            <a:avLst/>
          </a:prstGeom>
          <a:noFill/>
          <a:ln/>
        </p:spPr>
        <p:txBody>
          <a:bodyPr wrap="square" lIns="0" tIns="0" rIns="0" bIns="0" rtlCol="0" anchor="ctr"/>
          <a:lstStyle/>
          <a:p>
            <a:pPr algn="l" indent="0" marL="0">
              <a:buNone/>
            </a:pPr>
            <a:r>
              <a:rPr lang="en-US" sz="1000" b="1" dirty="0">
                <a:solidFill>
                  <a:srgbClr val="2C6E9B"/>
                </a:solidFill>
                <a:latin typeface="Calibri" pitchFamily="34" charset="0"/>
                <a:ea typeface="Calibri" pitchFamily="34" charset="-122"/>
                <a:cs typeface="Calibri" pitchFamily="34" charset="-120"/>
              </a:rPr>
              <a:t>Phần lớn sự cố không xuất phát từ lỗi cấu hình đơn lẻ mà từ tương tác giữa các lớp — ảo hóa, container và cơ chế xác thực — nên khó phát hiện nếu chỉ đọc tài liệu chính thức.</a:t>
            </a:r>
            <a:endParaRPr lang="en-US" sz="1000" dirty="0"/>
          </a:p>
        </p:txBody>
      </p:sp>
      <p:sp>
        <p:nvSpPr>
          <p:cNvPr id="8" name="Text 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9</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Các lỗi thường gặp trong nội dung do mô hình sinh ra</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3291840"/>
                <a:gridCol w="1737360"/>
                <a:gridCol w="6035040"/>
              </a:tblGrid>
              <a:tr h="5303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Loại lỗi</a:t>
                      </a:r>
                      <a:endParaRPr lang="en-US" sz="9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Tần suất</a:t>
                      </a:r>
                      <a:endParaRPr lang="en-US" sz="9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Ví dụ cụ thể</a:t>
                      </a:r>
                      <a:endParaRPr lang="en-US" sz="95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0D1B2A"/>
                    </a:solidFill>
                  </a:tcPr>
                </a:tc>
              </a:tr>
              <a:tr h="5303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Bịa tên hoặc bịa mã kỹ thuật MITRE</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b="1" dirty="0">
                          <a:solidFill>
                            <a:srgbClr val="BE4B3B"/>
                          </a:solidFill>
                          <a:latin typeface="Calibri" pitchFamily="34" charset="0"/>
                          <a:ea typeface="Calibri" pitchFamily="34" charset="-122"/>
                          <a:cs typeface="Calibri" pitchFamily="34" charset="-120"/>
                        </a:rPr>
                        <a:t>6/20  —  30%</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T1053.002 gán sai tên "System Service Management" (case benign-503-01); T1070.002 sai tên (case fim-554-02)</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5303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Gán mã MITRE cho sự kiện lành tính hoặc chưa rõ</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b="1" dirty="0">
                          <a:solidFill>
                            <a:srgbClr val="BE4B3B"/>
                          </a:solidFill>
                          <a:latin typeface="Calibri" pitchFamily="34" charset="0"/>
                          <a:ea typeface="Calibri" pitchFamily="34" charset="-122"/>
                          <a:cs typeface="Calibri" pitchFamily="34" charset="-120"/>
                        </a:rPr>
                        <a:t>4/20  —  20%</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T1190 gán cho một thông báo về lỗ hổng đã được vá (case benign-23502-01 và -02)</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5303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Suy diễn vượt quá dữ liệu quan sát được</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b="1" dirty="0">
                          <a:solidFill>
                            <a:srgbClr val="B57A16"/>
                          </a:solidFill>
                          <a:latin typeface="Calibri" pitchFamily="34" charset="0"/>
                          <a:ea typeface="Calibri" pitchFamily="34" charset="-122"/>
                          <a:cs typeface="Calibri" pitchFamily="34" charset="-120"/>
                        </a:rPr>
                        <a:t>3/20  —  15%</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Kết luận "đang bị dò mật khẩu" chỉ từ một lần đăng nhập thất bại (case ssh-5760-03)</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r h="5303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Đề xuất bước kiểm tra lạc chủ đề</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b="1" dirty="0">
                          <a:solidFill>
                            <a:srgbClr val="B57A16"/>
                          </a:solidFill>
                          <a:latin typeface="Calibri" pitchFamily="34" charset="0"/>
                          <a:ea typeface="Calibri" pitchFamily="34" charset="-122"/>
                          <a:cs typeface="Calibri" pitchFamily="34" charset="-120"/>
                        </a:rPr>
                        <a:t>2/20  —  10%</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Gợi ý kiểm tra "SQL injection, XSS" cho một cảnh báo về cập nhật gói phần mềm (case benign-23502-01)</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2F6FA"/>
                    </a:solidFill>
                  </a:tcPr>
                </a:tc>
              </a:tr>
              <a:tr h="530352">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Không nhất quán giữa các case cùng loại luật</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b="1" dirty="0">
                          <a:solidFill>
                            <a:srgbClr val="B57A16"/>
                          </a:solidFill>
                          <a:latin typeface="Calibri" pitchFamily="34" charset="0"/>
                          <a:ea typeface="Calibri" pitchFamily="34" charset="-122"/>
                          <a:cs typeface="Calibri" pitchFamily="34" charset="-120"/>
                        </a:rPr>
                        <a:t>3 nhóm luật</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c>
                  <a:txBody>
                    <a:bodyPr/>
                    <a:lstStyle/>
                    <a:p>
                      <a:pPr indent="0" marL="0">
                        <a:buNone/>
                      </a:pPr>
                      <a:r>
                        <a:rPr lang="en-US" sz="900" dirty="0">
                          <a:solidFill>
                            <a:srgbClr val="22303F"/>
                          </a:solidFill>
                          <a:latin typeface="Calibri" pitchFamily="34" charset="0"/>
                          <a:ea typeface="Calibri" pitchFamily="34" charset="-122"/>
                          <a:cs typeface="Calibri" pitchFamily="34" charset="-120"/>
                        </a:rPr>
                        <a:t>Cùng luật 23502 nhưng mức nghiêm trọng lần lượt là unknown và low, ánh xạ MITRE lúc có lúc không</a:t>
                      </a:r>
                      <a:endParaRPr lang="en-US" sz="900" dirty="0">
                        <a:latin typeface="Calibri" charset="0"/>
                        <a:ea typeface="Calibri" charset="0"/>
                        <a:cs typeface="Calibri" charset="0"/>
                      </a:endParaRPr>
                    </a:p>
                  </a:txBody>
                  <a:tcPr marL="76200" marR="76200" marT="25400" marB="25400" anchor="ctr">
                    <a:lnL w="7620" cap="flat" cmpd="sng" algn="ctr">
                      <a:solidFill>
                        <a:srgbClr val="D7E2EC"/>
                      </a:solidFill>
                      <a:prstDash val="solid"/>
                      <a:round/>
                      <a:headEnd type="none" w="med" len="med"/>
                      <a:tailEnd type="none" w="med" len="med"/>
                    </a:lnL>
                    <a:lnR w="7620" cap="flat" cmpd="sng" algn="ctr">
                      <a:solidFill>
                        <a:srgbClr val="D7E2EC"/>
                      </a:solidFill>
                      <a:prstDash val="solid"/>
                      <a:round/>
                      <a:headEnd type="none" w="med" len="med"/>
                      <a:tailEnd type="none" w="med" len="med"/>
                    </a:lnR>
                    <a:lnT w="7620" cap="flat" cmpd="sng" algn="ctr">
                      <a:solidFill>
                        <a:srgbClr val="D7E2EC"/>
                      </a:solidFill>
                      <a:prstDash val="solid"/>
                      <a:round/>
                      <a:headEnd type="none" w="med" len="med"/>
                      <a:tailEnd type="none" w="med" len="med"/>
                    </a:lnT>
                    <a:lnB w="7620" cap="flat" cmpd="sng" algn="ctr">
                      <a:solidFill>
                        <a:srgbClr val="D7E2EC"/>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468112"/>
            <a:ext cx="11064240" cy="841248"/>
          </a:xfrm>
          <a:prstGeom prst="roundRect">
            <a:avLst>
              <a:gd name="adj" fmla="val 8696"/>
            </a:avLst>
          </a:prstGeom>
          <a:solidFill>
            <a:srgbClr val="FBF1DC"/>
          </a:solidFill>
          <a:ln w="9525">
            <a:solidFill>
              <a:srgbClr val="EBD9AE"/>
            </a:solidFill>
            <a:prstDash val="solid"/>
          </a:ln>
        </p:spPr>
      </p:sp>
      <p:sp>
        <p:nvSpPr>
          <p:cNvPr id="7" name="Text 4"/>
          <p:cNvSpPr/>
          <p:nvPr/>
        </p:nvSpPr>
        <p:spPr>
          <a:xfrm>
            <a:off x="804672" y="5468112"/>
            <a:ext cx="10552176" cy="841248"/>
          </a:xfrm>
          <a:prstGeom prst="rect">
            <a:avLst/>
          </a:prstGeom>
          <a:noFill/>
          <a:ln/>
        </p:spPr>
        <p:txBody>
          <a:bodyPr wrap="square" lIns="0" tIns="0" rIns="0" bIns="0" rtlCol="0" anchor="ctr"/>
          <a:lstStyle/>
          <a:p>
            <a:pPr algn="l" indent="0" marL="0">
              <a:buNone/>
            </a:pPr>
            <a:r>
              <a:rPr lang="en-US" sz="1100" b="1" dirty="0">
                <a:solidFill>
                  <a:srgbClr val="B57A16"/>
                </a:solidFill>
                <a:latin typeface="Calibri" pitchFamily="34" charset="0"/>
                <a:ea typeface="Calibri" pitchFamily="34" charset="-122"/>
                <a:cs typeface="Calibri" pitchFamily="34" charset="-120"/>
              </a:rPr>
              <a:t>Điểm chung của bốn nhóm lỗi đầu: mô hình gặp khó khăn nhiều hơn khi xử lý sự kiện KHÔNG có dấu hiệu tấn công rõ ràng, vì phải đưa ra kết luận "không có gì đáng ngại"</a:t>
            </a:r>
            <a:endParaRPr lang="en-US" sz="1100" dirty="0"/>
          </a:p>
          <a:p>
            <a:pPr algn="l" indent="0" marL="0">
              <a:buNone/>
            </a:pPr>
            <a:r>
              <a:rPr lang="en-US" sz="1100" b="1" dirty="0">
                <a:solidFill>
                  <a:srgbClr val="B57A16"/>
                </a:solidFill>
                <a:latin typeface="Calibri" pitchFamily="34" charset="0"/>
                <a:ea typeface="Calibri" pitchFamily="34" charset="-122"/>
                <a:cs typeface="Calibri" pitchFamily="34" charset="-120"/>
              </a:rPr>
              <a:t>thay vì gán một nhãn cụ thể — đây là hành vi mà mô hình ngôn ngữ có xu hướng thiên về hơn.</a:t>
            </a:r>
            <a:endParaRPr lang="en-US" sz="1100" dirty="0"/>
          </a:p>
        </p:txBody>
      </p:sp>
      <p:sp>
        <p:nvSpPr>
          <p:cNvPr id="8" name="Text 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43000" cy="274320"/>
          </a:xfrm>
          <a:prstGeom prst="roundRect">
            <a:avLst>
              <a:gd name="adj" fmla="val 46667"/>
            </a:avLst>
          </a:prstGeom>
          <a:solidFill>
            <a:srgbClr val="DCF0EB"/>
          </a:solidFill>
          <a:ln w="12700">
            <a:solidFill>
              <a:srgbClr val="DCF0EB"/>
            </a:solidFill>
            <a:prstDash val="solid"/>
          </a:ln>
        </p:spPr>
      </p:sp>
      <p:sp>
        <p:nvSpPr>
          <p:cNvPr id="3" name="Text 1"/>
          <p:cNvSpPr/>
          <p:nvPr/>
        </p:nvSpPr>
        <p:spPr>
          <a:xfrm>
            <a:off x="548640" y="365760"/>
            <a:ext cx="1143000" cy="274320"/>
          </a:xfrm>
          <a:prstGeom prst="rect">
            <a:avLst/>
          </a:prstGeom>
          <a:noFill/>
          <a:ln/>
        </p:spPr>
        <p:txBody>
          <a:bodyPr wrap="square" lIns="0" tIns="0" rIns="0" bIns="0" rtlCol="0" anchor="ctr"/>
          <a:lstStyle/>
          <a:p>
            <a:pPr algn="ctr" indent="0" marL="0">
              <a:buNone/>
            </a:pPr>
            <a:r>
              <a:rPr lang="en-US" sz="900" b="1" spc="110" kern="0" dirty="0">
                <a:solidFill>
                  <a:srgbClr val="0E6B5A"/>
                </a:solidFill>
                <a:latin typeface="Calibri" pitchFamily="34" charset="0"/>
                <a:ea typeface="Calibri" pitchFamily="34" charset="-122"/>
                <a:cs typeface="Calibri" pitchFamily="34" charset="-120"/>
              </a:rPr>
              <a:t>PHỤ LỤC 10</a:t>
            </a:r>
            <a:endParaRPr lang="en-US" sz="900" dirty="0"/>
          </a:p>
        </p:txBody>
      </p:sp>
      <p:sp>
        <p:nvSpPr>
          <p:cNvPr id="4" name="Text 2"/>
          <p:cNvSpPr/>
          <p:nvPr/>
        </p:nvSpPr>
        <p:spPr>
          <a:xfrm>
            <a:off x="530352" y="731520"/>
            <a:ext cx="11064240" cy="841248"/>
          </a:xfrm>
          <a:prstGeom prst="rect">
            <a:avLst/>
          </a:prstGeom>
          <a:noFill/>
          <a:ln/>
        </p:spPr>
        <p:txBody>
          <a:bodyPr wrap="square" lIns="0" tIns="0" rIns="0" bIns="0" rtlCol="0" anchor="t"/>
          <a:lstStyle/>
          <a:p>
            <a:pPr indent="0" marL="0">
              <a:lnSpc>
                <a:spcPct val="95000"/>
              </a:lnSpc>
              <a:buNone/>
            </a:pPr>
            <a:r>
              <a:rPr lang="en-US" sz="2600" b="1" dirty="0">
                <a:solidFill>
                  <a:srgbClr val="0D1B2A"/>
                </a:solidFill>
                <a:latin typeface="Calibri" pitchFamily="34" charset="0"/>
                <a:ea typeface="Calibri" pitchFamily="34" charset="-122"/>
                <a:cs typeface="Calibri" pitchFamily="34" charset="-120"/>
              </a:rPr>
              <a:t>Hạn chế đã ghi nhận và bốn hướng phát triển tiếp theo</a:t>
            </a:r>
            <a:endParaRPr lang="en-US" sz="2600" dirty="0"/>
          </a:p>
        </p:txBody>
      </p:sp>
      <p:sp>
        <p:nvSpPr>
          <p:cNvPr id="5" name="Shape 3"/>
          <p:cNvSpPr/>
          <p:nvPr/>
        </p:nvSpPr>
        <p:spPr>
          <a:xfrm>
            <a:off x="548640" y="1719072"/>
            <a:ext cx="5760720" cy="4590288"/>
          </a:xfrm>
          <a:prstGeom prst="roundRect">
            <a:avLst>
              <a:gd name="adj" fmla="val 1793"/>
            </a:avLst>
          </a:prstGeom>
          <a:solidFill>
            <a:srgbClr val="FBF1DC"/>
          </a:solidFill>
          <a:ln w="9525">
            <a:solidFill>
              <a:srgbClr val="EBD9AE"/>
            </a:solidFill>
            <a:prstDash val="solid"/>
          </a:ln>
        </p:spPr>
      </p:sp>
      <p:sp>
        <p:nvSpPr>
          <p:cNvPr id="6" name="Text 4"/>
          <p:cNvSpPr/>
          <p:nvPr/>
        </p:nvSpPr>
        <p:spPr>
          <a:xfrm>
            <a:off x="786384" y="1847088"/>
            <a:ext cx="4572000" cy="256032"/>
          </a:xfrm>
          <a:prstGeom prst="rect">
            <a:avLst/>
          </a:prstGeom>
          <a:noFill/>
          <a:ln/>
        </p:spPr>
        <p:txBody>
          <a:bodyPr wrap="square" lIns="0" tIns="0" rIns="0" bIns="0" rtlCol="0" anchor="ctr"/>
          <a:lstStyle/>
          <a:p>
            <a:pPr indent="0" marL="0">
              <a:buNone/>
            </a:pPr>
            <a:r>
              <a:rPr lang="en-US" sz="900" b="1" spc="100" kern="0" dirty="0">
                <a:solidFill>
                  <a:srgbClr val="B57A16"/>
                </a:solidFill>
                <a:latin typeface="Calibri" pitchFamily="34" charset="0"/>
                <a:ea typeface="Calibri" pitchFamily="34" charset="-122"/>
                <a:cs typeface="Calibri" pitchFamily="34" charset="-120"/>
              </a:rPr>
              <a:t>HẠN CHẾ ĐÃ GHI NHẬN</a:t>
            </a:r>
            <a:endParaRPr lang="en-US" sz="900" dirty="0"/>
          </a:p>
        </p:txBody>
      </p:sp>
      <p:sp>
        <p:nvSpPr>
          <p:cNvPr id="7" name="Shape 5"/>
          <p:cNvSpPr/>
          <p:nvPr/>
        </p:nvSpPr>
        <p:spPr>
          <a:xfrm>
            <a:off x="786384" y="2231136"/>
            <a:ext cx="274320" cy="274320"/>
          </a:xfrm>
          <a:prstGeom prst="roundRect">
            <a:avLst>
              <a:gd name="adj" fmla="val 73333"/>
            </a:avLst>
          </a:prstGeom>
          <a:solidFill>
            <a:srgbClr val="B57A16"/>
          </a:solidFill>
          <a:ln w="12700">
            <a:solidFill>
              <a:srgbClr val="B57A16"/>
            </a:solidFill>
            <a:prstDash val="solid"/>
          </a:ln>
        </p:spPr>
      </p:sp>
      <p:sp>
        <p:nvSpPr>
          <p:cNvPr id="8" name="Text 6"/>
          <p:cNvSpPr/>
          <p:nvPr/>
        </p:nvSpPr>
        <p:spPr>
          <a:xfrm>
            <a:off x="786384" y="22311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188720" y="2212848"/>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Phạm vi và quy mô dữ liệu đánh giá</a:t>
            </a:r>
            <a:endParaRPr lang="en-US" sz="1050" dirty="0"/>
          </a:p>
        </p:txBody>
      </p:sp>
      <p:sp>
        <p:nvSpPr>
          <p:cNvPr id="10" name="Text 8"/>
          <p:cNvSpPr/>
          <p:nvPr/>
        </p:nvSpPr>
        <p:spPr>
          <a:xfrm>
            <a:off x="1188720" y="2468880"/>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33 cảnh báo sinh từ kịch bản mô phỏng trong lab, chưa phản ánh hết tính đa dạng của vận hành thực tế.</a:t>
            </a:r>
            <a:endParaRPr lang="en-US" sz="900" dirty="0"/>
          </a:p>
        </p:txBody>
      </p:sp>
      <p:sp>
        <p:nvSpPr>
          <p:cNvPr id="11" name="Shape 9"/>
          <p:cNvSpPr/>
          <p:nvPr/>
        </p:nvSpPr>
        <p:spPr>
          <a:xfrm>
            <a:off x="786384" y="2907792"/>
            <a:ext cx="274320" cy="274320"/>
          </a:xfrm>
          <a:prstGeom prst="roundRect">
            <a:avLst>
              <a:gd name="adj" fmla="val 73333"/>
            </a:avLst>
          </a:prstGeom>
          <a:solidFill>
            <a:srgbClr val="B57A16"/>
          </a:solidFill>
          <a:ln w="12700">
            <a:solidFill>
              <a:srgbClr val="B57A16"/>
            </a:solidFill>
            <a:prstDash val="solid"/>
          </a:ln>
        </p:spPr>
      </p:sp>
      <p:sp>
        <p:nvSpPr>
          <p:cNvPr id="12" name="Text 10"/>
          <p:cNvSpPr/>
          <p:nvPr/>
        </p:nvSpPr>
        <p:spPr>
          <a:xfrm>
            <a:off x="786384" y="2907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1188720" y="2889504"/>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Phương pháp chấm điểm</a:t>
            </a:r>
            <a:endParaRPr lang="en-US" sz="1050" dirty="0"/>
          </a:p>
        </p:txBody>
      </p:sp>
      <p:sp>
        <p:nvSpPr>
          <p:cNvPr id="14" name="Text 12"/>
          <p:cNvSpPr/>
          <p:nvPr/>
        </p:nvSpPr>
        <p:spPr>
          <a:xfrm>
            <a:off x="1188720" y="3145536"/>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Cả hai người chấm đều là người xây dựng hệ thống — tiềm ẩn thiên lệch dù đã dùng hệ số Kappa.</a:t>
            </a:r>
            <a:endParaRPr lang="en-US" sz="900" dirty="0"/>
          </a:p>
        </p:txBody>
      </p:sp>
      <p:sp>
        <p:nvSpPr>
          <p:cNvPr id="15" name="Shape 13"/>
          <p:cNvSpPr/>
          <p:nvPr/>
        </p:nvSpPr>
        <p:spPr>
          <a:xfrm>
            <a:off x="786384" y="3584448"/>
            <a:ext cx="274320" cy="274320"/>
          </a:xfrm>
          <a:prstGeom prst="roundRect">
            <a:avLst>
              <a:gd name="adj" fmla="val 73333"/>
            </a:avLst>
          </a:prstGeom>
          <a:solidFill>
            <a:srgbClr val="B57A16"/>
          </a:solidFill>
          <a:ln w="12700">
            <a:solidFill>
              <a:srgbClr val="B57A16"/>
            </a:solidFill>
            <a:prstDash val="solid"/>
          </a:ln>
        </p:spPr>
      </p:sp>
      <p:sp>
        <p:nvSpPr>
          <p:cNvPr id="16" name="Text 14"/>
          <p:cNvSpPr/>
          <p:nvPr/>
        </p:nvSpPr>
        <p:spPr>
          <a:xfrm>
            <a:off x="786384" y="35844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188720" y="3566160"/>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Quy trình chấm chưa có vòng hiệu chỉnh</a:t>
            </a:r>
            <a:endParaRPr lang="en-US" sz="1050" dirty="0"/>
          </a:p>
        </p:txBody>
      </p:sp>
      <p:sp>
        <p:nvSpPr>
          <p:cNvPr id="18" name="Text 16"/>
          <p:cNvSpPr/>
          <p:nvPr/>
        </p:nvSpPr>
        <p:spPr>
          <a:xfrm>
            <a:off x="1188720" y="3822192"/>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Chưa chấm thử trên tập nhỏ trước, chưa ghi lại tiêu chí phải phân xử.</a:t>
            </a:r>
            <a:endParaRPr lang="en-US" sz="900" dirty="0"/>
          </a:p>
        </p:txBody>
      </p:sp>
      <p:sp>
        <p:nvSpPr>
          <p:cNvPr id="19" name="Shape 17"/>
          <p:cNvSpPr/>
          <p:nvPr/>
        </p:nvSpPr>
        <p:spPr>
          <a:xfrm>
            <a:off x="786384" y="4261104"/>
            <a:ext cx="274320" cy="274320"/>
          </a:xfrm>
          <a:prstGeom prst="roundRect">
            <a:avLst>
              <a:gd name="adj" fmla="val 73333"/>
            </a:avLst>
          </a:prstGeom>
          <a:solidFill>
            <a:srgbClr val="B57A16"/>
          </a:solidFill>
          <a:ln w="12700">
            <a:solidFill>
              <a:srgbClr val="B57A16"/>
            </a:solidFill>
            <a:prstDash val="solid"/>
          </a:ln>
        </p:spPr>
      </p:sp>
      <p:sp>
        <p:nvSpPr>
          <p:cNvPr id="20" name="Text 18"/>
          <p:cNvSpPr/>
          <p:nvPr/>
        </p:nvSpPr>
        <p:spPr>
          <a:xfrm>
            <a:off x="786384" y="42611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1188720" y="4242816"/>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Độ bao phủ kho tri thức</a:t>
            </a:r>
            <a:endParaRPr lang="en-US" sz="1050" dirty="0"/>
          </a:p>
        </p:txBody>
      </p:sp>
      <p:sp>
        <p:nvSpPr>
          <p:cNvPr id="22" name="Text 20"/>
          <p:cNvSpPr/>
          <p:nvPr/>
        </p:nvSpPr>
        <p:spPr>
          <a:xfrm>
            <a:off x="1188720" y="4498848"/>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19 tài liệu so với hàng nghìn luật Wazuh và hàng trăm kỹ thuật ATT&amp;CK.</a:t>
            </a:r>
            <a:endParaRPr lang="en-US" sz="900" dirty="0"/>
          </a:p>
        </p:txBody>
      </p:sp>
      <p:sp>
        <p:nvSpPr>
          <p:cNvPr id="23" name="Shape 21"/>
          <p:cNvSpPr/>
          <p:nvPr/>
        </p:nvSpPr>
        <p:spPr>
          <a:xfrm>
            <a:off x="786384" y="4937760"/>
            <a:ext cx="274320" cy="274320"/>
          </a:xfrm>
          <a:prstGeom prst="roundRect">
            <a:avLst>
              <a:gd name="adj" fmla="val 73333"/>
            </a:avLst>
          </a:prstGeom>
          <a:solidFill>
            <a:srgbClr val="B57A16"/>
          </a:solidFill>
          <a:ln w="12700">
            <a:solidFill>
              <a:srgbClr val="B57A16"/>
            </a:solidFill>
            <a:prstDash val="solid"/>
          </a:ln>
        </p:spPr>
      </p:sp>
      <p:sp>
        <p:nvSpPr>
          <p:cNvPr id="24" name="Text 22"/>
          <p:cNvSpPr/>
          <p:nvPr/>
        </p:nvSpPr>
        <p:spPr>
          <a:xfrm>
            <a:off x="786384" y="49377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5" name="Text 23"/>
          <p:cNvSpPr/>
          <p:nvPr/>
        </p:nvSpPr>
        <p:spPr>
          <a:xfrm>
            <a:off x="1188720" y="4919472"/>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Kiểm chứng tái lập và an toàn</a:t>
            </a:r>
            <a:endParaRPr lang="en-US" sz="1050" dirty="0"/>
          </a:p>
        </p:txBody>
      </p:sp>
      <p:sp>
        <p:nvSpPr>
          <p:cNvPr id="26" name="Text 24"/>
          <p:cNvSpPr/>
          <p:nvPr/>
        </p:nvSpPr>
        <p:spPr>
          <a:xfrm>
            <a:off x="1188720" y="5175504"/>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Chưa chạy lặp nhiều lượt trên GPU; lớp chống chèn chỉ dẫn mới ở mức thiết kế, chưa đo bằng bộ dữ liệu đối kháng.</a:t>
            </a:r>
            <a:endParaRPr lang="en-US" sz="900" dirty="0"/>
          </a:p>
        </p:txBody>
      </p:sp>
      <p:sp>
        <p:nvSpPr>
          <p:cNvPr id="27" name="Shape 25"/>
          <p:cNvSpPr/>
          <p:nvPr/>
        </p:nvSpPr>
        <p:spPr>
          <a:xfrm>
            <a:off x="786384" y="5614416"/>
            <a:ext cx="274320" cy="274320"/>
          </a:xfrm>
          <a:prstGeom prst="roundRect">
            <a:avLst>
              <a:gd name="adj" fmla="val 73333"/>
            </a:avLst>
          </a:prstGeom>
          <a:solidFill>
            <a:srgbClr val="B57A16"/>
          </a:solidFill>
          <a:ln w="12700">
            <a:solidFill>
              <a:srgbClr val="B57A16"/>
            </a:solidFill>
            <a:prstDash val="solid"/>
          </a:ln>
        </p:spPr>
      </p:sp>
      <p:sp>
        <p:nvSpPr>
          <p:cNvPr id="28" name="Text 26"/>
          <p:cNvSpPr/>
          <p:nvPr/>
        </p:nvSpPr>
        <p:spPr>
          <a:xfrm>
            <a:off x="786384" y="56144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9" name="Text 27"/>
          <p:cNvSpPr/>
          <p:nvPr/>
        </p:nvSpPr>
        <p:spPr>
          <a:xfrm>
            <a:off x="1188720" y="5596128"/>
            <a:ext cx="4892040" cy="274320"/>
          </a:xfrm>
          <a:prstGeom prst="rect">
            <a:avLst/>
          </a:prstGeom>
          <a:noFill/>
          <a:ln/>
        </p:spPr>
        <p:txBody>
          <a:bodyPr wrap="square" lIns="0" tIns="0" rIns="0" bIns="0" rtlCol="0" anchor="ctr"/>
          <a:lstStyle/>
          <a:p>
            <a:pPr indent="0" marL="0">
              <a:buNone/>
            </a:pPr>
            <a:r>
              <a:rPr lang="en-US" sz="1050" b="1" dirty="0">
                <a:solidFill>
                  <a:srgbClr val="0D1B2A"/>
                </a:solidFill>
                <a:latin typeface="Calibri" pitchFamily="34" charset="0"/>
                <a:ea typeface="Calibri" pitchFamily="34" charset="-122"/>
                <a:cs typeface="Calibri" pitchFamily="34" charset="-120"/>
              </a:rPr>
              <a:t>Chiều sâu phân tích tương quan</a:t>
            </a:r>
            <a:endParaRPr lang="en-US" sz="1050" dirty="0"/>
          </a:p>
        </p:txBody>
      </p:sp>
      <p:sp>
        <p:nvSpPr>
          <p:cNvPr id="30" name="Text 28"/>
          <p:cNvSpPr/>
          <p:nvPr/>
        </p:nvSpPr>
        <p:spPr>
          <a:xfrm>
            <a:off x="1188720" y="5852160"/>
            <a:ext cx="4892040" cy="384048"/>
          </a:xfrm>
          <a:prstGeom prst="rect">
            <a:avLst/>
          </a:prstGeom>
          <a:noFill/>
          <a:ln/>
        </p:spPr>
        <p:txBody>
          <a:bodyPr wrap="square" lIns="0" tIns="0" rIns="0" bIns="0" rtlCol="0" anchor="t"/>
          <a:lstStyle/>
          <a:p>
            <a:pPr indent="0" marL="0">
              <a:lnSpc>
                <a:spcPct val="102000"/>
              </a:lnSpc>
              <a:buNone/>
            </a:pPr>
            <a:r>
              <a:rPr lang="en-US" sz="900" dirty="0">
                <a:solidFill>
                  <a:srgbClr val="667E93"/>
                </a:solidFill>
                <a:latin typeface="Calibri" pitchFamily="34" charset="0"/>
                <a:ea typeface="Calibri" pitchFamily="34" charset="-122"/>
                <a:cs typeface="Calibri" pitchFamily="34" charset="-120"/>
              </a:rPr>
              <a:t>Mới dừng ở thống kê theo cụm, chưa dựng được chuỗi tấn công theo trình tự nhân quả.</a:t>
            </a:r>
            <a:endParaRPr lang="en-US" sz="900" dirty="0"/>
          </a:p>
        </p:txBody>
      </p:sp>
      <p:sp>
        <p:nvSpPr>
          <p:cNvPr id="31" name="Shape 29"/>
          <p:cNvSpPr/>
          <p:nvPr/>
        </p:nvSpPr>
        <p:spPr>
          <a:xfrm>
            <a:off x="6537960" y="1719072"/>
            <a:ext cx="5074920" cy="4590288"/>
          </a:xfrm>
          <a:prstGeom prst="roundRect">
            <a:avLst>
              <a:gd name="adj" fmla="val 1793"/>
            </a:avLst>
          </a:prstGeom>
          <a:solidFill>
            <a:srgbClr val="DCF0EB"/>
          </a:solidFill>
          <a:ln w="9525">
            <a:solidFill>
              <a:srgbClr val="BCE0D7"/>
            </a:solidFill>
            <a:prstDash val="solid"/>
          </a:ln>
        </p:spPr>
      </p:sp>
      <p:sp>
        <p:nvSpPr>
          <p:cNvPr id="32" name="Text 30"/>
          <p:cNvSpPr/>
          <p:nvPr/>
        </p:nvSpPr>
        <p:spPr>
          <a:xfrm>
            <a:off x="6775704" y="1847088"/>
            <a:ext cx="4572000" cy="256032"/>
          </a:xfrm>
          <a:prstGeom prst="rect">
            <a:avLst/>
          </a:prstGeom>
          <a:noFill/>
          <a:ln/>
        </p:spPr>
        <p:txBody>
          <a:bodyPr wrap="square" lIns="0" tIns="0" rIns="0" bIns="0" rtlCol="0" anchor="ctr"/>
          <a:lstStyle/>
          <a:p>
            <a:pPr indent="0" marL="0">
              <a:buNone/>
            </a:pPr>
            <a:r>
              <a:rPr lang="en-US" sz="900" b="1" spc="100" kern="0" dirty="0">
                <a:solidFill>
                  <a:srgbClr val="0E6B5A"/>
                </a:solidFill>
                <a:latin typeface="Calibri" pitchFamily="34" charset="0"/>
                <a:ea typeface="Calibri" pitchFamily="34" charset="-122"/>
                <a:cs typeface="Calibri" pitchFamily="34" charset="-120"/>
              </a:rPr>
              <a:t>BỐN HƯỚNG PHÁT TRIỂN</a:t>
            </a:r>
            <a:endParaRPr lang="en-US" sz="900" dirty="0"/>
          </a:p>
        </p:txBody>
      </p:sp>
      <p:sp>
        <p:nvSpPr>
          <p:cNvPr id="33" name="Shape 31"/>
          <p:cNvSpPr/>
          <p:nvPr/>
        </p:nvSpPr>
        <p:spPr>
          <a:xfrm>
            <a:off x="6775704" y="2286000"/>
            <a:ext cx="292608" cy="292608"/>
          </a:xfrm>
          <a:prstGeom prst="roundRect">
            <a:avLst>
              <a:gd name="adj" fmla="val 68750"/>
            </a:avLst>
          </a:prstGeom>
          <a:solidFill>
            <a:srgbClr val="1F9E86"/>
          </a:solidFill>
          <a:ln w="12700">
            <a:solidFill>
              <a:srgbClr val="1F9E86"/>
            </a:solidFill>
            <a:prstDash val="solid"/>
          </a:ln>
        </p:spPr>
      </p:sp>
      <p:sp>
        <p:nvSpPr>
          <p:cNvPr id="34" name="Text 32"/>
          <p:cNvSpPr/>
          <p:nvPr/>
        </p:nvSpPr>
        <p:spPr>
          <a:xfrm>
            <a:off x="6775704" y="22860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33"/>
          <p:cNvSpPr/>
          <p:nvPr/>
        </p:nvSpPr>
        <p:spPr>
          <a:xfrm>
            <a:off x="7196328" y="2267712"/>
            <a:ext cx="420624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Mở rộng bộ dữ liệu đánh giá</a:t>
            </a:r>
            <a:endParaRPr lang="en-US" sz="1150" dirty="0"/>
          </a:p>
        </p:txBody>
      </p:sp>
      <p:sp>
        <p:nvSpPr>
          <p:cNvPr id="36" name="Text 34"/>
          <p:cNvSpPr/>
          <p:nvPr/>
        </p:nvSpPr>
        <p:spPr>
          <a:xfrm>
            <a:off x="7196328" y="2542032"/>
            <a:ext cx="4206240" cy="548640"/>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Tăng cả quy mô lẫn độ đa dạng kịch bản; bổ sung cảnh báo thu từ vận hành thực tế.</a:t>
            </a:r>
            <a:endParaRPr lang="en-US" sz="950" dirty="0"/>
          </a:p>
        </p:txBody>
      </p:sp>
      <p:sp>
        <p:nvSpPr>
          <p:cNvPr id="37" name="Shape 35"/>
          <p:cNvSpPr/>
          <p:nvPr/>
        </p:nvSpPr>
        <p:spPr>
          <a:xfrm>
            <a:off x="6775704" y="3218688"/>
            <a:ext cx="292608" cy="292608"/>
          </a:xfrm>
          <a:prstGeom prst="roundRect">
            <a:avLst>
              <a:gd name="adj" fmla="val 68750"/>
            </a:avLst>
          </a:prstGeom>
          <a:solidFill>
            <a:srgbClr val="1F9E86"/>
          </a:solidFill>
          <a:ln w="12700">
            <a:solidFill>
              <a:srgbClr val="1F9E86"/>
            </a:solidFill>
            <a:prstDash val="solid"/>
          </a:ln>
        </p:spPr>
      </p:sp>
      <p:sp>
        <p:nvSpPr>
          <p:cNvPr id="38" name="Text 36"/>
          <p:cNvSpPr/>
          <p:nvPr/>
        </p:nvSpPr>
        <p:spPr>
          <a:xfrm>
            <a:off x="6775704" y="32186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Text 37"/>
          <p:cNvSpPr/>
          <p:nvPr/>
        </p:nvSpPr>
        <p:spPr>
          <a:xfrm>
            <a:off x="7196328" y="3200400"/>
            <a:ext cx="420624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Nâng cấp năng lực tương quan</a:t>
            </a:r>
            <a:endParaRPr lang="en-US" sz="1150" dirty="0"/>
          </a:p>
        </p:txBody>
      </p:sp>
      <p:sp>
        <p:nvSpPr>
          <p:cNvPr id="40" name="Text 38"/>
          <p:cNvSpPr/>
          <p:nvPr/>
        </p:nvSpPr>
        <p:spPr>
          <a:xfrm>
            <a:off x="7196328" y="3474720"/>
            <a:ext cx="4206240" cy="548640"/>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Dựng chuỗi tấn công theo trình tự nhân quả để hỗ trợ phát hiện tấn công nhiều bước.</a:t>
            </a:r>
            <a:endParaRPr lang="en-US" sz="950" dirty="0"/>
          </a:p>
        </p:txBody>
      </p:sp>
      <p:sp>
        <p:nvSpPr>
          <p:cNvPr id="41" name="Shape 39"/>
          <p:cNvSpPr/>
          <p:nvPr/>
        </p:nvSpPr>
        <p:spPr>
          <a:xfrm>
            <a:off x="6775704" y="4151376"/>
            <a:ext cx="292608" cy="292608"/>
          </a:xfrm>
          <a:prstGeom prst="roundRect">
            <a:avLst>
              <a:gd name="adj" fmla="val 68750"/>
            </a:avLst>
          </a:prstGeom>
          <a:solidFill>
            <a:srgbClr val="1F9E86"/>
          </a:solidFill>
          <a:ln w="12700">
            <a:solidFill>
              <a:srgbClr val="1F9E86"/>
            </a:solidFill>
            <a:prstDash val="solid"/>
          </a:ln>
        </p:spPr>
      </p:sp>
      <p:sp>
        <p:nvSpPr>
          <p:cNvPr id="42" name="Text 40"/>
          <p:cNvSpPr/>
          <p:nvPr/>
        </p:nvSpPr>
        <p:spPr>
          <a:xfrm>
            <a:off x="6775704" y="41513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41"/>
          <p:cNvSpPr/>
          <p:nvPr/>
        </p:nvSpPr>
        <p:spPr>
          <a:xfrm>
            <a:off x="7196328" y="4133088"/>
            <a:ext cx="420624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Mở rộng kho tri thức tham chiếu</a:t>
            </a:r>
            <a:endParaRPr lang="en-US" sz="1150" dirty="0"/>
          </a:p>
        </p:txBody>
      </p:sp>
      <p:sp>
        <p:nvSpPr>
          <p:cNvPr id="44" name="Text 42"/>
          <p:cNvSpPr/>
          <p:nvPr/>
        </p:nvSpPr>
        <p:spPr>
          <a:xfrm>
            <a:off x="7196328" y="4407408"/>
            <a:ext cx="4206240" cy="548640"/>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Bổ sung khuyến cáo xử lý sự cố và dữ liệu lỗ hổng, kèm quy trình cập nhật định kỳ.</a:t>
            </a:r>
            <a:endParaRPr lang="en-US" sz="950" dirty="0"/>
          </a:p>
        </p:txBody>
      </p:sp>
      <p:sp>
        <p:nvSpPr>
          <p:cNvPr id="45" name="Shape 43"/>
          <p:cNvSpPr/>
          <p:nvPr/>
        </p:nvSpPr>
        <p:spPr>
          <a:xfrm>
            <a:off x="6775704" y="5084064"/>
            <a:ext cx="292608" cy="292608"/>
          </a:xfrm>
          <a:prstGeom prst="roundRect">
            <a:avLst>
              <a:gd name="adj" fmla="val 68750"/>
            </a:avLst>
          </a:prstGeom>
          <a:solidFill>
            <a:srgbClr val="1F9E86"/>
          </a:solidFill>
          <a:ln w="12700">
            <a:solidFill>
              <a:srgbClr val="1F9E86"/>
            </a:solidFill>
            <a:prstDash val="solid"/>
          </a:ln>
        </p:spPr>
      </p:sp>
      <p:sp>
        <p:nvSpPr>
          <p:cNvPr id="46" name="Text 44"/>
          <p:cNvSpPr/>
          <p:nvPr/>
        </p:nvSpPr>
        <p:spPr>
          <a:xfrm>
            <a:off x="6775704" y="50840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7196328" y="5065776"/>
            <a:ext cx="4206240" cy="292608"/>
          </a:xfrm>
          <a:prstGeom prst="rect">
            <a:avLst/>
          </a:prstGeom>
          <a:noFill/>
          <a:ln/>
        </p:spPr>
        <p:txBody>
          <a:bodyPr wrap="square" lIns="0" tIns="0" rIns="0" bIns="0"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Mời người ngoài nhóm chấm độc lập</a:t>
            </a:r>
            <a:endParaRPr lang="en-US" sz="1150" dirty="0"/>
          </a:p>
        </p:txBody>
      </p:sp>
      <p:sp>
        <p:nvSpPr>
          <p:cNvPr id="48" name="Text 46"/>
          <p:cNvSpPr/>
          <p:nvPr/>
        </p:nvSpPr>
        <p:spPr>
          <a:xfrm>
            <a:off x="7196328" y="5340096"/>
            <a:ext cx="4206240" cy="548640"/>
          </a:xfrm>
          <a:prstGeom prst="rect">
            <a:avLst/>
          </a:prstGeom>
          <a:noFill/>
          <a:ln/>
        </p:spPr>
        <p:txBody>
          <a:bodyPr wrap="square" lIns="0" tIns="0" rIns="0" bIns="0" rtlCol="0" anchor="t"/>
          <a:lstStyle/>
          <a:p>
            <a:pPr indent="0" marL="0">
              <a:lnSpc>
                <a:spcPct val="104000"/>
              </a:lnSpc>
              <a:buNone/>
            </a:pPr>
            <a:r>
              <a:rPr lang="en-US" sz="950" dirty="0">
                <a:solidFill>
                  <a:srgbClr val="667E93"/>
                </a:solidFill>
                <a:latin typeface="Calibri" pitchFamily="34" charset="0"/>
                <a:ea typeface="Calibri" pitchFamily="34" charset="-122"/>
                <a:cs typeface="Calibri" pitchFamily="34" charset="-120"/>
              </a:rPr>
              <a:t>Người có kinh nghiệm vận hành SOC chấm lại và tính lại hệ số đồng thuận.</a:t>
            </a:r>
            <a:endParaRPr lang="en-US" sz="950" dirty="0"/>
          </a:p>
        </p:txBody>
      </p:sp>
      <p:sp>
        <p:nvSpPr>
          <p:cNvPr id="49" name="Shape 47"/>
          <p:cNvSpPr/>
          <p:nvPr/>
        </p:nvSpPr>
        <p:spPr>
          <a:xfrm>
            <a:off x="6775704" y="5742432"/>
            <a:ext cx="4617720" cy="438912"/>
          </a:xfrm>
          <a:prstGeom prst="roundRect">
            <a:avLst>
              <a:gd name="adj" fmla="val 16667"/>
            </a:avLst>
          </a:prstGeom>
          <a:solidFill>
            <a:srgbClr val="FFFFFF"/>
          </a:solidFill>
          <a:ln w="9525">
            <a:solidFill>
              <a:srgbClr val="BCE0D7"/>
            </a:solidFill>
            <a:prstDash val="solid"/>
          </a:ln>
        </p:spPr>
      </p:sp>
      <p:sp>
        <p:nvSpPr>
          <p:cNvPr id="50" name="Text 48"/>
          <p:cNvSpPr/>
          <p:nvPr/>
        </p:nvSpPr>
        <p:spPr>
          <a:xfrm>
            <a:off x="6922008" y="5742432"/>
            <a:ext cx="4343400" cy="438912"/>
          </a:xfrm>
          <a:prstGeom prst="rect">
            <a:avLst/>
          </a:prstGeom>
          <a:noFill/>
          <a:ln/>
        </p:spPr>
        <p:txBody>
          <a:bodyPr wrap="square" lIns="0" tIns="0" rIns="0" bIns="0" rtlCol="0" anchor="ctr"/>
          <a:lstStyle/>
          <a:p>
            <a:pPr indent="0" marL="0">
              <a:lnSpc>
                <a:spcPct val="100000"/>
              </a:lnSpc>
              <a:buNone/>
            </a:pPr>
            <a:r>
              <a:rPr lang="en-US" sz="900" i="1" dirty="0">
                <a:solidFill>
                  <a:srgbClr val="0E6B5A"/>
                </a:solidFill>
                <a:latin typeface="Calibri" pitchFamily="34" charset="0"/>
                <a:ea typeface="Calibri" pitchFamily="34" charset="-122"/>
                <a:cs typeface="Calibri" pitchFamily="34" charset="-120"/>
              </a:rPr>
              <a:t>Ngoài ra: đánh giá dưới tải thực tế và trên phần cứng cho phép chạy mô hình quy mô lớn hơn</a:t>
            </a:r>
            <a:endParaRPr lang="en-US" sz="900" dirty="0"/>
          </a:p>
        </p:txBody>
      </p:sp>
      <p:sp>
        <p:nvSpPr>
          <p:cNvPr id="51" name="Text 4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900" dirty="0">
                <a:solidFill>
                  <a:srgbClr val="667E93"/>
                </a:solidFill>
                <a:latin typeface="Calibri" pitchFamily="34" charset="0"/>
                <a:ea typeface="Calibri" pitchFamily="34" charset="-122"/>
                <a:cs typeface="Calibri" pitchFamily="34" charset="-120"/>
              </a:rPr>
              <a:t>PL-10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Đồ án thực tập tốt nghiệp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Mô-đun AI cục bộ hỗ trợ phân tích cảnh báo SIEM</dc:title>
  <dc:subject>Báo cáo đề tài — Nhóm A07</dc:subject>
  <dc:creator>Nhóm A07</dc:creator>
  <cp:lastModifiedBy>Nhóm A07</cp:lastModifiedBy>
  <cp:revision>1</cp:revision>
  <dcterms:created xsi:type="dcterms:W3CDTF">2026-08-22T05:43:55Z</dcterms:created>
  <dcterms:modified xsi:type="dcterms:W3CDTF">2026-08-22T05:43:55Z</dcterms:modified>
</cp:coreProperties>
</file>